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0A93EB4-9F20-4A6E-8310-54C90B412ACB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737166-AE25-485D-85BF-9E46F9C59D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1ADF05-FEE8-4877-B94E-3922EDF517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0D6FF6-C0C8-4B54-BD62-34D6037C96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0AF60E-9C4F-4550-8407-EFA22342F9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3255B1-4ECE-4B17-92A5-D43D23170C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DCC85-3846-46F3-A051-DE88228CD6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4D089B-8A53-448D-8DC0-0BB6248AB5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1DF77A-F087-44C3-BDD9-B078FD6159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816BE9-0A53-4FAD-B213-11F9052BAD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18F322-9982-47D7-AA9D-A9794E6B3F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13E51-A24D-4E16-9EF0-B1AE1581E1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65428D-0C9C-4128-B25A-0269AAF5B6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9BB0B3-F221-4BF1-B558-F45C428B85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201240" y="0"/>
            <a:ext cx="164160" cy="685764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9144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97" strike="noStrike">
                <a:solidFill>
                  <a:srgbClr val="0891b2"/>
                </a:solidFill>
                <a:latin typeface="Calibri"/>
                <a:ea typeface="Calibri"/>
              </a:rPr>
              <a:t>AI ENGINEERING SPECIALIST TRACK  ·  FOUNDATION (COMBINED)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146304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797" strike="noStrike">
                <a:solidFill>
                  <a:srgbClr val="ffffff"/>
                </a:solidFill>
                <a:latin typeface="Calibri"/>
                <a:ea typeface="Calibri"/>
              </a:rPr>
              <a:t>MODULES F6 + F7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2148840"/>
            <a:ext cx="107895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Observability, Safety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&amp; Guardrails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38862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c7e4ea"/>
                </a:solidFill>
                <a:latin typeface="Calibri"/>
                <a:ea typeface="Calibri"/>
              </a:rPr>
              <a:t>Two halves of running an LLM responsibly — measure it, and defend it</a:t>
            </a:r>
            <a:endParaRPr b="0" lang="en-IN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22960" y="4754880"/>
            <a:ext cx="2925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48463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Georgia"/>
                <a:ea typeface="Georgia"/>
              </a:rPr>
              <a:t>2.5 hrs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22960" y="5440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7" strike="noStrike">
                <a:solidFill>
                  <a:srgbClr val="0891b2"/>
                </a:solidFill>
                <a:latin typeface="Calibri"/>
                <a:ea typeface="Calibri"/>
              </a:rPr>
              <a:t>HANDS-ON INSTRUCTION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114800" y="4754880"/>
            <a:ext cx="2925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114800" y="48463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Georgia"/>
                <a:ea typeface="Georgia"/>
              </a:rPr>
              <a:t>4 labs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114800" y="5440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7" strike="noStrike">
                <a:solidFill>
                  <a:srgbClr val="0891b2"/>
                </a:solidFill>
                <a:latin typeface="Calibri"/>
                <a:ea typeface="Calibri"/>
              </a:rPr>
              <a:t>TRACE · EVAL · GUARD · WATCH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406640" y="4754880"/>
            <a:ext cx="2925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06640" y="48463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Georgia"/>
                <a:ea typeface="Georgia"/>
              </a:rPr>
              <a:t>PSI + ASR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7406640" y="5440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7" strike="noStrike">
                <a:solidFill>
                  <a:srgbClr val="0891b2"/>
                </a:solidFill>
                <a:latin typeface="Calibri"/>
                <a:ea typeface="Calibri"/>
              </a:rPr>
              <a:t>DRIFT &amp; ROBUSTNESS METRICS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822960" y="62179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Corporate Trainer Deck  ·  Cohort delivery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WHY THIS COMBINED MODULE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You built it (F2–F5). Now measure it — and defend it.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57200" y="1554480"/>
            <a:ext cx="1124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A capable LLM system is not yet a trustworthy one. Observability (F6) makes it measurable; guardrails (F7) make it safe. Together they are the production-trust layer: you watch what the system does, and you stop what it shouldn't.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2834640"/>
            <a:ext cx="2697120" cy="320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457200" y="2834640"/>
            <a:ext cx="72720" cy="32000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Image 0" descr="preencoded.png"/>
          <p:cNvPicPr/>
          <p:nvPr/>
        </p:nvPicPr>
        <p:blipFill>
          <a:blip r:embed="rId1"/>
          <a:stretch/>
        </p:blipFill>
        <p:spPr>
          <a:xfrm>
            <a:off x="749880" y="30175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0" name="Text 5"/>
          <p:cNvSpPr/>
          <p:nvPr/>
        </p:nvSpPr>
        <p:spPr>
          <a:xfrm>
            <a:off x="1371600" y="30542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0e7490"/>
                </a:solidFill>
                <a:latin typeface="Calibri"/>
                <a:ea typeface="Calibri"/>
              </a:rPr>
              <a:t>OBSERVE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731520" y="36118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Telemetry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731520" y="4160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66a70"/>
                </a:solidFill>
                <a:latin typeface="Calibri"/>
                <a:ea typeface="Calibri"/>
              </a:rPr>
              <a:t>Structured traces on every request — latency, tokens, cost, errors.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3319200" y="2834640"/>
            <a:ext cx="2697120" cy="320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3319200" y="2834640"/>
            <a:ext cx="72720" cy="32000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Image 1" descr="preencoded.png"/>
          <p:cNvPicPr/>
          <p:nvPr/>
        </p:nvPicPr>
        <p:blipFill>
          <a:blip r:embed="rId2"/>
          <a:stretch/>
        </p:blipFill>
        <p:spPr>
          <a:xfrm>
            <a:off x="3611880" y="30175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36" name="Text 10"/>
          <p:cNvSpPr/>
          <p:nvPr/>
        </p:nvSpPr>
        <p:spPr>
          <a:xfrm>
            <a:off x="4233600" y="30542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0e7490"/>
                </a:solidFill>
                <a:latin typeface="Calibri"/>
                <a:ea typeface="Calibri"/>
              </a:rPr>
              <a:t>OBSERVE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3593520" y="36118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Evaluation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3593520" y="4160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66a70"/>
                </a:solidFill>
                <a:latin typeface="Calibri"/>
                <a:ea typeface="Calibri"/>
              </a:rPr>
              <a:t>Golden set + LLM-as-judge. Gate releases on a number, sliced by segment.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6181200" y="2834640"/>
            <a:ext cx="2697120" cy="320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6181200" y="2834640"/>
            <a:ext cx="72720" cy="320004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Image 2" descr="preencoded.png"/>
          <p:cNvPicPr/>
          <p:nvPr/>
        </p:nvPicPr>
        <p:blipFill>
          <a:blip r:embed="rId3"/>
          <a:stretch/>
        </p:blipFill>
        <p:spPr>
          <a:xfrm>
            <a:off x="6473880" y="30175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2" name="Text 15"/>
          <p:cNvSpPr/>
          <p:nvPr/>
        </p:nvSpPr>
        <p:spPr>
          <a:xfrm>
            <a:off x="7095600" y="30542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b71c1c"/>
                </a:solidFill>
                <a:latin typeface="Calibri"/>
                <a:ea typeface="Calibri"/>
              </a:rPr>
              <a:t>DEFEND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6455520" y="36118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Guardrails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6455520" y="4160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66a70"/>
                </a:solidFill>
                <a:latin typeface="Calibri"/>
                <a:ea typeface="Calibri"/>
              </a:rPr>
              <a:t>Screen input and output — redact PII, block injection, validate, route.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9043560" y="2834640"/>
            <a:ext cx="2697120" cy="320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9043560" y="2834640"/>
            <a:ext cx="72720" cy="3200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Image 3" descr="preencoded.png"/>
          <p:cNvPicPr/>
          <p:nvPr/>
        </p:nvPicPr>
        <p:blipFill>
          <a:blip r:embed="rId4"/>
          <a:stretch/>
        </p:blipFill>
        <p:spPr>
          <a:xfrm>
            <a:off x="9335880" y="30175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8" name="Text 20"/>
          <p:cNvSpPr/>
          <p:nvPr/>
        </p:nvSpPr>
        <p:spPr>
          <a:xfrm>
            <a:off x="9957960" y="30542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7c3aed"/>
                </a:solidFill>
                <a:latin typeface="Calibri"/>
                <a:ea typeface="Calibri"/>
              </a:rPr>
              <a:t>BOTH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9317880" y="36118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Monitor + red-team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9317880" y="4160520"/>
            <a:ext cx="2285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66a70"/>
                </a:solidFill>
                <a:latin typeface="Calibri"/>
                <a:ea typeface="Calibri"/>
              </a:rPr>
              <a:t>Detect drift in production; attack your own shields and measure ASR.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3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2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HOW WE'LL SPEND THE SESSION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Concepts · 4 labs · wrap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457200" y="1645920"/>
            <a:ext cx="1124676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457200" y="1645920"/>
            <a:ext cx="109440" cy="6213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731520" y="1645920"/>
            <a:ext cx="1554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1b1f"/>
                </a:solidFill>
                <a:latin typeface="Consolas"/>
                <a:ea typeface="Consolas"/>
              </a:rPr>
              <a:t>0:00 – 0:50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2331720" y="164592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e7490"/>
                </a:solidFill>
                <a:latin typeface="Calibri"/>
                <a:ea typeface="Calibri"/>
              </a:rPr>
              <a:t>CONCEPTS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3794760" y="1645920"/>
            <a:ext cx="7772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Why trust · the loop · telemetry · evaluation · guardrails · drift &amp; red-teaming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457200" y="2395800"/>
            <a:ext cx="1124676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457200" y="2395800"/>
            <a:ext cx="109440" cy="6213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731520" y="2395800"/>
            <a:ext cx="1554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1b1f"/>
                </a:solidFill>
                <a:latin typeface="Consolas"/>
                <a:ea typeface="Consolas"/>
              </a:rPr>
              <a:t>0:50 – 1:15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2331720" y="239580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e7490"/>
                </a:solidFill>
                <a:latin typeface="Calibri"/>
                <a:ea typeface="Calibri"/>
              </a:rPr>
              <a:t>LAB 1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3794760" y="2395800"/>
            <a:ext cx="7772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Telemetry: instrument, roll up p50/p95/p99 latency, cost, error rate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457200" y="3145680"/>
            <a:ext cx="1124676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457200" y="3145680"/>
            <a:ext cx="109440" cy="6213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731520" y="3145680"/>
            <a:ext cx="1554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1b1f"/>
                </a:solidFill>
                <a:latin typeface="Consolas"/>
                <a:ea typeface="Consolas"/>
              </a:rPr>
              <a:t>1:15 – 1:40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2331720" y="314568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e7490"/>
                </a:solidFill>
                <a:latin typeface="Calibri"/>
                <a:ea typeface="Calibri"/>
              </a:rPr>
              <a:t>LAB 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3794760" y="3145680"/>
            <a:ext cx="7772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Offline eval: golden set, LLM-as-judge, A/B, catch a slice regression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457200" y="3895200"/>
            <a:ext cx="1124676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457200" y="3895200"/>
            <a:ext cx="109440" cy="62136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731520" y="3895200"/>
            <a:ext cx="1554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1b1f"/>
                </a:solidFill>
                <a:latin typeface="Consolas"/>
                <a:ea typeface="Consolas"/>
              </a:rPr>
              <a:t>1:40 – 2:10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2331720" y="389520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b71c1c"/>
                </a:solidFill>
                <a:latin typeface="Calibri"/>
                <a:ea typeface="Calibri"/>
              </a:rPr>
              <a:t>LAB 3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3794760" y="3895200"/>
            <a:ext cx="7772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Guardrails: redact PII, block injection, validate output, route actions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2"/>
          <p:cNvSpPr/>
          <p:nvPr/>
        </p:nvSpPr>
        <p:spPr>
          <a:xfrm>
            <a:off x="457200" y="4645080"/>
            <a:ext cx="1124676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457200" y="4645080"/>
            <a:ext cx="109440" cy="6213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731520" y="4645080"/>
            <a:ext cx="1554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1b1f"/>
                </a:solidFill>
                <a:latin typeface="Consolas"/>
                <a:ea typeface="Consolas"/>
              </a:rPr>
              <a:t>2:10 – 2:30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2331720" y="464508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7c3aed"/>
                </a:solidFill>
                <a:latin typeface="Calibri"/>
                <a:ea typeface="Calibri"/>
              </a:rPr>
              <a:t>LAB 4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3794760" y="4645080"/>
            <a:ext cx="7772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Monitor (PSI drift) + red-team (attack-success rate, residual risk)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457200" y="5394960"/>
            <a:ext cx="1124676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8"/>
          <p:cNvSpPr/>
          <p:nvPr/>
        </p:nvSpPr>
        <p:spPr>
          <a:xfrm>
            <a:off x="457200" y="5394960"/>
            <a:ext cx="109440" cy="62136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9"/>
          <p:cNvSpPr/>
          <p:nvPr/>
        </p:nvSpPr>
        <p:spPr>
          <a:xfrm>
            <a:off x="731520" y="5394960"/>
            <a:ext cx="1554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e1b1f"/>
                </a:solidFill>
                <a:latin typeface="Consolas"/>
                <a:ea typeface="Consolas"/>
              </a:rPr>
              <a:t>2:30 – 2:35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0"/>
          <p:cNvSpPr/>
          <p:nvPr/>
        </p:nvSpPr>
        <p:spPr>
          <a:xfrm>
            <a:off x="2331720" y="5394960"/>
            <a:ext cx="13712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b45309"/>
                </a:solidFill>
                <a:latin typeface="Calibri"/>
                <a:ea typeface="Calibri"/>
              </a:rPr>
              <a:t>WRAP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3794760" y="5394960"/>
            <a:ext cx="77720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The trust loop · track recap · questions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33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3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THE BIG PICTURE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One loop: observe, guard, and feed back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173736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566a70"/>
                </a:solidFill>
                <a:latin typeface="Calibri"/>
                <a:ea typeface="Calibri"/>
              </a:rPr>
              <a:t>EVERY REQUEST  ·  guarded both ends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640080" y="2148840"/>
            <a:ext cx="2102760" cy="91404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640080" y="214884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Input guard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(redact · block)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3200400" y="2148840"/>
            <a:ext cx="1737000" cy="914040"/>
          </a:xfrm>
          <a:prstGeom prst="rect">
            <a:avLst/>
          </a:prstGeom>
          <a:solidFill>
            <a:srgbClr val="0c2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3200400" y="214884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LLM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5394960" y="2148840"/>
            <a:ext cx="2102760" cy="91404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5394960" y="214884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Output guard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(validate · route)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7955280" y="2148840"/>
            <a:ext cx="1737000" cy="91404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7955280" y="214884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User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10149840" y="2148840"/>
            <a:ext cx="1554120" cy="9140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10149840" y="2148840"/>
            <a:ext cx="1554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Trace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(telemetry)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2743200" y="2606040"/>
            <a:ext cx="457200" cy="360"/>
          </a:xfrm>
          <a:prstGeom prst="line">
            <a:avLst/>
          </a:prstGeom>
          <a:ln w="19050">
            <a:solidFill>
              <a:srgbClr val="566a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4937760" y="2606040"/>
            <a:ext cx="457200" cy="360"/>
          </a:xfrm>
          <a:prstGeom prst="line">
            <a:avLst/>
          </a:prstGeom>
          <a:ln w="19050">
            <a:solidFill>
              <a:srgbClr val="566a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7498080" y="2606040"/>
            <a:ext cx="457200" cy="360"/>
          </a:xfrm>
          <a:prstGeom prst="line">
            <a:avLst/>
          </a:prstGeom>
          <a:ln w="19050">
            <a:solidFill>
              <a:srgbClr val="566a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9692640" y="2606040"/>
            <a:ext cx="457200" cy="360"/>
          </a:xfrm>
          <a:prstGeom prst="line">
            <a:avLst/>
          </a:prstGeom>
          <a:ln w="19050">
            <a:solidFill>
              <a:srgbClr val="566a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7"/>
          <p:cNvSpPr/>
          <p:nvPr/>
        </p:nvSpPr>
        <p:spPr>
          <a:xfrm>
            <a:off x="640080" y="3977640"/>
            <a:ext cx="2102760" cy="8683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640080" y="397764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Evaluate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(golden set)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9"/>
          <p:cNvSpPr/>
          <p:nvPr/>
        </p:nvSpPr>
        <p:spPr>
          <a:xfrm>
            <a:off x="3200400" y="3977640"/>
            <a:ext cx="2102760" cy="8683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0"/>
          <p:cNvSpPr/>
          <p:nvPr/>
        </p:nvSpPr>
        <p:spPr>
          <a:xfrm>
            <a:off x="3200400" y="397764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Monitor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(PSI drift)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1"/>
          <p:cNvSpPr/>
          <p:nvPr/>
        </p:nvSpPr>
        <p:spPr>
          <a:xfrm>
            <a:off x="5760720" y="3977640"/>
            <a:ext cx="2102760" cy="8683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5760720" y="397764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Red-team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(ASR)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3"/>
          <p:cNvSpPr/>
          <p:nvPr/>
        </p:nvSpPr>
        <p:spPr>
          <a:xfrm>
            <a:off x="8321040" y="3977640"/>
            <a:ext cx="3382920" cy="86832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4"/>
          <p:cNvSpPr/>
          <p:nvPr/>
        </p:nvSpPr>
        <p:spPr>
          <a:xfrm>
            <a:off x="8321040" y="3977640"/>
            <a:ext cx="3382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Block / escalate / drift events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5"/>
          <p:cNvSpPr/>
          <p:nvPr/>
        </p:nvSpPr>
        <p:spPr>
          <a:xfrm flipV="1">
            <a:off x="10058400" y="3520440"/>
            <a:ext cx="360" cy="457200"/>
          </a:xfrm>
          <a:prstGeom prst="line">
            <a:avLst/>
          </a:prstGeom>
          <a:ln w="22225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1645920" y="3520440"/>
            <a:ext cx="8412480" cy="360"/>
          </a:xfrm>
          <a:prstGeom prst="line">
            <a:avLst/>
          </a:prstGeom>
          <a:ln w="22225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7"/>
          <p:cNvSpPr/>
          <p:nvPr/>
        </p:nvSpPr>
        <p:spPr>
          <a:xfrm flipV="1">
            <a:off x="1645920" y="3063240"/>
            <a:ext cx="360" cy="457200"/>
          </a:xfrm>
          <a:prstGeom prst="line">
            <a:avLst/>
          </a:prstGeom>
          <a:ln w="22225">
            <a:solidFill>
              <a:srgbClr val="b4530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1828800" y="356616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b45309"/>
                </a:solidFill>
                <a:latin typeface="Calibri"/>
                <a:ea typeface="Calibri"/>
              </a:rPr>
              <a:t>production signals become new eval cases &amp; red-team probes  →  the loop closes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9"/>
          <p:cNvSpPr/>
          <p:nvPr/>
        </p:nvSpPr>
        <p:spPr>
          <a:xfrm>
            <a:off x="457200" y="5166360"/>
            <a:ext cx="11246760" cy="868320"/>
          </a:xfrm>
          <a:prstGeom prst="rect">
            <a:avLst/>
          </a:prstGeom>
          <a:solidFill>
            <a:srgbClr val="0c2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30"/>
          <p:cNvSpPr/>
          <p:nvPr/>
        </p:nvSpPr>
        <p:spPr>
          <a:xfrm>
            <a:off x="640080" y="528516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Red = guardrails defending the request path (F7). Cyan = observability watching it (F6). The amber loop is the point: what you catch in production trains the guards and evals that protect the next release.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1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2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4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OBSERVE · CONCEPT 1 — TELEMETRY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The metrics an on-call engineer watches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457200" y="1691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7490"/>
                </a:solidFill>
                <a:latin typeface="Calibri"/>
                <a:ea typeface="Calibri"/>
              </a:rPr>
              <a:t>Log a structured record per request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57200" y="2103120"/>
            <a:ext cx="56689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Latency — p50 / p95 / p99 (not the mean)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Tokens — prompt + completion per request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Cost — per request, and by model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Error rate — failures are signal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Throughput — requests per second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457200" y="4572000"/>
            <a:ext cx="5668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0e1b1f"/>
                </a:solidFill>
                <a:latin typeface="Calibri"/>
                <a:ea typeface="Calibri"/>
              </a:rPr>
              <a:t>Why percentiles? A healthy mean can hide an ugly p99 — and the tail is what your slowest thousands of users feel.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6400800" y="1691640"/>
            <a:ext cx="5394600" cy="4205880"/>
          </a:xfrm>
          <a:prstGeom prst="rect">
            <a:avLst/>
          </a:prstGeom>
          <a:solidFill>
            <a:srgbClr val="0c2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6583680" y="182880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b45309"/>
                </a:solidFill>
                <a:latin typeface="Consolas"/>
                <a:ea typeface="Consolas"/>
              </a:rPr>
              <a:t># one structured record per request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6583680" y="2240280"/>
            <a:ext cx="512028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@dataclass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class TraceRecord: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request_id: int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model: str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prompt_tokens: int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completion_tokens: int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latency_ms: float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status: str   # 'ok' | 'error'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ok['latency_ms'].quantile(0.95)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Consolas"/>
              </a:rPr>
              <a:t>df['cost_usd'].sum()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5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OBSERVE · CONCEPT 2 — OFFLINE EVALUATION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A test suite for a non-deterministic system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457200" y="164592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3"/>
          <p:cNvSpPr/>
          <p:nvPr/>
        </p:nvSpPr>
        <p:spPr>
          <a:xfrm>
            <a:off x="457200" y="1645920"/>
            <a:ext cx="72720" cy="20570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777240" y="1965960"/>
            <a:ext cx="776880" cy="77688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960120" y="21488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36" name="Text 5"/>
          <p:cNvSpPr/>
          <p:nvPr/>
        </p:nvSpPr>
        <p:spPr>
          <a:xfrm>
            <a:off x="1737360" y="19202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Golden set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737360" y="24231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Labelled (input, expected) pairs — the ground truth you measure against.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6309360" y="164592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6309360" y="1645920"/>
            <a:ext cx="72720" cy="20570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6629400" y="1965960"/>
            <a:ext cx="776880" cy="77688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Image 1" descr="preencoded.png"/>
          <p:cNvPicPr/>
          <p:nvPr/>
        </p:nvPicPr>
        <p:blipFill>
          <a:blip r:embed="rId2"/>
          <a:stretch/>
        </p:blipFill>
        <p:spPr>
          <a:xfrm>
            <a:off x="6812280" y="21488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42" name="Text 10"/>
          <p:cNvSpPr/>
          <p:nvPr/>
        </p:nvSpPr>
        <p:spPr>
          <a:xfrm>
            <a:off x="7589520" y="19202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LLM-as-judge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7589520" y="24231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Another model grades against a rubric. Scores meaning, not string overlap.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457200" y="393192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457200" y="3931920"/>
            <a:ext cx="72720" cy="20570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777240" y="4251960"/>
            <a:ext cx="776880" cy="77688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2" descr="preencoded.png"/>
          <p:cNvPicPr/>
          <p:nvPr/>
        </p:nvPicPr>
        <p:blipFill>
          <a:blip r:embed="rId3"/>
          <a:stretch/>
        </p:blipFill>
        <p:spPr>
          <a:xfrm>
            <a:off x="960120" y="44348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48" name="Text 15"/>
          <p:cNvSpPr/>
          <p:nvPr/>
        </p:nvSpPr>
        <p:spPr>
          <a:xfrm>
            <a:off x="1737360" y="42062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Slice, don't average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1737360" y="47091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Aggregate scores hide localised regressions. Score per segment to find what broke.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7"/>
          <p:cNvSpPr/>
          <p:nvPr/>
        </p:nvSpPr>
        <p:spPr>
          <a:xfrm>
            <a:off x="6309360" y="393192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6309360" y="3931920"/>
            <a:ext cx="72720" cy="20570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9"/>
          <p:cNvSpPr/>
          <p:nvPr/>
        </p:nvSpPr>
        <p:spPr>
          <a:xfrm>
            <a:off x="6629400" y="4251960"/>
            <a:ext cx="776880" cy="77688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Image 3" descr="preencoded.png"/>
          <p:cNvPicPr/>
          <p:nvPr/>
        </p:nvPicPr>
        <p:blipFill>
          <a:blip r:embed="rId4"/>
          <a:stretch/>
        </p:blipFill>
        <p:spPr>
          <a:xfrm>
            <a:off x="6812280" y="44348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54" name="Text 20"/>
          <p:cNvSpPr/>
          <p:nvPr/>
        </p:nvSpPr>
        <p:spPr>
          <a:xfrm>
            <a:off x="7589520" y="42062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Release gate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7589520" y="470916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In CI, a regression in any critical slice blocks the deploy — like a failing unit test.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2"/>
          <p:cNvSpPr/>
          <p:nvPr/>
        </p:nvSpPr>
        <p:spPr>
          <a:xfrm>
            <a:off x="457200" y="594360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e7490"/>
                </a:solidFill>
                <a:latin typeface="Calibri"/>
                <a:ea typeface="Calibri"/>
              </a:rPr>
              <a:t>Lab 2 proof: v2 scores 0.898 overall — looks shippable — until you slice and roaming collapses to 0.187.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3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4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6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DEFEND · CONCEPT 3 — GUARDRAILS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Two gates around the model, and an adversary at the door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640080" y="2240280"/>
            <a:ext cx="2194200" cy="100548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640080" y="224028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Attacker /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user input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3337560" y="2240280"/>
            <a:ext cx="2377080" cy="100548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3337560" y="22860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INPUT GUARD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redact · block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3337560" y="295344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injection · jailbreak · PII in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6217920" y="2240280"/>
            <a:ext cx="1554120" cy="1005480"/>
          </a:xfrm>
          <a:prstGeom prst="rect">
            <a:avLst/>
          </a:prstGeom>
          <a:solidFill>
            <a:srgbClr val="0c2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6217920" y="2240280"/>
            <a:ext cx="1554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LLM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8229600" y="2240280"/>
            <a:ext cx="2377080" cy="100548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8229600" y="22860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OUTPUT GUARD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validate · route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8229600" y="295344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PII leak · unsafe · hallucinate out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2"/>
          <p:cNvSpPr/>
          <p:nvPr/>
        </p:nvSpPr>
        <p:spPr>
          <a:xfrm>
            <a:off x="2834640" y="2743200"/>
            <a:ext cx="457200" cy="360"/>
          </a:xfrm>
          <a:prstGeom prst="line">
            <a:avLst/>
          </a:prstGeom>
          <a:ln w="22225">
            <a:solidFill>
              <a:srgbClr val="566a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5715000" y="2743200"/>
            <a:ext cx="457200" cy="360"/>
          </a:xfrm>
          <a:prstGeom prst="line">
            <a:avLst/>
          </a:prstGeom>
          <a:ln w="22225">
            <a:solidFill>
              <a:srgbClr val="566a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7772400" y="2743200"/>
            <a:ext cx="457200" cy="360"/>
          </a:xfrm>
          <a:prstGeom prst="line">
            <a:avLst/>
          </a:prstGeom>
          <a:ln w="22225">
            <a:solidFill>
              <a:srgbClr val="566a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457200" y="3840480"/>
            <a:ext cx="11246760" cy="2102760"/>
          </a:xfrm>
          <a:prstGeom prst="rect">
            <a:avLst/>
          </a:prstGeom>
          <a:solidFill>
            <a:srgbClr val="0c2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731520" y="402336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The model trusts its input and tries to comply with whatever it reads.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822960" y="4526280"/>
            <a:ext cx="104238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7f0f2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e7f0f2"/>
                </a:solidFill>
                <a:latin typeface="Calibri"/>
                <a:ea typeface="Calibri"/>
              </a:rPr>
              <a:t>Input guard (Lab 3): strip sensitive data, reject instructions that try to override yours — sanitise where you can, block only what you can't make safe.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7f0f2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e7f0f2"/>
                </a:solidFill>
                <a:latin typeface="Calibri"/>
                <a:ea typeface="Calibri"/>
              </a:rPr>
              <a:t>Output guard (Lab 3): never ship a response you haven't validated for format, grounding, PII leakage, and safety — then allow / redact / escalate / block.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e7f0f2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e7f0f2"/>
                </a:solidFill>
                <a:latin typeface="Calibri"/>
                <a:ea typeface="Calibri"/>
              </a:rPr>
              <a:t>Most severe action wins. Four actions, not two: redact salvages a good answer; escalate routes the ambiguous case to a human.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7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BOTH · CONCEPT 4 — MONITOR &amp; RED-TEAM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Watch the world change; prove your shields hold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457200" y="1828800"/>
            <a:ext cx="3657240" cy="31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457200" y="1828800"/>
            <a:ext cx="3657240" cy="1094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731520" y="2148840"/>
            <a:ext cx="776880" cy="77688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Image 0" descr="preencoded.png"/>
          <p:cNvPicPr/>
          <p:nvPr/>
        </p:nvPicPr>
        <p:blipFill>
          <a:blip r:embed="rId1"/>
          <a:stretch/>
        </p:blipFill>
        <p:spPr>
          <a:xfrm>
            <a:off x="914400" y="233172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85" name="Text 5"/>
          <p:cNvSpPr/>
          <p:nvPr/>
        </p:nvSpPr>
        <p:spPr>
          <a:xfrm>
            <a:off x="731520" y="30632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Input drift (PSI)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731520" y="3566160"/>
            <a:ext cx="3154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Inputs shift from what you tested. PSI catches it before quality cracks. &lt;0.1 stable · 0.1–0.25 moderate · &gt;0.25 significant.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4297680" y="1828800"/>
            <a:ext cx="3657240" cy="31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>
            <a:off x="4297680" y="1828800"/>
            <a:ext cx="3657240" cy="1094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>
            <a:off x="4572000" y="2148840"/>
            <a:ext cx="776880" cy="776880"/>
          </a:xfrm>
          <a:prstGeom prst="ellipse">
            <a:avLst/>
          </a:prstGeom>
          <a:solidFill>
            <a:srgbClr val="0891b2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1" descr="preencoded.png"/>
          <p:cNvPicPr/>
          <p:nvPr/>
        </p:nvPicPr>
        <p:blipFill>
          <a:blip r:embed="rId2"/>
          <a:stretch/>
        </p:blipFill>
        <p:spPr>
          <a:xfrm>
            <a:off x="4754880" y="233172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91" name="Text 10"/>
          <p:cNvSpPr/>
          <p:nvPr/>
        </p:nvSpPr>
        <p:spPr>
          <a:xfrm>
            <a:off x="4572000" y="30632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Quality regression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4572000" y="3566160"/>
            <a:ext cx="3154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Track a live quality signal and alert below a floor. Drift is the leading indicator; quality is the lagging one.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8138160" y="1828800"/>
            <a:ext cx="3657240" cy="31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8138160" y="1828800"/>
            <a:ext cx="3657240" cy="1094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8412480" y="2148840"/>
            <a:ext cx="776880" cy="776880"/>
          </a:xfrm>
          <a:prstGeom prst="ellipse">
            <a:avLst/>
          </a:prstGeom>
          <a:solidFill>
            <a:srgbClr val="7c3aed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Image 2" descr="preencoded.png"/>
          <p:cNvPicPr/>
          <p:nvPr/>
        </p:nvPicPr>
        <p:blipFill>
          <a:blip r:embed="rId3"/>
          <a:stretch/>
        </p:blipFill>
        <p:spPr>
          <a:xfrm>
            <a:off x="8595360" y="233172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97" name="Text 15"/>
          <p:cNvSpPr/>
          <p:nvPr/>
        </p:nvSpPr>
        <p:spPr>
          <a:xfrm>
            <a:off x="8412480" y="30632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e1b1f"/>
                </a:solidFill>
                <a:latin typeface="Calibri"/>
                <a:ea typeface="Calibri"/>
              </a:rPr>
              <a:t>Red-teaming (ASR)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6"/>
          <p:cNvSpPr/>
          <p:nvPr/>
        </p:nvSpPr>
        <p:spPr>
          <a:xfrm>
            <a:off x="8412480" y="3566160"/>
            <a:ext cx="3154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66a70"/>
                </a:solidFill>
                <a:latin typeface="Calibri"/>
                <a:ea typeface="Calibri"/>
              </a:rPr>
              <a:t>Attack your own guards. Measure attack-success rate before/after, and the false-block rate on benign traffic.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7"/>
          <p:cNvSpPr/>
          <p:nvPr/>
        </p:nvSpPr>
        <p:spPr>
          <a:xfrm>
            <a:off x="457200" y="5212080"/>
            <a:ext cx="11246760" cy="822600"/>
          </a:xfrm>
          <a:prstGeom prst="rect">
            <a:avLst/>
          </a:prstGeom>
          <a:solidFill>
            <a:srgbClr val="0c2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8"/>
          <p:cNvSpPr/>
          <p:nvPr/>
        </p:nvSpPr>
        <p:spPr>
          <a:xfrm>
            <a:off x="640080" y="5321880"/>
            <a:ext cx="10881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Lab 4 proof: drift alerts on day 9, a day before quality breaches its floor (day 10) — and guardrails cut attack success 100% → 25% with 0% false blocks. The residual? Obfuscated 'evasion' attacks.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9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0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8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THE TOOL LANDSCAPE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What you'd reach for in production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5" name="Table 0"/>
          <p:cNvGraphicFramePr/>
          <p:nvPr/>
        </p:nvGraphicFramePr>
        <p:xfrm>
          <a:off x="457200" y="1691640"/>
          <a:ext cx="11246760" cy="427896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6217920"/>
              </a:tblGrid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Tool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0c2a3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Role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0c2a3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gives you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0c2a33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LangSmith / Langfuse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</a:rPr>
                        <a:t>Observe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Tracing, evals, cost &amp; latency dashboards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Arize / Evidently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</a:rPr>
                        <a:t>Observe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Production drift (PSI/KS) &amp; quality monitoring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Promptfoo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</a:rPr>
                        <a:t>Observe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Golden-set evals as a CI release gate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Presidio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b71c1c"/>
                          </a:solidFill>
                          <a:latin typeface="Calibri"/>
                          <a:ea typeface="Calibri"/>
                        </a:rPr>
                        <a:t>Defend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PII detection &amp; redaction (Lab 3 input)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Llama Guard / Prompt Guard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b71c1c"/>
                          </a:solidFill>
                          <a:latin typeface="Calibri"/>
                          <a:ea typeface="Calibri"/>
                        </a:rPr>
                        <a:t>Defend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Trained input/output moderation &amp; injection detection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Guardrails AI / NeMo Guardrails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b71c1c"/>
                          </a:solidFill>
                          <a:latin typeface="Calibri"/>
                          <a:ea typeface="Calibri"/>
                        </a:rPr>
                        <a:t>Defend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Composable input/output validators &amp; rails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garak / PyRIT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b71c1c"/>
                          </a:solidFill>
                          <a:latin typeface="Calibri"/>
                          <a:ea typeface="Calibri"/>
                        </a:rPr>
                        <a:t>Defend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Automated red-teaming / vulnerability scanning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OpenTelemetry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7c3aed"/>
                          </a:solidFill>
                          <a:latin typeface="Calibri"/>
                          <a:ea typeface="Calibri"/>
                        </a:rPr>
                        <a:t>Both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0e1b1f"/>
                          </a:solidFill>
                          <a:latin typeface="Calibri"/>
                          <a:ea typeface="Calibri"/>
                        </a:rPr>
                        <a:t>Vendor-neutral tracing standard underneath it all</a:t>
                      </a:r>
                      <a:endParaRPr b="0" lang="en-IN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6e4e7"/>
                      </a:solidFill>
                      <a:prstDash val="solid"/>
                    </a:lnL>
                    <a:lnR w="6480">
                      <a:solidFill>
                        <a:srgbClr val="d6e4e7"/>
                      </a:solidFill>
                      <a:prstDash val="solid"/>
                    </a:lnR>
                    <a:lnT w="6480">
                      <a:solidFill>
                        <a:srgbClr val="d6e4e7"/>
                      </a:solidFill>
                      <a:prstDash val="solid"/>
                    </a:lnT>
                    <a:lnB w="6480">
                      <a:solidFill>
                        <a:srgbClr val="d6e4e7"/>
                      </a:solidFill>
                      <a:prstDash val="solid"/>
                    </a:lnB>
                    <a:solidFill>
                      <a:srgbClr val="e7f0f2"/>
                    </a:solidFill>
                  </a:tcPr>
                </a:tc>
              </a:tr>
            </a:tbl>
          </a:graphicData>
        </a:graphic>
      </p:graphicFrame>
      <p:sp>
        <p:nvSpPr>
          <p:cNvPr id="206" name="Text 2"/>
          <p:cNvSpPr/>
          <p:nvPr/>
        </p:nvSpPr>
        <p:spPr>
          <a:xfrm>
            <a:off x="457200" y="589788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0e7490"/>
                </a:solidFill>
                <a:latin typeface="Calibri"/>
                <a:ea typeface="Calibri"/>
              </a:rPr>
              <a:t>The notebook teaches the mechanics with stand-ins; these run them at scale. Most observability tools sit on OpenTelemetry.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9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3657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599" strike="noStrike">
                <a:solidFill>
                  <a:srgbClr val="b45309"/>
                </a:solidFill>
                <a:latin typeface="Calibri"/>
                <a:ea typeface="Calibri"/>
              </a:rPr>
              <a:t>HANDS-ON · NOW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457200" y="640080"/>
            <a:ext cx="1124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Four labs — measure, evaluate, guard, watch</a:t>
            </a:r>
            <a:endParaRPr b="0" lang="en-IN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"/>
          <p:cNvSpPr/>
          <p:nvPr/>
        </p:nvSpPr>
        <p:spPr>
          <a:xfrm>
            <a:off x="457200" y="1783080"/>
            <a:ext cx="2697120" cy="4434480"/>
          </a:xfrm>
          <a:prstGeom prst="rect">
            <a:avLst/>
          </a:prstGeom>
          <a:solidFill>
            <a:srgbClr val="10353f"/>
          </a:solidFill>
          <a:ln w="1524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457200" y="1783080"/>
            <a:ext cx="2697120" cy="7272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685800" y="196596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0e7490"/>
                </a:solidFill>
                <a:latin typeface="Georgia"/>
                <a:ea typeface="Georgia"/>
              </a:rPr>
              <a:t>01</a:t>
            </a:r>
            <a:endParaRPr b="0" lang="en-IN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704160" y="297180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Telemetry &amp; metrics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731520" y="3703320"/>
            <a:ext cx="502920" cy="360"/>
          </a:xfrm>
          <a:prstGeom prst="line">
            <a:avLst/>
          </a:prstGeom>
          <a:ln w="1905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704160" y="3886200"/>
            <a:ext cx="23770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3,000 instrumented requests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p50/p95/p99 latency + cost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Cost by model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8"/>
          <p:cNvSpPr/>
          <p:nvPr/>
        </p:nvSpPr>
        <p:spPr>
          <a:xfrm>
            <a:off x="3319200" y="1783080"/>
            <a:ext cx="2697120" cy="4434480"/>
          </a:xfrm>
          <a:prstGeom prst="rect">
            <a:avLst/>
          </a:prstGeom>
          <a:solidFill>
            <a:srgbClr val="10353f"/>
          </a:solidFill>
          <a:ln w="1524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9"/>
          <p:cNvSpPr/>
          <p:nvPr/>
        </p:nvSpPr>
        <p:spPr>
          <a:xfrm>
            <a:off x="3319200" y="1783080"/>
            <a:ext cx="2697120" cy="727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3547800" y="196596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0891b2"/>
                </a:solidFill>
                <a:latin typeface="Georgia"/>
                <a:ea typeface="Georgia"/>
              </a:rPr>
              <a:t>02</a:t>
            </a:r>
            <a:endParaRPr b="0" lang="en-IN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3566160" y="297180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Offline evaluation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2"/>
          <p:cNvSpPr/>
          <p:nvPr/>
        </p:nvSpPr>
        <p:spPr>
          <a:xfrm>
            <a:off x="3593520" y="3703320"/>
            <a:ext cx="502920" cy="360"/>
          </a:xfrm>
          <a:prstGeom prst="line">
            <a:avLst/>
          </a:prstGeom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3566160" y="3886200"/>
            <a:ext cx="23770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Golden set + LLM-as-judge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A/B two versions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Slice → roaming regression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4"/>
          <p:cNvSpPr/>
          <p:nvPr/>
        </p:nvSpPr>
        <p:spPr>
          <a:xfrm>
            <a:off x="6181200" y="1783080"/>
            <a:ext cx="2697120" cy="4434480"/>
          </a:xfrm>
          <a:prstGeom prst="rect">
            <a:avLst/>
          </a:prstGeom>
          <a:solidFill>
            <a:srgbClr val="10353f"/>
          </a:solidFill>
          <a:ln w="1524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5"/>
          <p:cNvSpPr/>
          <p:nvPr/>
        </p:nvSpPr>
        <p:spPr>
          <a:xfrm>
            <a:off x="6181200" y="1783080"/>
            <a:ext cx="2697120" cy="7272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6"/>
          <p:cNvSpPr/>
          <p:nvPr/>
        </p:nvSpPr>
        <p:spPr>
          <a:xfrm>
            <a:off x="6409800" y="196596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b71c1c"/>
                </a:solidFill>
                <a:latin typeface="Georgia"/>
                <a:ea typeface="Georgia"/>
              </a:rPr>
              <a:t>03</a:t>
            </a:r>
            <a:endParaRPr b="0" lang="en-IN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7"/>
          <p:cNvSpPr/>
          <p:nvPr/>
        </p:nvSpPr>
        <p:spPr>
          <a:xfrm>
            <a:off x="6428160" y="297180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Guardrails (in + out)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8"/>
          <p:cNvSpPr/>
          <p:nvPr/>
        </p:nvSpPr>
        <p:spPr>
          <a:xfrm>
            <a:off x="6455520" y="3703320"/>
            <a:ext cx="502920" cy="360"/>
          </a:xfrm>
          <a:prstGeom prst="line">
            <a:avLst/>
          </a:prstGeom>
          <a:ln w="1905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9"/>
          <p:cNvSpPr/>
          <p:nvPr/>
        </p:nvSpPr>
        <p:spPr>
          <a:xfrm>
            <a:off x="6428160" y="3886200"/>
            <a:ext cx="23770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Redact PII (Luhn)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Detect injection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Route allow/redact/block/escalate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20"/>
          <p:cNvSpPr/>
          <p:nvPr/>
        </p:nvSpPr>
        <p:spPr>
          <a:xfrm>
            <a:off x="9043560" y="1783080"/>
            <a:ext cx="2697120" cy="4434480"/>
          </a:xfrm>
          <a:prstGeom prst="rect">
            <a:avLst/>
          </a:prstGeom>
          <a:solidFill>
            <a:srgbClr val="10353f"/>
          </a:solidFill>
          <a:ln w="1524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21"/>
          <p:cNvSpPr/>
          <p:nvPr/>
        </p:nvSpPr>
        <p:spPr>
          <a:xfrm>
            <a:off x="9043560" y="1783080"/>
            <a:ext cx="2697120" cy="727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9272160" y="196596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7c3aed"/>
                </a:solidFill>
                <a:latin typeface="Georgia"/>
                <a:ea typeface="Georgia"/>
              </a:rPr>
              <a:t>04</a:t>
            </a:r>
            <a:endParaRPr b="0" lang="en-IN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9290160" y="297180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Monitor &amp; red-team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24"/>
          <p:cNvSpPr/>
          <p:nvPr/>
        </p:nvSpPr>
        <p:spPr>
          <a:xfrm>
            <a:off x="9317520" y="3703320"/>
            <a:ext cx="502920" cy="360"/>
          </a:xfrm>
          <a:prstGeom prst="line">
            <a:avLst/>
          </a:prstGeom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25"/>
          <p:cNvSpPr/>
          <p:nvPr/>
        </p:nvSpPr>
        <p:spPr>
          <a:xfrm>
            <a:off x="9290160" y="3886200"/>
            <a:ext cx="23770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PSI drift over 14 days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Unguarded vs guarded ASR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c7e4ea"/>
              </a:buClr>
              <a:buFont typeface="OpenSymbol"/>
              <a:buChar char="■"/>
            </a:pPr>
            <a:r>
              <a:rPr b="0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Residual risk by category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26"/>
          <p:cNvSpPr/>
          <p:nvPr/>
        </p:nvSpPr>
        <p:spPr>
          <a:xfrm>
            <a:off x="457200" y="6355080"/>
            <a:ext cx="11246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7e4ea"/>
                </a:solidFill>
                <a:latin typeface="Calibri"/>
                <a:ea typeface="Calibri"/>
              </a:rPr>
              <a:t>Notebook: F6F7_Combined_HandsOn_Lab_Notebook.ipynb  ·  pure NumPy/Pandas, runs offline &amp; deterministically — no service, no safety model, no API keys.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LAB CHEAT SHEET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Verified results you'll reproduce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457200" y="164592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457200" y="1645920"/>
            <a:ext cx="5668920" cy="10944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4"/>
          <p:cNvSpPr/>
          <p:nvPr/>
        </p:nvSpPr>
        <p:spPr>
          <a:xfrm>
            <a:off x="685800" y="187452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e1b1f"/>
                </a:solidFill>
                <a:latin typeface="Calibri"/>
                <a:ea typeface="Calibri"/>
              </a:rPr>
              <a:t>Lab 1 · telemetry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685800" y="2377440"/>
            <a:ext cx="5211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3,000 req · 1.53% error rate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Latency p50 278 · p95 1234 · p99 1714 ms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Total cost $2.66; big model dominates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6"/>
          <p:cNvSpPr/>
          <p:nvPr/>
        </p:nvSpPr>
        <p:spPr>
          <a:xfrm>
            <a:off x="6309360" y="164592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6309360" y="1645920"/>
            <a:ext cx="5668920" cy="1094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8"/>
          <p:cNvSpPr/>
          <p:nvPr/>
        </p:nvSpPr>
        <p:spPr>
          <a:xfrm>
            <a:off x="6537960" y="187452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e1b1f"/>
                </a:solidFill>
                <a:latin typeface="Calibri"/>
                <a:ea typeface="Calibri"/>
              </a:rPr>
              <a:t>Lab 2 · evaluation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6537960" y="2377440"/>
            <a:ext cx="5211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v1 1.00 · v2 0.898 overall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Slice → roaming 0.187 (delta -0.813)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The slice is the regression to catch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0"/>
          <p:cNvSpPr/>
          <p:nvPr/>
        </p:nvSpPr>
        <p:spPr>
          <a:xfrm>
            <a:off x="457200" y="388620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1"/>
          <p:cNvSpPr/>
          <p:nvPr/>
        </p:nvSpPr>
        <p:spPr>
          <a:xfrm>
            <a:off x="457200" y="3886200"/>
            <a:ext cx="5668920" cy="10944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685800" y="411480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e1b1f"/>
                </a:solidFill>
                <a:latin typeface="Calibri"/>
                <a:ea typeface="Calibri"/>
              </a:rPr>
              <a:t>Lab 3 · guardrails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685800" y="4617720"/>
            <a:ext cx="5211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Injection precision/recall/F1 = 1.00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PII redacted to typed placeholders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Output gate routes 7/7 correctly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4"/>
          <p:cNvSpPr/>
          <p:nvPr/>
        </p:nvSpPr>
        <p:spPr>
          <a:xfrm>
            <a:off x="6309360" y="3886200"/>
            <a:ext cx="5668920" cy="2057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6309360" y="3886200"/>
            <a:ext cx="5668920" cy="1094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6"/>
          <p:cNvSpPr/>
          <p:nvPr/>
        </p:nvSpPr>
        <p:spPr>
          <a:xfrm>
            <a:off x="6537960" y="411480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e1b1f"/>
                </a:solidFill>
                <a:latin typeface="Calibri"/>
                <a:ea typeface="Calibri"/>
              </a:rPr>
              <a:t>Lab 4 · monitor + red-team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7"/>
          <p:cNvSpPr/>
          <p:nvPr/>
        </p:nvSpPr>
        <p:spPr>
          <a:xfrm>
            <a:off x="6537960" y="4617720"/>
            <a:ext cx="5211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Drift day 9; quality breach day 10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ASR 100% → 25%, 0% false blocks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e1b1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0e1b1f"/>
                </a:solidFill>
                <a:latin typeface="Calibri"/>
                <a:ea typeface="Calibri"/>
              </a:rPr>
              <a:t>Residual = evasion (2/2 through)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8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9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11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457200" y="365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0e7490"/>
                </a:solidFill>
                <a:latin typeface="Calibri"/>
                <a:ea typeface="Calibri"/>
              </a:rPr>
              <a:t>KEY TAKEAWAYS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457200" y="640080"/>
            <a:ext cx="11246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1b1f"/>
                </a:solidFill>
                <a:latin typeface="Calibri"/>
                <a:ea typeface="Calibri"/>
              </a:rPr>
              <a:t>If you remember six things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"/>
          <p:cNvSpPr/>
          <p:nvPr/>
        </p:nvSpPr>
        <p:spPr>
          <a:xfrm>
            <a:off x="457200" y="1691640"/>
            <a:ext cx="3657240" cy="201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685800" y="1965960"/>
            <a:ext cx="639720" cy="63972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Image 0" descr="preencoded.png"/>
          <p:cNvPicPr/>
          <p:nvPr/>
        </p:nvPicPr>
        <p:blipFill>
          <a:blip r:embed="rId1"/>
          <a:stretch/>
        </p:blipFill>
        <p:spPr>
          <a:xfrm>
            <a:off x="822960" y="21031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61" name="Text 4"/>
          <p:cNvSpPr/>
          <p:nvPr/>
        </p:nvSpPr>
        <p:spPr>
          <a:xfrm>
            <a:off x="1463040" y="192024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Log structured traces.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1463040" y="265176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66a70"/>
                </a:solidFill>
                <a:latin typeface="Calibri"/>
                <a:ea typeface="Calibri"/>
              </a:rPr>
              <a:t>Latency, tokens, cost, status per request — the foundation of everything.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4297680" y="1691640"/>
            <a:ext cx="3657240" cy="201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4526280" y="1965960"/>
            <a:ext cx="639720" cy="63972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Image 1" descr="preencoded.png"/>
          <p:cNvPicPr/>
          <p:nvPr/>
        </p:nvPicPr>
        <p:blipFill>
          <a:blip r:embed="rId2"/>
          <a:stretch/>
        </p:blipFill>
        <p:spPr>
          <a:xfrm>
            <a:off x="4663440" y="21031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66" name="Text 8"/>
          <p:cNvSpPr/>
          <p:nvPr/>
        </p:nvSpPr>
        <p:spPr>
          <a:xfrm>
            <a:off x="5303520" y="192024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Watch the tail.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5303520" y="265176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66a70"/>
                </a:solidFill>
                <a:latin typeface="Calibri"/>
                <a:ea typeface="Calibri"/>
              </a:rPr>
              <a:t>p95/p99, not the mean — that's the experience your slowest users get.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0"/>
          <p:cNvSpPr/>
          <p:nvPr/>
        </p:nvSpPr>
        <p:spPr>
          <a:xfrm>
            <a:off x="8138160" y="1691640"/>
            <a:ext cx="3657240" cy="201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1"/>
          <p:cNvSpPr/>
          <p:nvPr/>
        </p:nvSpPr>
        <p:spPr>
          <a:xfrm>
            <a:off x="8366760" y="1965960"/>
            <a:ext cx="639720" cy="63972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Image 2" descr="preencoded.png"/>
          <p:cNvPicPr/>
          <p:nvPr/>
        </p:nvPicPr>
        <p:blipFill>
          <a:blip r:embed="rId3"/>
          <a:stretch/>
        </p:blipFill>
        <p:spPr>
          <a:xfrm>
            <a:off x="8503920" y="21031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71" name="Text 12"/>
          <p:cNvSpPr/>
          <p:nvPr/>
        </p:nvSpPr>
        <p:spPr>
          <a:xfrm>
            <a:off x="9144000" y="192024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Judge meaning, then slice.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9144000" y="265176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66a70"/>
                </a:solidFill>
                <a:latin typeface="Calibri"/>
                <a:ea typeface="Calibri"/>
              </a:rPr>
              <a:t>LLM-as-judge for quality; per-segment because aggregates hide regressions.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457200" y="3931920"/>
            <a:ext cx="3657240" cy="201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685800" y="4206240"/>
            <a:ext cx="639720" cy="63972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Image 3" descr="preencoded.png"/>
          <p:cNvPicPr/>
          <p:nvPr/>
        </p:nvPicPr>
        <p:blipFill>
          <a:blip r:embed="rId4"/>
          <a:stretch/>
        </p:blipFill>
        <p:spPr>
          <a:xfrm>
            <a:off x="822960" y="434340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76" name="Text 16"/>
          <p:cNvSpPr/>
          <p:nvPr/>
        </p:nvSpPr>
        <p:spPr>
          <a:xfrm>
            <a:off x="1463040" y="416052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Guard both ends.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1463040" y="489204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66a70"/>
                </a:solidFill>
                <a:latin typeface="Calibri"/>
                <a:ea typeface="Calibri"/>
              </a:rPr>
              <a:t>Screen input and output; sanitise where you can, block what you can't.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8"/>
          <p:cNvSpPr/>
          <p:nvPr/>
        </p:nvSpPr>
        <p:spPr>
          <a:xfrm>
            <a:off x="4297680" y="3931920"/>
            <a:ext cx="3657240" cy="201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9"/>
          <p:cNvSpPr/>
          <p:nvPr/>
        </p:nvSpPr>
        <p:spPr>
          <a:xfrm>
            <a:off x="4526280" y="4206240"/>
            <a:ext cx="639720" cy="63972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mage 4" descr="preencoded.png"/>
          <p:cNvPicPr/>
          <p:nvPr/>
        </p:nvPicPr>
        <p:blipFill>
          <a:blip r:embed="rId5"/>
          <a:stretch/>
        </p:blipFill>
        <p:spPr>
          <a:xfrm>
            <a:off x="4663440" y="434340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81" name="Text 20"/>
          <p:cNvSpPr/>
          <p:nvPr/>
        </p:nvSpPr>
        <p:spPr>
          <a:xfrm>
            <a:off x="5303520" y="416052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Drift leads quality.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21"/>
          <p:cNvSpPr/>
          <p:nvPr/>
        </p:nvSpPr>
        <p:spPr>
          <a:xfrm>
            <a:off x="5303520" y="489204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66a70"/>
                </a:solidFill>
                <a:latin typeface="Calibri"/>
                <a:ea typeface="Calibri"/>
              </a:rPr>
              <a:t>PSI warns before the SLA breaks. Red-team to prove the guards hold.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2"/>
          <p:cNvSpPr/>
          <p:nvPr/>
        </p:nvSpPr>
        <p:spPr>
          <a:xfrm>
            <a:off x="8138160" y="3931920"/>
            <a:ext cx="3657240" cy="2011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7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3"/>
          <p:cNvSpPr/>
          <p:nvPr/>
        </p:nvSpPr>
        <p:spPr>
          <a:xfrm>
            <a:off x="8366760" y="4206240"/>
            <a:ext cx="639720" cy="639720"/>
          </a:xfrm>
          <a:prstGeom prst="ellipse">
            <a:avLst/>
          </a:prstGeom>
          <a:solidFill>
            <a:srgbClr val="0e749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Image 5" descr="preencoded.png"/>
          <p:cNvPicPr/>
          <p:nvPr/>
        </p:nvPicPr>
        <p:blipFill>
          <a:blip r:embed="rId6"/>
          <a:stretch/>
        </p:blipFill>
        <p:spPr>
          <a:xfrm>
            <a:off x="8503920" y="434340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86" name="Text 24"/>
          <p:cNvSpPr/>
          <p:nvPr/>
        </p:nvSpPr>
        <p:spPr>
          <a:xfrm>
            <a:off x="9144000" y="4160520"/>
            <a:ext cx="2559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1b1f"/>
                </a:solidFill>
                <a:latin typeface="Calibri"/>
                <a:ea typeface="Calibri"/>
              </a:rPr>
              <a:t>Close the loop.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25"/>
          <p:cNvSpPr/>
          <p:nvPr/>
        </p:nvSpPr>
        <p:spPr>
          <a:xfrm>
            <a:off x="9144000" y="4892040"/>
            <a:ext cx="25599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66a70"/>
                </a:solidFill>
                <a:latin typeface="Calibri"/>
                <a:ea typeface="Calibri"/>
              </a:rPr>
              <a:t>Production events become eval cases and red-team probes. Observe + defend feed each other.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6"/>
          <p:cNvSpPr/>
          <p:nvPr/>
        </p:nvSpPr>
        <p:spPr>
          <a:xfrm>
            <a:off x="45720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F6 + F7  ·  Observability, Safety &amp; Guardrails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27"/>
          <p:cNvSpPr/>
          <p:nvPr/>
        </p:nvSpPr>
        <p:spPr>
          <a:xfrm>
            <a:off x="1097280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a70"/>
                </a:solidFill>
                <a:latin typeface="Calibri"/>
                <a:ea typeface="Calibri"/>
              </a:rPr>
              <a:t>12 / 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"/>
          <p:cNvSpPr/>
          <p:nvPr/>
        </p:nvSpPr>
        <p:spPr>
          <a:xfrm>
            <a:off x="201240" y="0"/>
            <a:ext cx="164160" cy="6857640"/>
          </a:xfrm>
          <a:prstGeom prst="rect">
            <a:avLst/>
          </a:prstGeom>
          <a:solidFill>
            <a:srgbClr val="b71c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822960" y="640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599" strike="noStrike">
                <a:solidFill>
                  <a:srgbClr val="0891b2"/>
                </a:solidFill>
                <a:latin typeface="Calibri"/>
                <a:ea typeface="Calibri"/>
              </a:rPr>
              <a:t>THANK YOU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822960" y="1097280"/>
            <a:ext cx="10972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Final close.</a:t>
            </a:r>
            <a:endParaRPr b="0" lang="en-IN" sz="3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You can measure it — and defend it.</a:t>
            </a:r>
            <a:endParaRPr b="0" lang="en-IN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4"/>
          <p:cNvSpPr/>
          <p:nvPr/>
        </p:nvSpPr>
        <p:spPr>
          <a:xfrm>
            <a:off x="822960" y="30175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891b2"/>
                </a:solidFill>
                <a:latin typeface="Calibri"/>
                <a:ea typeface="Calibri"/>
              </a:rPr>
              <a:t>Before you leave: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822960" y="3383280"/>
            <a:ext cx="5668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Wire tracing + one eval gate into a real app this week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Add an input and output guard to that same app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Bring a drift or red-team question to the assessment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6"/>
          <p:cNvSpPr/>
          <p:nvPr/>
        </p:nvSpPr>
        <p:spPr>
          <a:xfrm>
            <a:off x="6858000" y="2926080"/>
            <a:ext cx="4845960" cy="30171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7"/>
          <p:cNvSpPr/>
          <p:nvPr/>
        </p:nvSpPr>
        <p:spPr>
          <a:xfrm>
            <a:off x="7040880" y="30632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0891b2"/>
                </a:solidFill>
                <a:latin typeface="Calibri"/>
                <a:ea typeface="Calibri"/>
              </a:rPr>
              <a:t>THE FOUNDATION TRACK, IN ONE LINE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7040880" y="3429000"/>
            <a:ext cx="4571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F2 — prompt it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F3 — orchestrate it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F4 — ground it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F5 — adapt it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F6 + F7 — measure &amp; defend it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9"/>
          <p:cNvSpPr/>
          <p:nvPr/>
        </p:nvSpPr>
        <p:spPr>
          <a:xfrm>
            <a:off x="822960" y="59893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Questions? · Bring them now.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PPT_Plus/1.0.0.0$Windows_X86_64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2026-06-25T01:18:03Z</dcterms:created>
  <dc:creator>AI Engineering Specialist Track</dc:creator>
  <dc:description/>
  <dc:language>en-IN</dc:language>
  <cp:lastModifiedBy/>
  <dcterms:modified xsi:type="dcterms:W3CDTF">2026-06-25T09:29:59Z</dcterms:modified>
  <cp:revision>3</cp:revision>
  <dc:subject>PptxGenJS Presentation</dc:subject>
  <dc:title>F6 + F7 — Observability, Safety &amp; Guardrails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