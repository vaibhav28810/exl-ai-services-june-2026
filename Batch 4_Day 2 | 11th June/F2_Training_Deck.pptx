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SPECIALIST TRACK  ·  FOUNDATION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AI, Agentic AI, LLMs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&amp; Context Engineering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4754880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hrs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INSTRUCTION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0" y="4754880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labs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EXTRACT → COMPARE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06640" y="4754880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tools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40664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GPT · GEMINI · LITELLM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6217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Trainer Deck  ·  Cohort delivery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MODULE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gave you models. F2 gives you the systems that wrap them.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after F2 — LangChain, RAG, agents, deployment — assumes you can already pick a model, write a prompt that holds up, force structured output, and route across providers. F2 builds those reflexes with code in your hands.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926080"/>
            <a:ext cx="73152" cy="3108960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1089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like an engineer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297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→ few-shot → CoT → self-consistency. Measure each on a real eval, not vibes.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9272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9272" y="2926080"/>
            <a:ext cx="73152" cy="3108960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31089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structured output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93592" y="4297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 + validation + retry turn free text into JSON your code can trust.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81344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81344" y="2926080"/>
            <a:ext cx="73152" cy="3108960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31089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it's an agent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4297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vs agents, tool calling, single vs multi-agent — and when NOT to reach for one.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43416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43416" y="2926080"/>
            <a:ext cx="73152" cy="3108960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310896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17736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provider-portable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17736" y="4297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+ gateways across Bedrock, Azure OpenAI, Vertex — cost, latency, fallback.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SPEND THE NEXT 2 HOURS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first · 3 labs · wrap &amp;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109728" cy="7315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– 0:50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691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691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landscape · reasoning models · prompt &amp; context engineering · agents · MCP/A2A · cloud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60320"/>
            <a:ext cx="109728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0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0:50 – 1:15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560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2560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a complaint-categorisation prompt across 5 versions → 20-case eval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29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1:15 – 1:40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3429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3429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structured-output extractor with validation + retry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97680"/>
            <a:ext cx="109728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97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1:40 – 1:55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4297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4297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 across Claude / GPT-4o / Gemini via LiteLLM → cost, latency, quality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516636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0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166360"/>
            <a:ext cx="109728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166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1:55 – 2:00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6000" y="5166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&amp; Q&amp;A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5166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· F3 (LangChain &amp; LangGraph) preview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 ·  THE LLM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who in 2026 — and how to think about the field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00200"/>
            <a:ext cx="3657600" cy="1097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closed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API-only, strongest, priced per token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(Opus · Sonnet · Haiku)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o-series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 / Flash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for: hardest reasoning, lowest-ops, best safety defaults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6002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600200"/>
            <a:ext cx="36576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628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or via API, full control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31546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(Meta)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(Alibaba)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/ Mixtral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for: data control, fine-tuning, cost at scale, on-prem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16002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600200"/>
            <a:ext cx="36576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6676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test-time compute to think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66760" y="31546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extended thinking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o-series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R1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6676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for: multi-step logic, math, planning, verification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compute — paying for thinking, not just training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LLMs answer in one forward pass. Reasoning models generate a long internal chain of thought first — spending more compute at inference to reach a better answer. You trade latency and cost for accuracy on hard problems.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trade pays off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math, logic, and code debugging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and decomposition for agent workflows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— checking its own work before answering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where a wrong answer costs more than the extra tokens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5394960" cy="4526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reach for reasoning when…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42316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simple classification or extraction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matters more than the last 2% of accuracy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doing high-volume, cost-sensitive calls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well-engineered prompt on a standard model already passes your eval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start cheap and shallow. Escalate to a reasoning model only when your eval shows you need it.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 ·  PROMPT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patterns, weakest to strongest — this is Lab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109728" cy="7772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389120" y="16459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ask. Fast, cheap, fine for easy tasks. Your baseline to beat.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60320"/>
            <a:ext cx="109728" cy="7772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603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2560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89120" y="25603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2–5 labelled examples in the prompt. Anchors format and edge cases.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74720"/>
            <a:ext cx="109728" cy="7772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474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389120" y="34747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reason step-by-step before answering. Big lift on logic.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89120"/>
            <a:ext cx="10972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389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71600" y="43891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389120" y="43891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 — interleave thinking with tool calls. The basis of agents.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0352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0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303520"/>
            <a:ext cx="10972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303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371600" y="5303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389120" y="53035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CoT several times, take the majority vote. Trades cost for stability.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 1 you'll watch accuracy climb 70% → 95% as you move down this list — and watch token cost climb too.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ZOOM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 prompt that holds up in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669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640080" cy="64008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013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context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21284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model who it is and what situation it's in. Sets tone and domain.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669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965960"/>
            <a:ext cx="640080" cy="64008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013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task + constraints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06640" y="221284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unambiguous instruction. State the allowed outputs and the hard limits.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154680"/>
            <a:ext cx="5669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520440"/>
            <a:ext cx="640080" cy="64008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576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3558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contract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376732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exact format — JSON schema, allowed labels, length. Show, don't just tell.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154680"/>
            <a:ext cx="5669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3520440"/>
            <a:ext cx="640080" cy="64008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657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3558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(few-shot)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06640" y="376732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representative cases, including a tricky one. Demonstrates the edge handling.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4709160"/>
            <a:ext cx="5669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5074920"/>
            <a:ext cx="640080" cy="64008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120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49103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trigger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54480" y="532180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step by step" for hard tasks; omit for simple ones to save tokens.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09360" y="4709160"/>
            <a:ext cx="5669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83680" y="5074920"/>
            <a:ext cx="640080" cy="64008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521208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06640" y="49103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406640" y="532180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on ambiguity, missing data, or out-of-scope input. Define the refusal.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CONTEXT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is what you say. Context is everything the model can see.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73152" cy="20574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777240" cy="77724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48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Context-window budget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37360" y="2423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in the window costs money and dilutes attention. Curate ruthlessly — relevant context beats more context.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1645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1645920"/>
            <a:ext cx="73152" cy="20574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1965960"/>
            <a:ext cx="777240" cy="77724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488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589520" y="2423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the stable prefix (system prompt, few-shot, docs). Pay full price once, a fraction thereafter. Big cost win on repeated calls.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931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931920"/>
            <a:ext cx="73152" cy="20574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4251960"/>
            <a:ext cx="777240" cy="77724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737360" y="4709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generation to a schema (JSON / Pydantic / Zod). Turns a language model into a reliable function your code can call.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309360" y="3931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09360" y="3931920"/>
            <a:ext cx="73152" cy="20574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4" name="Shape 19"/>
          <p:cNvSpPr/>
          <p:nvPr/>
        </p:nvSpPr>
        <p:spPr>
          <a:xfrm>
            <a:off x="6629400" y="4251960"/>
            <a:ext cx="777240" cy="77724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43484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8952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assembly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589520" y="4709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instructions → context → examples → query. Put the most important material at the start and end of the window.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· ZOOM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— making an LLM safe to call from 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output is unparseable and unreliable. A schema forces every response into a known shape — typed fields, allowed values, required keys — so downstream code never guesses.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(Lab 2)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a Pydantic model — fields, types, enums, validators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Ask the model to emit JSON matching that schema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Parse + validate; on failure, retry with the error fed back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Now you have a typed object your code can trust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394960" cy="4526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Pydantic schema (excerpt)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Field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enum import Enum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Sentiment(str, Enum):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positive = 'positive'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neutral  = 'neutral'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negative = 'negative'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Feedback(BaseModel):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sentiment: Sentiment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intent:    str = Field(min_length=3)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product:   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urgency:   int = Field(ge=1, le=5)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 = Feedback.model_validate_json(llm_out)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  ·  AGENTIC AI PRIMER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vs agents — the single most-confused distinction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692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5669280" cy="1097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(workflow)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the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sequence of steps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control flow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cost &amp; latency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what happens next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extract → classify → route → respond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6692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645920"/>
            <a:ext cx="56692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the path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28346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chooses tools + order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 it decides it's done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cost &amp; latency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about what to do next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75120" y="5029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'resolve this ticket' → model plans + acts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a chain. Reach for an agent only when the path genuinely can't be known in advance — agents cost more and fail in more ways.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ZOOM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— how a model reaches outside its own head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Define tools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typed function schemas: name, description, params.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2331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19272" y="1828800"/>
            <a:ext cx="260604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Model decides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02152" y="2514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a structured request to call a tool with arguments.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25312" y="2331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0604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You execute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64224" y="2514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runs the function — the model never touches your systems directly.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87384" y="2331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43416" y="1828800"/>
            <a:ext cx="260604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26296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Return result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26296" y="2514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output back; the model continues or answers.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foundation of agents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executes anything — it only requests. Your code stays in control of every side effect.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schemas make tool use reliable and auditable; you log every requested call.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many tool calls in a loop and you have an agent. Tool calling is the atom; agents are the molecule.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vs multi-agent — and when complexity pays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3657600" cy="1097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many tools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to build &amp; debug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reasoning context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to trace and cost-control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5029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 Covers most real use cases.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645920"/>
            <a:ext cx="36576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2628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 collaborate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7432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/ researcher / validator split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on independent subtasks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&amp; context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26280" y="5029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roles are genuinely distinct and the task decomposes cleanly.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645920"/>
            <a:ext cx="36576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6676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multi-agent adds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66760" y="27432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failure modes &amp; handoffs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token + latency budget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trace and reason about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66760" y="5029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reach for it to look sophisticated.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 ·  MODEL CONTEXT PROTOCOL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the USB-C port for AI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MCP, every tool integration was bespoke glue per model per app. MCP is an open standard: a tool server exposes capabilities once, and any MCP-aware client (Claude, IDEs, agents) can use them.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MCP server exposes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functions the model can call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— data the model can read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— reusable prompt templates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with typed schemas, auth, and discovery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39496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server, many clients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03920" y="3657600"/>
            <a:ext cx="1371600" cy="7772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37033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20840" y="2423160"/>
            <a:ext cx="128016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423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2697480"/>
            <a:ext cx="502920" cy="1325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20840" y="3246120"/>
            <a:ext cx="128016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3246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01000" y="3520440"/>
            <a:ext cx="50292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20840" y="4069080"/>
            <a:ext cx="128016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4069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01000" y="4343400"/>
            <a:ext cx="502920" cy="-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378440" y="2423160"/>
            <a:ext cx="128016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78440" y="2423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75520" y="3931920"/>
            <a:ext cx="502920" cy="-1234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378440" y="3246120"/>
            <a:ext cx="128016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3246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875520" y="3931920"/>
            <a:ext cx="502920" cy="-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78440" y="4069080"/>
            <a:ext cx="128016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78440" y="4069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API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75520" y="3931920"/>
            <a:ext cx="50292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 ·  AGENT-TO-AGENT (A2A)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agents from different vendors need to talk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connects an agent to tools. A2A connects an agent to other agents — across vendors and organisations.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697480"/>
            <a:ext cx="777240" cy="77724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803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discovery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publish a capability card describing what they can do, so others can find and invoke them.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246888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697480"/>
            <a:ext cx="777240" cy="77724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8803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Cross-vendor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72000" y="41148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agent can hand off to a Claude agent to an enterprise agent — without bespoke integration.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246888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697480"/>
            <a:ext cx="777240" cy="77724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8803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delegation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2480" y="41148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delegates a sub-task to a specialist agent and awaits the structured result.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 2026: emerging standard. Know it exists; reach for it only on genuine cross-org orchestration.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 ·  CLOUD FOR AI TEAMS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hyperscaler gateways to frontier models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840480"/>
                <a:gridCol w="48463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you reach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you'd pick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Bedrock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· Llama · Titan · Mistral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AWS integration · IAM · VPC · enterprise default in AWS shops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OpenAI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· o-series · embeddings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Microsoft-stack alignment · compliance certifications · enterprise SLAs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Vertex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· Claude · open models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on Gemini-native + data/ML platform 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point: pick the gateway your enterprise already lives in — then keep your code provider-portable so you're never locked in. That's the next slide.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7  ·  PROVIDER ABSTRACTION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&amp; gateways — write once, route anywhere (Lab 3)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abstract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across Claude, GPT, Gemini, open models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when a provider is down or rate-limited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routing — cheap model first, escalate on need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models without touching application 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— unified SDK across 100+ models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AI Gateway — caching, rate-limits, analytics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Portkey — routing, fallback, observability layer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394960" cy="4526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call, any provider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litellm import completion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Just change the model string: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model in 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'bedrock/anthropic.claude-...',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'azure/gpt-4o',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'vertex_ai/gemini-2.5-pro',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completion(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model=model,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messages=msgs,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same response shape every time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TRADE-OFF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· Latency · Quality — you tune two, the third moves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3657600" cy="1097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777240" cy="77724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35204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your eval. Buy it with bigger models, reasoning, self-consistency, more context.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828800"/>
            <a:ext cx="3657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828800"/>
            <a:ext cx="36576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2148840"/>
            <a:ext cx="777240" cy="77724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3317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72000" y="35204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response. Smaller models, less reasoning, caching, and streaming buy it back.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828800"/>
            <a:ext cx="3657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1828800"/>
            <a:ext cx="36576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4"/>
          <p:cNvSpPr/>
          <p:nvPr/>
        </p:nvSpPr>
        <p:spPr>
          <a:xfrm>
            <a:off x="8412480" y="2148840"/>
            <a:ext cx="777240" cy="77724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3317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412480" y="35204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per call. Driven by tokens in + out and model tier. Cache, route, and trim context.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 3 you'll measure all three across Claude, GPT-4o, and Gemini on the same task — then plot the Pareto frontier and pick a defensible default.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ladder — climb only as far as your eval forces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109728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on a small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77840" y="16916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Cheapest, fastest. If the eval passes, stop here.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109728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060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few-shot + a better prompt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26060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problems are solved by a sharper prompt, not a bigger model.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109728" cy="7772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204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71600" y="35204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Chain-of-Thought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7840" y="35204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multi-step reasoning. Costs more tokens; verify the lift on your eval.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434840"/>
            <a:ext cx="109728" cy="7772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4348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371600" y="4434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a reasoning model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44348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CoT on a standard model still fails.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534924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0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349240"/>
            <a:ext cx="10972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3492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371600" y="53492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an agent + tools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77840" y="53492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path can't be known in advance.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is stopping early. Every rung up costs money, latency, and failure modes.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labs, end-to-end, in the next ~65 minutes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57600" cy="4434840"/>
          </a:xfrm>
          <a:prstGeom prst="rect">
            <a:avLst/>
          </a:prstGeom>
          <a:solidFill>
            <a:srgbClr val="27235C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3657600" cy="7315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46888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staircase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3611880"/>
            <a:ext cx="548640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94760"/>
            <a:ext cx="3246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E8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20-case complaint eval set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E8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 prompt versions (zero-shot → self-consistency)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E8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5 across all 20 cases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E8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accuracy climb 70% → 95%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657600" cy="4434840"/>
          </a:xfrm>
          <a:prstGeom prst="rect">
            <a:avLst/>
          </a:prstGeom>
          <a:solidFill>
            <a:srgbClr val="27235C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783080"/>
            <a:ext cx="36576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659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572000" y="3611880"/>
            <a:ext cx="5486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794760"/>
            <a:ext cx="3246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E8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Pydantic schema (sentiment/intent/product)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E8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JSON from unstructured feedback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E8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retry on failure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E8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validation funnel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657600" cy="4434840"/>
          </a:xfrm>
          <a:prstGeom prst="rect">
            <a:avLst/>
          </a:prstGeom>
          <a:solidFill>
            <a:srgbClr val="27235C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783080"/>
            <a:ext cx="3657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19659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1014984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comparison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8412480" y="3611880"/>
            <a:ext cx="5486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794760"/>
            <a:ext cx="3246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E8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3 providers behind one LiteLLM-style call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E8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task on Claude / GPT-4o / Gemini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E8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latency, cost, quality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E8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accuracy-vs-cost Pareto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F2_HandsOn_Lab_Notebook.ipynb  ·  every cell runs offline with deterministic mock providers — no API keys needed.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CHEAT 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staircase · 5 versions · 20-case eval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prompt versions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zero-shot: just ask for the category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category list: enumerate the allowed labels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few-shot: add 3 labelled examples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— CoT: 'reason step by step, then answer'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— CoT + self-consistency: sample 3×, majority vote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120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(mock providers, deterministic)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54864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0.70 → 0.80 → 0.80 → 0.95 → 0.95   ·   cost rises with every step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394960" cy="4572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scoring loop (excerpt)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version, prompt in PROMPTS.items():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case in eval_cases: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 = mock_llm(prompt, case['text'])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 = parse_label(out)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record(version, pred == case['label'])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scoreboard = (df_runs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.groupby('version')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.agg(accuracy=('correct', 'mean'),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cost=('cost_usd', 'sum'))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v4_cot wins on accuracy; v1 wins on cost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&amp; LAB 3 CHEAT 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  ·  Provider comparison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6692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Structured extraction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Feedback(BaseModel) — sentiment, intent, product, urgency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the model to emit matching JSON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model_validate_json → catch ValidationError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failure, retry with the error message fed back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validation funnel: extracted → valid → recovered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the retry pattern that makes LLM output safe to call from code.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4864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Provider comparison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completion() call, swap only the model string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best Lab-1 prompt on 3 providers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accuracy, p50/p95 latency, $/call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Three-panel bar chart + accuracy-vs-cost Pareto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defensible default with the numbers to back 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54406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read: Gemini &amp; Claude tie on quality; Gemini cheapest; GPT-4o fastest. The 'right' pick depends on the SLA.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FRAMEWORKS · F2 CHEAT-SHEET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 you touched today, and when each earns its place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383280"/>
                <a:gridCol w="4572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for it when…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(Opus/Sonnet/Haiku)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closed model family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Hardest reasoning, strong safety, agentic 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· o-series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frontier + reasoning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ecosystem, multimodal, o-series for hard logic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frontier, long context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context windows, strong price/quality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· Qwen · Mistral · DeepSeek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Open-weight 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Self-host, fine-tune, data control, cost at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abstraction SDK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API across 100+ models; fallback &amp; routing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AI Gateway · Portkey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gateways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Caching, rate-limits, cost analytics, observability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· Zod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&amp;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and verify structured outputs from LLMs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· A2A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protocols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Standardised tool access (MCP) and agent-to-agent (A2A)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6 things from F2, make it these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model for the job.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2651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for hardest + lowest-ops; open for control + scale; reasoning for multi-step logic.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65960"/>
            <a:ext cx="640080" cy="64008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sharper prompt beats a bigger model.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03520" y="2651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→ few-shot → CoT. Measure each on a real eval before you escalate.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965960"/>
            <a:ext cx="640080" cy="64008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03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makes LLMs callable.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144000" y="2651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 + validation + retry turns free text into a typed object.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9319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4206240"/>
            <a:ext cx="640080" cy="64008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434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160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a chain, not an agent.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63040" y="4892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only when the path genuinely can't be known in advance.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206240"/>
            <a:ext cx="640080" cy="64008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34340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160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provider-portable.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03520" y="4892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+ gateways. Swap models without rewriting code; route on cost &amp; latency.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206240"/>
            <a:ext cx="640080" cy="640080"/>
          </a:xfrm>
          <a:prstGeom prst="ellipse">
            <a:avLst/>
          </a:prstGeom>
          <a:solidFill>
            <a:srgbClr val="6D28D9">
              <a:alpha val="12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34340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160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tune two of cost/latency/quality.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9144000" y="4892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always moves. Climb the decision ladder only as far as the eval forces.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AI, Agentic AI, LLMs &amp; Prompt &amp; Context Engineering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 closed.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speak to any model now.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lab notebook to your training git folder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F2 Study Library for any topic you want deeper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one question for the trainer — it'll resurface in the F8 assessment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2926080"/>
            <a:ext cx="4846320" cy="29260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3383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LangChain &amp; LangGraph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0" y="41605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· LCEL · output parsers · stateful graphs · conditional routing · LangSmith tracing. Everything you prompted by hand today, now orchestrated.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· Bring them now.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F2 — AI, Agentic AI, LLMs &amp; Prompt &amp; Context Engineering</dc:title>
  <dc:subject>PptxGenJS Presentation</dc:subject>
  <dc:creator>AI Engineering Specialist Track</dc:creator>
  <cp:lastModifiedBy>AI Engineering Specialist Track</cp:lastModifiedBy>
  <cp:revision>1</cp:revision>
  <dcterms:created xsi:type="dcterms:W3CDTF">2026-06-11T01:47:28Z</dcterms:created>
  <dcterms:modified xsi:type="dcterms:W3CDTF">2026-06-11T01:47:28Z</dcterms:modified>
</cp:coreProperties>
</file>