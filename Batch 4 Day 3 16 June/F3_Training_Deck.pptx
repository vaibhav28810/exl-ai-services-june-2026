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SPECIALIST TRACK  ·  FOUNDATION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LangChain &amp; LangGraph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7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Orchestrating LLMs — from linear chains to stateful graphs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hrs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INSTRUCTION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labs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11480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· GRAPH · TRACE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0664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tools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0664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LANGGRAPH · LANGSMITH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7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Trainer Deck  ·  Cohort delivery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MODULE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gave you one model call. F3 turns calls into systems.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prompt is a feature. A reliable product is many prompts, tools, and decisions wired together with retries, branching, and observability. LangChain composes the steps; LangGraph adds state and control flow; LangSmith lets you see inside.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926080"/>
            <a:ext cx="73152" cy="31089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1089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with LCEL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297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| model | parser. Small Runnables piped into chains — streaming, batching, retries for free.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9272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9272" y="2926080"/>
            <a:ext cx="73152" cy="31089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31089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with LangGraph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93592" y="4297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graphs with conditional edges, retries, and human-in-the-loop. The path isn't always a straight line.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81344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81344" y="2926080"/>
            <a:ext cx="73152" cy="31089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31089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with LangSmith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297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step, find the slow node, version prompts, wire evals. Observability is not optional.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43416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43416" y="2926080"/>
            <a:ext cx="73152" cy="31089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310896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17736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tool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17736" y="4297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vs graph; LangChain vs LlamaIndex. Knowing when each wins is the senior skill.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SPEND THE NEXT 2 HOURS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first · 3 labs · wrap &amp;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109728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– 0:50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691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LCEL · LangGraph · LlamaIndex · tool calling · LangSmith · chain-vs-graph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60320"/>
            <a:ext cx="109728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0:50 – 1:15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2560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pipeline: classify complaints by category, sentiment, priority (Pydantic parser)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29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1:15 – 1:40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3429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3429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triage: branch to FAQ-bot / RAG / human on confidence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97680"/>
            <a:ext cx="109728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97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1:40 – 1:55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4297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4297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LangSmith-style tracing: inspect a multi-step run, find the slowest node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166360"/>
            <a:ext cx="109728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166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1:55 – 2:00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0" y="5166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&amp; Q&amp;A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5166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· F4 (Retrieval-Augmented Generation) preview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 ·  LANGCHAIN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composing LLM calls into pipelines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36576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&amp; templates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models (any provider)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retrievers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645920"/>
            <a:ext cx="365760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glue: LCEL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6280" y="237744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Runnables with .invoke()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with | operator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| model | parser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+ batching free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+ retries built 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645920"/>
            <a:ext cx="365760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66760" y="237744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re-writing glue code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models without rewrites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interfaces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integration ecosystem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patterns baked 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ZOOM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— the pipe that makes everything composable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 is a Runnable — anything with an .invoke() method. The | operator chains them so the output of one feeds the next. The whole chain is itself a Runnable, so chains compose into bigger chains.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for free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tokens to the UI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across many inputs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execution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retries &amp; fallbacks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tracing in LangSmith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394960" cy="4526280"/>
          </a:xfrm>
          <a:prstGeom prst="rect">
            <a:avLst/>
          </a:prstGeom>
          <a:solidFill>
            <a:srgbClr val="06402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LCEL — this is Lab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langchain_core.prompts import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ChatPromptTemplate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langchain_core.output_parsers import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PydanticOutputParser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ChatPromptTemplate.from_template(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"Classify this ticket: {text}")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 = ChatAnthropic(model=...)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= PydanticOutputParser(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pydantic_object=Ticket)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whole pipeline in one line: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= prompt | model | parser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 = chain.invoke({'text': msg})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STRUCTURED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parsers — the guardrail at the end of the chain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73152" cy="2057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777240" cy="77724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PydanticOutputParser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2423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 the model's text into a typed Pydantic object. Out-of-schema fields raise, not slip through. This is Lab 1's parser.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1645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1645920"/>
            <a:ext cx="73152" cy="2057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1965960"/>
            <a:ext cx="777240" cy="77724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488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StructuredOutputParser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589520" y="2423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Lighter-weight key/value extraction when you don't need full Pydantic validation.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931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931920"/>
            <a:ext cx="73152" cy="2057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4251960"/>
            <a:ext cx="777240" cy="77724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OutputFixingParser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737360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another parser; on a parse failure it asks the model to repair its own output. The retry pattern, built in.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309360" y="3931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09360" y="3931920"/>
            <a:ext cx="73152" cy="2057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19"/>
          <p:cNvSpPr/>
          <p:nvPr/>
        </p:nvSpPr>
        <p:spPr>
          <a:xfrm>
            <a:off x="6629400" y="4251960"/>
            <a:ext cx="777240" cy="77724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43484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8952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589520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lesson as F2: a schema turns free text into a function call your code can trust. The parser is where that happens in LangChain.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 ·  LANGGRAPH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straight line isn't enough — graphs of state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chains run start to finish in one direction. LangGraph models your app as a graph: nodes mutate a shared state, and edges — including conditional ones — decide what runs next. That unlocks branching, loops, retries, and human-in-the-loop.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971800"/>
            <a:ext cx="777240" cy="77724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546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43891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take the state and return an updated state. Each is a step in your workflow.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274320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971800"/>
            <a:ext cx="777240" cy="77724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1546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72000" y="43891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function reads the state and picks the next node at runtime. This is the branch.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74320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971800"/>
            <a:ext cx="777240" cy="77724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1546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12480" y="43891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state between nodes; pause, resume, and recover. The basis of durable, long-running agents.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DISTINCTION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chain vs LangGraph graph — when each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692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566928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chain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LCEL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is a known straight line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always runs in order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branching or loops needed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cost &amp; latency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prompt → model → parse → return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6692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645920"/>
            <a:ext cx="566928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graph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28346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depends on the data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branching or retries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resumable state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75120" y="5029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classify → route → {auto | human}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a chain. Promote to a graph the moment the path stops being a straight line. Lab 1 is a chain; Lab 2 is the same task promoted to a graph.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ZOOM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triage graph you'll build in Lab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737360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2697480"/>
            <a:ext cx="18288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2697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1463040"/>
            <a:ext cx="2194560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FAQ-bot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2743200"/>
            <a:ext cx="2194560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KB-RAG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4023360"/>
            <a:ext cx="219456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4023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queue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0" y="2743200"/>
            <a:ext cx="2194560" cy="822960"/>
          </a:xfrm>
          <a:prstGeom prst="rect">
            <a:avLst/>
          </a:prstGeom>
          <a:solidFill>
            <a:srgbClr val="06402B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0" y="3154680"/>
            <a:ext cx="548640" cy="0"/>
          </a:xfrm>
          <a:prstGeom prst="line">
            <a:avLst/>
          </a:prstGeom>
          <a:noFill/>
          <a:ln w="19050">
            <a:solidFill>
              <a:srgbClr val="5B6B6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37760" y="2926080"/>
            <a:ext cx="914400" cy="-960120"/>
          </a:xfrm>
          <a:prstGeom prst="line">
            <a:avLst/>
          </a:prstGeom>
          <a:noFill/>
          <a:ln w="15875">
            <a:solidFill>
              <a:srgbClr val="5B6B6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37760" y="3154680"/>
            <a:ext cx="914400" cy="0"/>
          </a:xfrm>
          <a:prstGeom prst="line">
            <a:avLst/>
          </a:prstGeom>
          <a:noFill/>
          <a:ln w="15875">
            <a:solidFill>
              <a:srgbClr val="5B6B6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37760" y="3383280"/>
            <a:ext cx="914400" cy="960120"/>
          </a:xfrm>
          <a:prstGeom prst="line">
            <a:avLst/>
          </a:prstGeom>
          <a:noFill/>
          <a:ln w="15875">
            <a:solidFill>
              <a:srgbClr val="5B6B66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84632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 · low pri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 · high pri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046720" y="1874520"/>
            <a:ext cx="822960" cy="1280160"/>
          </a:xfrm>
          <a:prstGeom prst="line">
            <a:avLst/>
          </a:prstGeom>
          <a:noFill/>
          <a:ln w="12700">
            <a:solidFill>
              <a:srgbClr val="5B6B6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46720" y="3154680"/>
            <a:ext cx="822960" cy="0"/>
          </a:xfrm>
          <a:prstGeom prst="line">
            <a:avLst/>
          </a:prstGeom>
          <a:noFill/>
          <a:ln w="12700">
            <a:solidFill>
              <a:srgbClr val="5B6B6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46720" y="4434840"/>
            <a:ext cx="822960" cy="-1280160"/>
          </a:xfrm>
          <a:prstGeom prst="line">
            <a:avLst/>
          </a:prstGeom>
          <a:noFill/>
          <a:ln w="12700">
            <a:solidFill>
              <a:srgbClr val="5B6B6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classify node, a conditional router, three terminal handlers. Each handler is a different cost/quality point — the graph routes spend to where it's justified.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WHAT GRAPHS UNLOCK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a straight chain cannot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73152" cy="2057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777240" cy="777240"/>
          </a:xfrm>
          <a:prstGeom prst="ellipse">
            <a:avLst/>
          </a:prstGeom>
          <a:solidFill>
            <a:srgbClr val="D97706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2423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different nodes based on runtime state — confidence, intent, tool results.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1645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1645920"/>
            <a:ext cx="73152" cy="2057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1965960"/>
            <a:ext cx="777240" cy="777240"/>
          </a:xfrm>
          <a:prstGeom prst="ellipse">
            <a:avLst/>
          </a:prstGeom>
          <a:solidFill>
            <a:srgbClr val="D97706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488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retries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589520" y="2423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back on failure, re-plan, or refine until a condition is met. Bounded, not infinite.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931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931920"/>
            <a:ext cx="73152" cy="2057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4251960"/>
            <a:ext cx="777240" cy="777240"/>
          </a:xfrm>
          <a:prstGeom prst="ellipse">
            <a:avLst/>
          </a:prstGeom>
          <a:solidFill>
            <a:srgbClr val="D97706">
              <a:alpha val="12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737360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for approval mid-graph, then resume from the exact checkpoint. Critical for high-stakes actions.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309360" y="3931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09360" y="3931920"/>
            <a:ext cx="73152" cy="2057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Shape 19"/>
          <p:cNvSpPr/>
          <p:nvPr/>
        </p:nvSpPr>
        <p:spPr>
          <a:xfrm>
            <a:off x="6629400" y="4251960"/>
            <a:ext cx="777240" cy="777240"/>
          </a:xfrm>
          <a:prstGeom prst="ellipse">
            <a:avLst/>
          </a:prstGeom>
          <a:solidFill>
            <a:srgbClr val="D97706">
              <a:alpha val="12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43484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8952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state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589520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progress so a long-running workflow survives restarts and can be resumed days later.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TOOLS IN LANGCHAIN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chains and graphs the ability to 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Define a tool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function with a name, description, and Pydantic args schema.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2331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19272" y="1828800"/>
            <a:ext cx="260604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Bind to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02152" y="2514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model.bind_tools([...]) — the model can now request the tool.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25312" y="2331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0604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Model requests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64224" y="2514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a structured tool call; your code runs it.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87384" y="2331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43416" y="1828800"/>
            <a:ext cx="260604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26296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Feed 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26296" y="25146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result into the chain/graph; continue or answer.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solidFill>
            <a:srgbClr val="06402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the same idea you saw in F2 — now inside the framework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standardises the tool schema and the call/return loop so you don't hand-roll it.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LangGraph, a tool call is just another node — its result updates the shared state.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args (Pydantic) make tool use validated and auditable, exactly like structured output.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 ·  LANGCHAIN VS LLAMAINDEX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frameworks, overlapping but different centres of gravity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36576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Orchestration-first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LLM app framework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composition + agents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for stateful flows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Broadest integration set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5120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chains, agents, multi-step apps.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645920"/>
            <a:ext cx="365760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2628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Retrieval-first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74320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RAG &amp; indexing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document connectors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retrieval strategies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engines over data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6280" y="5120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app is mostly retrieval over your data.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645920"/>
            <a:ext cx="365760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6676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either/or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66760" y="274320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used together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as the retriever…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…inside a LangChain/LangGraph app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per component, not per project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66760" y="5120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each where it's strongest.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 ·  LANGSMITH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you cannot fix what you cannot see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gives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of every step in a run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latency &amp; token cost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Inputs/outputs at each stage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versioning &amp; comparison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hooks on datasets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not optional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multi-step chain or graph is a black box without tracing. When it's slow or wrong, traces tell you which node — not just that something failed. Lab 3 builds exactly this.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394960" cy="4526280"/>
          </a:xfrm>
          <a:prstGeom prst="rect">
            <a:avLst/>
          </a:prstGeom>
          <a:solidFill>
            <a:srgbClr val="06402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Tracing is one decorator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langsmith import traceable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@traceable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classify_node(state):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state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 call now appears in the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LangSmith run tree with timing,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inputs, outputs, and token cost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 the slowest node, compare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 versions, attach evals.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IN PRODUCTION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 every traced app should surface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36576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777240" cy="77724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520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and end-to-end. Read p95, not just the mean — tails are what users feel. Find the slow node and fix 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82880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828800"/>
            <a:ext cx="365760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2148840"/>
            <a:ext cx="777240" cy="77724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317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72000" y="3520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 + out per node, summed per run. A graph that routes 25% of traffic to RAG has a cost profile you must watch.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82880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1828800"/>
            <a:ext cx="365760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4"/>
          <p:cNvSpPr/>
          <p:nvPr/>
        </p:nvSpPr>
        <p:spPr>
          <a:xfrm>
            <a:off x="8412480" y="2148840"/>
            <a:ext cx="777240" cy="777240"/>
          </a:xfrm>
          <a:prstGeom prst="ellipse">
            <a:avLst/>
          </a:prstGeom>
          <a:solidFill>
            <a:srgbClr val="D97706">
              <a:alpha val="12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3317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412480" y="3520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scores on a golden dataset, attached to traces. Did a prompt change help or regress? The trace tells you.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06402B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builds the latency view end-to-end: instrument each node, collect traces, and find the bottleneck with data — not guesswork.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F3 pieces fit together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108960"/>
                <a:gridCol w="5669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covers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0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 LLM calls (LCEL)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Chains, prompts, parsers, tools, retrievers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 control 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Nodes, conditional edges, checkpointing, HITL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 &amp; evals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Traces, latency/cost, prompt versioning, datasets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Studio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graph 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&amp; debug graph state visually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LlamaIndex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framework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Indexing, connectors, query engines for RAG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&amp; 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outputs and tool argument contracts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family. LangChain composes, LangGraph controls, LangSmith observes — LlamaIndex and Pydantic plug in where they're strongest.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orchestration that survives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20240"/>
            <a:ext cx="658368" cy="658368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6654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chain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16712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happy path as a linear LCEL chain first. Only promote to a graph when you hit real branching.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920240"/>
            <a:ext cx="658368" cy="658368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06654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every boundary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 on outputs and tool args. A typed boundary is a boundary that can't silently corrupt.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429000"/>
            <a:ext cx="658368" cy="658368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57530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291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from day one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36758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LangSmith before you have a problem, not after. You can't debug a run you didn't record.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09360" y="310896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3429000"/>
            <a:ext cx="658368" cy="658368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357530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291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state explicit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60920" y="36758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graph state small, named, and serializable. That's what makes checkpointing and resuming possible.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61772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4937760"/>
            <a:ext cx="658368" cy="658368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084064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800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your loops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508760" y="51846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retry/cycle needs a hard cap. An agent that loops forever is an outage with a bill attached.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309360" y="461772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65392" y="4937760"/>
            <a:ext cx="658368" cy="658368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5084064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60920" y="4800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high-stakes actions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360920" y="51846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human-in-the-loop node before anything irreversible. The graph pauses; a person approves; it resumes.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prompt (F2) to an orchestrated product (F3)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109728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call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760720" y="17830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territory — a single model call with a good prompt.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34640"/>
            <a:ext cx="109728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346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63040" y="2834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LCEL chain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760720" y="28346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| model | parser. Structured, composable, retryable.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86200"/>
            <a:ext cx="109728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8862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463040" y="3886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workflow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760720" y="3886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branching, retries, and human-in-the-loop as the path gets complex.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937760"/>
            <a:ext cx="109728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9377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463040" y="4937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&amp; evaluated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760720" y="49377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on everything: latency, cost, quality on a golden set.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is a deliberate step up in capability and complexity. Climb only as far as the product needs.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DECISION CHECKLIST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before you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109728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path a straight line?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1737360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LangChain chain. No → LangGraph graph.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11247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33472"/>
            <a:ext cx="109728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3347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typed output?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2633472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→ Pydantic + an output parser at the boundary.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529584"/>
            <a:ext cx="11247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29584"/>
            <a:ext cx="109728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9584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app mostly retrieval?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3529584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consider LlamaIndex for the retriever component.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425696"/>
            <a:ext cx="11247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425696"/>
            <a:ext cx="109728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25696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irreversible actions?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4425696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a human-in-the-loop node before they execute.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321808"/>
            <a:ext cx="11247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321808"/>
            <a:ext cx="109728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2180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I know it broke?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5321808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 wired from the start — non-negotiable.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4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labs, end-to-end, in the next ~65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0" cy="4434840"/>
          </a:xfrm>
          <a:prstGeom prst="rect">
            <a:avLst/>
          </a:prstGeom>
          <a:solidFill>
            <a:srgbClr val="0C5238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36576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4688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pipeline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3611880"/>
            <a:ext cx="54864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Ticket Pydantic schema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prompt | model | parser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category / sentiment / priority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over a complaint corpus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657600" cy="4434840"/>
          </a:xfrm>
          <a:prstGeom prst="rect">
            <a:avLst/>
          </a:prstGeom>
          <a:solidFill>
            <a:srgbClr val="0C5238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783080"/>
            <a:ext cx="36576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triage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572000" y="3611880"/>
            <a:ext cx="54864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StateGraph with nodes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conditional router on confidence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FAQ-bot / RAG / human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where each ticket routed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657600" cy="4434840"/>
          </a:xfrm>
          <a:prstGeom prst="rect">
            <a:avLst/>
          </a:prstGeom>
          <a:solidFill>
            <a:srgbClr val="0C5238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783080"/>
            <a:ext cx="36576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1014984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bottlenecks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8412480" y="3611880"/>
            <a:ext cx="54864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every node with spans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traces across all runs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one multi-step run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D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slowest node by latency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F3_HandsOn_Lab_Notebook.ipynb  ·  every cell runs offline &amp; deterministically — no API keys, real LCEL/StateGraph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CHEAT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pipeline · prompt | model | parser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Ticket(BaseModel): category, sentiment, priority, confidence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prompt, model, parser as Runnables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with the | pipe → one chain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chain.invoke(text) → a validated Ticket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over the corpus → a DataFrame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(deterministic)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5394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complaints classified; the confidence field becomes Lab 2's routing signal.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394960" cy="4572000"/>
          </a:xfrm>
          <a:prstGeom prst="rect">
            <a:avLst/>
          </a:prstGeom>
          <a:solidFill>
            <a:srgbClr val="06402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composition (excerpt)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Ticket(BaseModel):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category:   Literal['billing', ...]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sentiment:  Literal['positive', ...]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priority:   Literal['low','medium','high']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confidence: float = Field(ge=0, le=1)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classify_chain =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prompt_template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chat_model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pydantic_parser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 = classify_chain.invoke(text)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&amp; LAB 3 CHEAT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graph  ·  tracing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6692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LangGraph triage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StateGraph: add_node, add_edge, add_conditional_edges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classify → {faq | rag | human}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reads confidence + priority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0.75 conf → human; high pri → rag; else faq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corpus → see the routing split (8/3/1)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54406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conditional edge is the whole point of using a graph.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4864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Tracing &amp; bottlenecks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dataclass records one span per node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graph; run the corpus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 single run's spans + total time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Aggregate: mean, p95, total per node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'rag' is slowest (~12 ms avg)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54406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p95 next to the mean — and classify dominates total time (runs every ticket).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FRAMEWORKS · F3 CHEAT-SHEET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 you touched, and when each earns its place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5303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for it when…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0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(LCEL)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 LLM pipelines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multi-step app; prompt|model|parser;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 control 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Branching, retries, human-in-the-loop, durable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Tracing &amp;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slow/wrong runs; version prompts; run evals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Studio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graph debugging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graph state &amp; transitions interactively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LlamaIndex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Document-heavy RAG; rich connectors &amp; query engines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(AI)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&amp;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outputs and tool-argument contracts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parsers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Coerce model 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PydanticOutputParser; OutputFixingParser for repair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6 things from F3, make it these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composes everything.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| model | parser — small Runnables piped into chains, with streaming, batching, and retries free.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65960"/>
            <a:ext cx="640080" cy="64008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 are the guardrail.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0352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Pydantic output parser turns model text into a typed object — invalid fields raise, not slip through.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965960"/>
            <a:ext cx="640080" cy="64008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03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when the path branches.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14400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adds conditional edges, retries, and human-in-the-loop. Default to a chain; promote when needed.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4206240"/>
            <a:ext cx="640080" cy="64008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434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makes it durable.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6304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shared state is what enables checkpointing, resuming, and human approval mid-flow.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206240"/>
            <a:ext cx="640080" cy="64008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34340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from day one.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0352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makes a multi-step app debuggable. You can't fix the slow node you never recorded.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A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206240"/>
            <a:ext cx="640080" cy="64008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3434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tool per component.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914400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composes, LangGraph controls, LangSmith observes, LlamaIndex retrieves. Mix deliberately.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LangChain &amp; LangGraph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4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F3 closed.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orchestrate LLMs now.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lab notebook to your training git folder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F3 Study Library for LangGraph deep-dives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one orchestration question to the F8 assessment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2926080"/>
            <a:ext cx="4846320" cy="29260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3383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Retrieval-Augmented Generation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0" y="42062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· embeddings · vector stores · grounded answers. The RAG node you routed to in Lab 2 becomes the whole module.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· Bring them now.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F3 — LangChain &amp; LangGraph</dc:title>
  <dc:subject>PptxGenJS Presentation</dc:subject>
  <dc:creator>AI Engineering Specialist Track</dc:creator>
  <cp:lastModifiedBy>AI Engineering Specialist Track</cp:lastModifiedBy>
  <cp:revision>1</cp:revision>
  <dcterms:created xsi:type="dcterms:W3CDTF">2026-06-13T01:47:05Z</dcterms:created>
  <dcterms:modified xsi:type="dcterms:W3CDTF">2026-06-13T01:47:05Z</dcterms:modified>
</cp:coreProperties>
</file>