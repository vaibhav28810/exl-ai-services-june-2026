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</c:v>
                </c:pt>
              </c:strCache>
            </c:strRef>
          </c:tx>
          <c:spPr>
            <a:ln w="31750" cap="flat">
              <a:solidFill>
                <a:srgbClr val="0D7C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C66"/>
              </a:solidFill>
              <a:ln w="9525" cap="flat">
                <a:solidFill>
                  <a:srgbClr val="0D7C6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9">
                  <c:v>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0.55000000000000004</c:v>
                </c:pt>
                <c:pt idx="2">
                  <c:v>0.74</c:v>
                </c:pt>
                <c:pt idx="3">
                  <c:v>0.84</c:v>
                </c:pt>
                <c:pt idx="4">
                  <c:v>0.9</c:v>
                </c:pt>
                <c:pt idx="5">
                  <c:v>0.94</c:v>
                </c:pt>
                <c:pt idx="6">
                  <c:v>0.96</c:v>
                </c:pt>
                <c:pt idx="7">
                  <c:v>0.98</c:v>
                </c:pt>
                <c:pt idx="8">
                  <c:v>0.99</c:v>
                </c:pt>
                <c:pt idx="9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F55-4CF0-80C5-1C5B88956E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</c:v>
                </c:pt>
              </c:strCache>
            </c:strRef>
          </c:tx>
          <c:spPr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9">
                  <c:v>1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0.11</c:v>
                </c:pt>
                <c:pt idx="2">
                  <c:v>0.22</c:v>
                </c:pt>
                <c:pt idx="3">
                  <c:v>0.33</c:v>
                </c:pt>
                <c:pt idx="4">
                  <c:v>0.44</c:v>
                </c:pt>
                <c:pt idx="5">
                  <c:v>0.55000000000000004</c:v>
                </c:pt>
                <c:pt idx="6">
                  <c:v>0.66</c:v>
                </c:pt>
                <c:pt idx="7">
                  <c:v>0.77</c:v>
                </c:pt>
                <c:pt idx="8">
                  <c:v>0.88</c:v>
                </c:pt>
                <c:pt idx="9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F55-4CF0-80C5-1C5B88956E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% churners</c:v>
                </c:pt>
              </c:strCache>
            </c:strRef>
          </c:tx>
          <c:spPr>
            <a:ln w="31750" cap="flat">
              <a:solidFill>
                <a:srgbClr val="FF6B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9">
                  <c:v>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0.57999999999999996</c:v>
                </c:pt>
                <c:pt idx="4">
                  <c:v>0.72</c:v>
                </c:pt>
                <c:pt idx="5">
                  <c:v>0.82</c:v>
                </c:pt>
                <c:pt idx="6">
                  <c:v>0.89</c:v>
                </c:pt>
                <c:pt idx="7">
                  <c:v>0.94</c:v>
                </c:pt>
                <c:pt idx="8">
                  <c:v>0.97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7D-4FC0-8807-98AFA69C0A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 non-churners</c:v>
                </c:pt>
              </c:strCache>
            </c:strRef>
          </c:tx>
          <c:spPr>
            <a:ln w="31750" cap="flat">
              <a:solidFill>
                <a:srgbClr val="0F1E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1E3D"/>
              </a:solidFill>
              <a:ln w="9525" cap="flat">
                <a:solidFill>
                  <a:srgbClr val="0F1E3D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9">
                  <c:v>1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0.04</c:v>
                </c:pt>
                <c:pt idx="2">
                  <c:v>0.1</c:v>
                </c:pt>
                <c:pt idx="3">
                  <c:v>0.18</c:v>
                </c:pt>
                <c:pt idx="4">
                  <c:v>0.3</c:v>
                </c:pt>
                <c:pt idx="5">
                  <c:v>0.42</c:v>
                </c:pt>
                <c:pt idx="6">
                  <c:v>0.55000000000000004</c:v>
                </c:pt>
                <c:pt idx="7">
                  <c:v>0.69</c:v>
                </c:pt>
                <c:pt idx="8">
                  <c:v>0.84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87D-4FC0-8807-98AFA69C0A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43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SPECIALIST TRACK  ·  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 of ML,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&amp; Deep Learning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INSTRUCTION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labs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THINGS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0664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tools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40664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→ SHAP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Trainer Deck  ·  Cohort delivery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MODULE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is the only floor everything else stands 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module — RAG, agents, fine-tuning, governance — assumes you can already speak the language of classical ML: features, metrics, drift, explainability. F1 builds that vocabulary fast, with code in your hands.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73152" cy="3108960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089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ML fluently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unsupervised, deep learning — when each one wins and when each fails.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9272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19272" y="2926080"/>
            <a:ext cx="73152" cy="3108960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31089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matters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93592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past accuracy. ROC-AUC, KS, F1, PSI, CSI — the metrics business actually cares about.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81344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81344" y="2926080"/>
            <a:ext cx="73152" cy="3108960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31089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as a tool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unstructured text into vectors and ship value in an afternoon, not a sprint.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43416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043416" y="2926080"/>
            <a:ext cx="73152" cy="3108960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31089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17736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call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17736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— defend any model decision to risk, audit, and the EU AI Act.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SPEND THE NEXT 2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first · 3 labs · wrap &amp;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09728" cy="731520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0:50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691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ML/NLP/DL primer · feature engineering · metrics · drift · explainability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09728" cy="7315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 – 1:20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classification with XGBoost + GridSearchCV → ROC-AUC + 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109728" cy="7315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1:20 – 1:40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429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sentence embeddings on customer feedback → cluster themes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109728" cy="7315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1:40 – 1:55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4297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4297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on the XGBoost baseline → top drivers in business language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5166360"/>
            <a:ext cx="109728" cy="731520"/>
          </a:xfrm>
          <a:prstGeom prst="rect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5166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1:55 – 2:00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5166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&amp; Q&amp;A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5166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· F2 preview · open clarifications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ML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families of learning — and which problem each solves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657600" cy="109728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in, predictions 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classifier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scoring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Random Forest · XGBoost · Neural Networks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0" y="1600200"/>
            <a:ext cx="3657600" cy="10972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628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— find 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30175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clustering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DBSCAN · Hierarchical · Isolation Forest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6002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38160" y="1600200"/>
            <a:ext cx="3657600" cy="109728"/>
          </a:xfrm>
          <a:prstGeom prst="rect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6676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derived from data itself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30175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pre-training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 (BGE)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foundation models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6676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BERT-family · GPT-family · CLIP · BGE-M3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 Regression — pick by the answer's shape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category?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 CASES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customer churn? (Yes / No)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4 intents is this ticket?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transaction fraud?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label  +  probability per class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486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 ALGORITHMS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 · RF · XGBoost · Neural nets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56692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1828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7512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 CASES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31546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 next month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Time-to-resolution of a ticket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5074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value (and ideally an interval)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 ALGORITHMS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Ridge · GBM · XGBoost · DL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find structure without labels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vectors and a distance metric, group similar items together. The algorithm sees no labels — only geometry.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you'd reach for 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before targeted offers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discovery on open-ended feedback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/ fraud detection (small clusters)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compression for downstream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pick-list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715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 → fast, needs k     ·     DBSCAN → density, no k     ·     HDBSCAN → variable density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66928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discovered clusters (illustrative)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2148840"/>
            <a:ext cx="0" cy="32918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5080" y="5440680"/>
            <a:ext cx="5349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23735" y="2148840"/>
            <a:ext cx="0" cy="32918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55080" y="5029200"/>
            <a:ext cx="5349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92390" y="2148840"/>
            <a:ext cx="0" cy="32918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4617720"/>
            <a:ext cx="5349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61045" y="2148840"/>
            <a:ext cx="0" cy="32918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55080" y="4206240"/>
            <a:ext cx="5349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29700" y="2148840"/>
            <a:ext cx="0" cy="32918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3794760"/>
            <a:ext cx="5349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698355" y="2148840"/>
            <a:ext cx="0" cy="32918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55080" y="3383280"/>
            <a:ext cx="5349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367010" y="2148840"/>
            <a:ext cx="0" cy="32918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55080" y="2971800"/>
            <a:ext cx="5349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035665" y="2148840"/>
            <a:ext cx="0" cy="32918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55080" y="2560320"/>
            <a:ext cx="5349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704320" y="2148840"/>
            <a:ext cx="0" cy="32918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55080" y="2148840"/>
            <a:ext cx="5349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0" y="5486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20574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86575" y="5486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80760" y="24688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55230" y="5486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80760" y="28803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3885" y="5486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80760" y="32918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892540" y="5486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80760" y="37033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561195" y="5486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80760" y="41148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29850" y="5486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80760" y="45262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898505" y="5486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80760" y="49377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67160" y="5486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80760" y="5349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35134" y="4526975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183864" y="4761627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578319" y="4567272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139431" y="4291384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754295" y="4638050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387226" y="4363685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836164" y="4885611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644926" y="4768218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53643" y="4825324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719366" y="4581439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256951" y="4905245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175186" y="4223972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190230" y="4613310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195143" y="4802241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549467" y="4534735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853530" y="4734335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249955" y="4212320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581259" y="4770060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703299" y="4697625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229741" y="4369921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468176" y="4683058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140731" y="4256294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332113" y="4287491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611411" y="4767507"/>
            <a:ext cx="91440" cy="91440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458988" y="4447127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667507" y="4240491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834520" y="4593502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254918" y="4703519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9716359" y="4438463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563265" y="4245374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930005" y="4510331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238729" y="4369735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239497" y="4087745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0255399" y="4416203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005766" y="4582947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646296" y="4669257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0014181" y="4146815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0800550" y="3980819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0892123" y="4069669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0652121" y="4250806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0394232" y="4757910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0085438" y="4483541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9940368" y="4453858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0569892" y="4171022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0009320" y="3990633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9662002" y="4481650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0435989" y="4414714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9772229" y="3962545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8931334" y="2650322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9089283" y="2948981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532762" y="2708907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9460902" y="3100530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411558" y="3182020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233209" y="2779639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9176941" y="2652341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8658805" y="2681253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8585202" y="3268710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8480642" y="3280858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9028640" y="2681119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9397091" y="3188567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976778" y="3257864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8718675" y="2934732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8459333" y="3032985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659383" y="3077137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9333682" y="3195203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580280" y="3295742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9133230" y="3232452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8867698" y="3215643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8957543" y="2989285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8392354" y="2736256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7269480" y="5907024"/>
            <a:ext cx="128016" cy="128016"/>
          </a:xfrm>
          <a:prstGeom prst="ellipse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7452360" y="5852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8778240" y="590702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8961120" y="5852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10287000" y="5907024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10469880" y="5852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pillars — production models live or die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73152" cy="2057400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777240" cy="777240"/>
          </a:xfrm>
          <a:prstGeom prst="ellipse">
            <a:avLst/>
          </a:prstGeom>
          <a:solidFill>
            <a:srgbClr val="0D7C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categories into numbers — One-Hot, Ordinal, Target, Frequency. Watch leakage with Target encoding.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09360" y="1645920"/>
            <a:ext cx="73152" cy="2057400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29400" y="1965960"/>
            <a:ext cx="777240" cy="777240"/>
          </a:xfrm>
          <a:prstGeom prst="ellipse">
            <a:avLst/>
          </a:prstGeom>
          <a:solidFill>
            <a:srgbClr val="0D7C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148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58952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· MinMax · Robust. Required for linear models, k-NN, NN. Trees don't care.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3931920"/>
            <a:ext cx="73152" cy="2057400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77240" y="4251960"/>
            <a:ext cx="777240" cy="777240"/>
          </a:xfrm>
          <a:prstGeom prst="ellipse">
            <a:avLst/>
          </a:prstGeom>
          <a:solidFill>
            <a:srgbClr val="0D7C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4348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3736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for skewed numerics · most-frequent for categoricals · model-based imputation when stakes are high.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0936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309360" y="3931920"/>
            <a:ext cx="73152" cy="2057400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629400" y="4251960"/>
            <a:ext cx="777240" cy="777240"/>
          </a:xfrm>
          <a:prstGeom prst="ellipse">
            <a:avLst/>
          </a:prstGeom>
          <a:solidFill>
            <a:srgbClr val="0D7C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43484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895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58952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 loss · resample (SMOTE/ADASYN) · threshold-tune. Always apply inside the CV fold, not before split.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· ZOOM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— Synthetic Minority Over-sampling, used right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minority-class point, find its k nearest minority neighbours, then create synthetic points along the line segments between them. The minority class is enlarged without simple duplication.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correctly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CV pipeline — never before the train/test split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training folds — never on the test or validation fold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model-class weights for borderline cases, not as a replacement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ADASYN / Borderline-SMOTE when the boundary is messy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94960" cy="448056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Right place for SMOTE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imblearn.pipeline import Pipeline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imblearn.over_sampling import SMOTE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xgboost import XGBClassifier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= Pipeline([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('scale', StandardScaler()),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('smote', SMOTE(random_state=42)),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('clf',   XGBClassifier(...)),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SMOTE runs only on training folds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GridSearchCV(pipe, params, cv=5).fit(X_train, y_train)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TOOLKIT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each algorithm earns its place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reach for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baseline · explainable ·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as a sanity check on every classification 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· captures interactions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shipped alone — but the building block for ensembles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Low-tuning · robust to noise · OK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reach when you need 'just works' on tabular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/ LightGBM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State-of-the-art on tabular · fast · regularised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winner on most Kaggle-style tabular problems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(with kernels)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small, clean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off with N &gt; ~100k; consider it for niche problems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training · pure memorization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/ similarity tasks more than production 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 · RandomSearch · Bayesian (Optuna)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109728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· deterministic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grids (&lt; 30 combos)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audits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blow-up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between runs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0" y="1645920"/>
            <a:ext cx="3657600" cy="109728"/>
          </a:xfrm>
          <a:prstGeom prst="rect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sample of grid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063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coverage per budget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continuous params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best regions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miss narrow optima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38160" y="1645920"/>
            <a:ext cx="3657600" cy="10972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1248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/ Bayesian · learns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3063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prior trials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saves compute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reproducible than grid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code, more tuning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start with a Grid on 3-5 key knobs · move to Optuna when the grid &gt; ~30 cells.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NLP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to something a model can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signal drops in my room."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87752" y="228600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51760" y="18288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D7C6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88920" y="2468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["The", "signal", "drops", ...]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28032" y="228600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892040" y="18288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D7C6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468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768-d vector per token / sentence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68312" y="228600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132320" y="18288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6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2468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 · Attention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08592" y="228600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372600" y="18288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6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7260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0" y="2468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/ score / generated 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· BPE · WordPiece · SentencePiece. Modern LLMs use sub-word tokenisers — `re` and `cat` may be one token each.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9768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97680" y="40690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(or whole sentence) becomes a dense vector capturing meaning. Similar meaning → close in vector space.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3816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38160" y="40690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 (legacy) → Transformer (current). Attention lets every token directly inspect every other token in the sequence.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why they matter, what to pick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useful idea in modern NLP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dense vector that captures the meaning of a word, sentence, or document. Similar meanings sit close together in vector space.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with one model and a vector DB: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— beyond keyword matching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topic discovery without labels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train a simple head on top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find near-duplicate documents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retrieval-augmented generation (Module F4)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40880" y="1691640"/>
            <a:ext cx="47548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2376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shortlist (2026)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194560"/>
          <a:ext cx="448056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· 1024-d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· long-ctx 8K · used in F1 Lab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·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general-purpose · paid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NV-Embed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· 4096-d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· highest MTEB on 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Jina v3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· 1024-d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Late-chunking 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 Embed 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·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retrieval, multilingual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emb-3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·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baseline · ubiquitous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223760" y="5532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by: domain · cost · vector size · context length · licence.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10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DEEP LEARNING PRIMER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in 60 seconds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layers of (linear → non-linearity). Each layer learns a representation; the output layer makes the call. Train by gradient descent against a loss.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dominates unstructured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features instead of demanding them — no manual encoders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hierarchical concepts (edges → shapes → objects, words → phrases → meaning)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data and compute — the basis of every foundation model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Tabular: trees usually still win at small/medium scale; DL wins on text, image, audio, video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4864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3-layer net (concept)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93408" y="3227832"/>
            <a:ext cx="329184" cy="329184"/>
          </a:xfrm>
          <a:prstGeom prst="ellipse">
            <a:avLst/>
          </a:prstGeom>
          <a:solidFill>
            <a:srgbClr val="0D7C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93408" y="3849624"/>
            <a:ext cx="329184" cy="329184"/>
          </a:xfrm>
          <a:prstGeom prst="ellipse">
            <a:avLst/>
          </a:prstGeom>
          <a:solidFill>
            <a:srgbClr val="0D7C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693408" y="4471416"/>
            <a:ext cx="329184" cy="329184"/>
          </a:xfrm>
          <a:prstGeom prst="ellipse">
            <a:avLst/>
          </a:prstGeom>
          <a:solidFill>
            <a:srgbClr val="0D7C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93408" y="5093208"/>
            <a:ext cx="329184" cy="329184"/>
          </a:xfrm>
          <a:prstGeom prst="ellipse">
            <a:avLst/>
          </a:prstGeom>
          <a:solidFill>
            <a:srgbClr val="0D7C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5943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47888" y="3124200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47888" y="3642360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47888" y="4160520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47888" y="4678680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47888" y="5196840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5943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02368" y="3124200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02368" y="3642360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02368" y="4160520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802368" y="4678680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02368" y="5196840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18320" y="5943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173968" y="4160520"/>
            <a:ext cx="329184" cy="329184"/>
          </a:xfrm>
          <a:prstGeom prst="ellipse">
            <a:avLst/>
          </a:prstGeom>
          <a:solidFill>
            <a:srgbClr val="0F1E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789920" y="5943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22592" y="3364992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22592" y="3364992"/>
            <a:ext cx="1225296" cy="41452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022592" y="3364992"/>
            <a:ext cx="1225296" cy="93268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022592" y="3364992"/>
            <a:ext cx="1225296" cy="145084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022592" y="3364992"/>
            <a:ext cx="1225296" cy="196900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022592" y="3986784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022592" y="3986784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022592" y="3986784"/>
            <a:ext cx="1225296" cy="31089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22592" y="3986784"/>
            <a:ext cx="1225296" cy="8290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022592" y="3986784"/>
            <a:ext cx="1225296" cy="134721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022592" y="4608576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022592" y="4608576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022592" y="4608576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022592" y="4608576"/>
            <a:ext cx="1225296" cy="2072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022592" y="4608576"/>
            <a:ext cx="1225296" cy="72542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022592" y="5230368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022592" y="5230368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022592" y="5230368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22592" y="5230368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022592" y="5230368"/>
            <a:ext cx="1225296" cy="10363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577072" y="326136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577072" y="3261360"/>
            <a:ext cx="1225296" cy="518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577072" y="3261360"/>
            <a:ext cx="1225296" cy="10363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577072" y="3261360"/>
            <a:ext cx="1225296" cy="15544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577072" y="3261360"/>
            <a:ext cx="1225296" cy="207264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577072" y="377952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577072" y="377952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577072" y="3779520"/>
            <a:ext cx="1225296" cy="518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577072" y="3779520"/>
            <a:ext cx="1225296" cy="10363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577072" y="3779520"/>
            <a:ext cx="1225296" cy="15544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577072" y="429768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577072" y="429768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577072" y="429768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577072" y="4297680"/>
            <a:ext cx="1225296" cy="518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577072" y="4297680"/>
            <a:ext cx="1225296" cy="10363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577072" y="481584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577072" y="481584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577072" y="481584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577072" y="481584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577072" y="4815840"/>
            <a:ext cx="1225296" cy="518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577072" y="533400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577072" y="533400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577072" y="533400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577072" y="533400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577072" y="5334000"/>
            <a:ext cx="12252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131552" y="3261360"/>
            <a:ext cx="1042416" cy="10363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131552" y="3779520"/>
            <a:ext cx="1042416" cy="518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131552" y="4297680"/>
            <a:ext cx="10424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131552" y="4815840"/>
            <a:ext cx="10424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131552" y="5334000"/>
            <a:ext cx="10424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&amp; TRANSFORMERS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behind every modern LLM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in one sentence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computes how much it should 'attend to' every other token, then mixes their representations weighted by that attention. The mixing is learned end-to-end.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K · 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Keys, Values — each token becomes 3 vectors. Attention = softmax(Q·Kᵀ/√d) · V.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306324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36118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attention in parallel with H different projections; concatenate. Each head learns a different relation.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6324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6676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&amp; residual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36118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block N times with layer-norm and residual connections. Add a feed-forward layer per block.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Transformers replaced RNNs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Parallelisable — RNNs are inherently sequential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 — direct token-to-token paths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gracefully with data + compute (basis of GPT, Claude, Gemini, Llama)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EVALUATION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metric, picked for the cost of being wrong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when…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classes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predictions correct.  Misleading under imbalance.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positives are expensive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predicted positives, how many are real?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negatives are expensive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real positives, how many did we catch?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precision &amp;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Harmonic mean.  No bias either way.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quality, threshold-free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 that a random positive scores higher than a random negative.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/ credit / churn 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gap between cumulative positive and negative score distributions.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teams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2·AUC − 1.  Equivalent ordering signal as AUC.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accuracy last, not first. Pick the metric that mirrors the cost of being wrong.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&amp; 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metrics every BFSI / churn / risk stakeholder wants on a deck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6692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curve of TPR vs FPR as you sweep the threshold from 1 → 0. AUC is the area under it.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2926080"/>
          <a:ext cx="5349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1691640"/>
            <a:ext cx="54406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3796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statistic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37960" y="224028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separation between the cumulative score distributions of positives and negatives. The threshold at the max is a strong default decision cutoff.</a:t>
            </a:r>
            <a:endParaRPr lang="en-US" sz="12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6492240" y="3108960"/>
          <a:ext cx="52120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STABILITY &amp; DRIFT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and CSI — when production silently breaks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age. Features age faster. PSI and CSI tell you when to retrain — before the business notices the regression.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56692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669280" cy="109728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— Population Stability Index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has the score distribution shifted vs training?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520440"/>
            <a:ext cx="5120640" cy="50292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PSI = Σ (a_i − e_i) · ln(a_i / e_i)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16052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— no action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– 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— investigate, watch closely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shift — retrain or recalibrate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0" y="2377440"/>
            <a:ext cx="56692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09360" y="2377440"/>
            <a:ext cx="5669280" cy="10972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0" y="26060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— Characteristic Stability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0" y="3017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formula, but per input feature — to find the culprit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0" y="3520440"/>
            <a:ext cx="5120640" cy="50292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29400" y="35661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CSI(feature) = Σ (a_i − e_i) · ln(a_i / e_i)</a:t>
            </a:r>
            <a:endParaRPr lang="en-US" sz="14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16052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distribution stable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– 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drifting — root cause this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broken or business changed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EXPLAINABILITY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vs LIME — pick the right lens for the model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basis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Cooperative game theory (Shapley values) — exact attributions sum to the prediction.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linear approximation around the point of interest.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with trees (TreeSHAP is exact). DeepSHAP for NN. KernelSHAP for everything else (slow).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Truly model-agnostic — tabular, text, image alike.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+ local, consistent.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only. Different perturbations = different explanations.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for trees (exact). Slow for kernel-based.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per instance; rerun per instance.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you'd pick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Tabular + tree models (XGBoost, LightGBM, RF). Production explainability.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Text/image black-box, quick one-off explanations of unfamiliar models.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SHAP first for tabular + trees. LIME when SHAP doesn't apply or you need a one-off check on a black-box.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labs, end-to-end, in the next ~70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4434840"/>
          </a:xfrm>
          <a:prstGeom prst="rect">
            <a:avLst/>
          </a:prstGeom>
          <a:solidFill>
            <a:srgbClr val="1B2F5C"/>
          </a:solidFill>
          <a:ln w="15240">
            <a:solidFill>
              <a:srgbClr val="0D7C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57600" cy="73152"/>
          </a:xfrm>
          <a:prstGeom prst="rect">
            <a:avLst/>
          </a:prstGeom>
          <a:solidFill>
            <a:srgbClr val="0D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D7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4688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classifier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548640" cy="0"/>
          </a:xfrm>
          <a:prstGeom prst="line">
            <a:avLst/>
          </a:prstGeom>
          <a:noFill/>
          <a:ln w="19050">
            <a:solidFill>
              <a:srgbClr val="0D7C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5K-row telco-style churn dataset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· scale · impute · SMOTE inside a Pipeline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XGBoost · tune with GridSearchCV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ROC-AUC, KS, classification report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657600" cy="4434840"/>
          </a:xfrm>
          <a:prstGeom prst="rect">
            <a:avLst/>
          </a:prstGeom>
          <a:solidFill>
            <a:srgbClr val="1B2F5C"/>
          </a:solidFill>
          <a:ln w="1524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3657600" cy="7315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embeddings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0" y="3611880"/>
            <a:ext cx="548640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30-item customer feedback corpus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with BGE-M3 (TF-IDF fallback)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with K-Means · score with silhouette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themes with t-SNE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657600" cy="4434840"/>
          </a:xfrm>
          <a:prstGeom prst="rect">
            <a:avLst/>
          </a:prstGeom>
          <a:solidFill>
            <a:srgbClr val="1B2F5C"/>
          </a:solidFill>
          <a:ln w="1524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38160" y="1783080"/>
            <a:ext cx="3657600" cy="73152"/>
          </a:xfrm>
          <a:prstGeom prst="rect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101498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412480" y="3611880"/>
            <a:ext cx="548640" cy="0"/>
          </a:xfrm>
          <a:prstGeom prst="line">
            <a:avLst/>
          </a:prstGeom>
          <a:noFill/>
          <a:ln w="1905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trained XGBoost out of Lab 1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SHAP values with TreeExplainer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summary · top drivers · per-customer waterfall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top drivers to business language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F1_HandsOn_Lab_Notebook.ipynb  ·  every cell runnable offline, synthetic data baked in.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classifier · XGBoost · GridSearchCV · ROC-AUC + 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6-step recipe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Split first, stratified by the target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a ColumnTransformer (impute → scale → OHE)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Wrap in imblearn.Pipeline + SMOTE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Define a small param grid (depth, lr, n_estimators)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GridSearchCV with scoring='roc_auc'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Evaluate ROC-AUC and KS on the held-out test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numbers (synthetic data)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5788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 – 0.95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23160" y="576072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5788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14600" y="5989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 – 0.75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576072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80560" y="5788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5989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 – 0.45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5394960" cy="4572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Pipeline core (excerpt)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imblearn.pipeline import Pipeline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imblearn.over_sampling import SMOTE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GridSearchCV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xgboost import XGBClassifier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= Pipeline([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('preprocess', preprocess),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('smote',      SMOTE(random_state=42)),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('clf',        XGBClassifier(...)),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'clf__max_depth':     [3, 5],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'clf__learning_rate': [0.05, 0.1],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'clf__n_estimators':  [150, 250],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 = GridSearchCV(pipe, grid, scoring='roc_auc', cv=3)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gs.fit(X_train, y_train)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&amp; LAB 3 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clustering  ·  SHAP explanations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6692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Feedback embeddings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30-item feedback corpus (4 latent themes)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with BGE-M3 (sentence-transformers)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vectors → KMeans (k=4)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(target &gt; 0.20 on this corpus)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→ 2-D visualisation, eyeball cluster purity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outcome: clean separation of Network · Billing · Support · Praise themes; some Praise vs App overlap due to vocabulary.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4864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SHAP on the churn model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fitted XGBoost out of the pipeline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X_test through the same preprocessor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 · exact for tree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shap.summary_plot → global feature importance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shap.waterfall on a high-risk customer → local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top 3 drivers into 1-sentence business asks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5532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top-3 drivers: complaints_90d, late_payments_12m, contract_type_Month-to-month.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FRAMEWORKS · F1 CHEAT-SHEET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used today, when each earns its place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 it when…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 · CV · preprocessing · classical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backbone for every tabular ML 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Gradient-boosted trees, GPU-accelerated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reach on tabular prediction problems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Deep-learning framework (under sentence-transformers)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that needs NNs, fine-tuning, custom training loops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imbalanced-learn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/ ADASYN / undersamplers · imblearn.Pipeline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Class-imbalance handling that respects CV folds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Exhaustive hyperparameter search (sklearn)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grids · audit-friendly reproducibility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Optuna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TPE / Bayesian optimisation · pruning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search spaces · continuous hyperparams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 (sentence-transformers)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multilingual sentence embeddings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strong, long-context embeddings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Shapley-value explanations (exact for trees)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explainability on tabular + tree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linear approximations · truly model-agnostic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one-off checks · text &amp; image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6 things from F1, make it these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0D7C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family first, then the model.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unsupervised, self-supervised — clarify the question before the algorithm.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26280" y="1965960"/>
            <a:ext cx="640080" cy="640080"/>
          </a:xfrm>
          <a:prstGeom prst="ellipse">
            <a:avLst/>
          </a:prstGeom>
          <a:solidFill>
            <a:srgbClr val="0D7C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is half the model.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Encode, scale, impute, rebalance — and keep all of it inside the pipeline.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66760" y="1965960"/>
            <a:ext cx="640080" cy="640080"/>
          </a:xfrm>
          <a:prstGeom prst="ellipse">
            <a:avLst/>
          </a:prstGeom>
          <a:solidFill>
            <a:srgbClr val="0D7C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103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metric for the cost of being wrong.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14400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rarely the right call. ROC-AUC and KS are your defaults for imbalance.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85800" y="4206240"/>
            <a:ext cx="640080" cy="640080"/>
          </a:xfrm>
          <a:prstGeom prst="ellipse">
            <a:avLst/>
          </a:prstGeom>
          <a:solidFill>
            <a:srgbClr val="0D7C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3434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turn text into numbers cheaply.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6304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lines of code from feedback to themes — no labels needed.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26280" y="4206240"/>
            <a:ext cx="640080" cy="640080"/>
          </a:xfrm>
          <a:prstGeom prst="ellipse">
            <a:avLst/>
          </a:prstGeom>
          <a:solidFill>
            <a:srgbClr val="0D7C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3434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and CSI are how production models die quietly.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0352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them from day 1; retrain when PSI &gt; 0.25 or CSI flags a feature.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66760" y="4206240"/>
            <a:ext cx="640080" cy="640080"/>
          </a:xfrm>
          <a:prstGeom prst="ellipse">
            <a:avLst/>
          </a:prstGeom>
          <a:solidFill>
            <a:srgbClr val="0D7C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3434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model owes an explanation.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914400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for trees, LIME for the rest. EU AI Act, RBI, internal audit — all expect it.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Fundamentals of ML, NLP &amp; Deep Learning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closed.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under your feet.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lab notebook to your training git folder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F1 Study Library for any topic you want deeper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one question for the trainer  —  it'll come back in the F8 assessment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2926080"/>
            <a:ext cx="4846320" cy="29260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AI, Agentic AI, LLMs &amp; Prompt &amp; Context Engineering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4434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landscape · reasoning models · prompt patterns · context engineering · provider abstraction · MCP &amp; A2A.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· Bring them now.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3422</Words>
  <Application>Microsoft Office PowerPoint</Application>
  <PresentationFormat>Widescreen</PresentationFormat>
  <Paragraphs>560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 — Fundamentals of ML, NLP &amp; Deep Learning</dc:title>
  <dc:subject>PptxGenJS Presentation</dc:subject>
  <dc:creator>AI Engineering Specialist Track</dc:creator>
  <cp:lastModifiedBy>t22464</cp:lastModifiedBy>
  <cp:revision>2</cp:revision>
  <dcterms:created xsi:type="dcterms:W3CDTF">2026-05-30T18:53:57Z</dcterms:created>
  <dcterms:modified xsi:type="dcterms:W3CDTF">2026-06-14T18:58:49Z</dcterms:modified>
</cp:coreProperties>
</file>