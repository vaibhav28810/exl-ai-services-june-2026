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742" y="3283610"/>
            <a:ext cx="5483657" cy="1188720"/>
          </a:xfrm>
          <a:custGeom>
            <a:avLst/>
            <a:gdLst/>
            <a:ahLst/>
            <a:cxnLst/>
            <a:rect l="l" t="t" r="r" b="b"/>
            <a:pathLst>
              <a:path w="5483657" h="1188720">
                <a:moveTo>
                  <a:pt x="0" y="0"/>
                </a:moveTo>
                <a:lnTo>
                  <a:pt x="5483657" y="0"/>
                </a:lnTo>
                <a:lnTo>
                  <a:pt x="5483657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794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742" y="3283610"/>
            <a:ext cx="158557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61" y="429"/>
            <a:ext cx="3201939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3742" y="1280160"/>
            <a:ext cx="51206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E79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Cloud AI for innovation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7650" y="1292047"/>
            <a:ext cx="7826350" cy="2560320"/>
          </a:xfrm>
          <a:custGeom>
            <a:avLst/>
            <a:gdLst/>
            <a:ahLst/>
            <a:cxnLst/>
            <a:rect l="l" t="t" r="r" b="b"/>
            <a:pathLst>
              <a:path w="7826350" h="2560320">
                <a:moveTo>
                  <a:pt x="0" y="0"/>
                </a:moveTo>
                <a:lnTo>
                  <a:pt x="7826350" y="0"/>
                </a:lnTo>
                <a:lnTo>
                  <a:pt x="782635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3" name="Text 1"/>
          <p:cNvSpPr/>
          <p:nvPr/>
        </p:nvSpPr>
        <p:spPr>
          <a:xfrm>
            <a:off x="3193085" y="1828800"/>
            <a:ext cx="4936846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AWS Bedrock:Foundation Models and Generative AI Capabilities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3719"/>
            <a:ext cx="2545690" cy="3236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277" y="347822"/>
            <a:ext cx="5802676" cy="1188720"/>
          </a:xfrm>
          <a:custGeom>
            <a:avLst/>
            <a:gdLst/>
            <a:ahLst/>
            <a:cxnLst/>
            <a:rect l="l" t="t" r="r" b="b"/>
            <a:pathLst>
              <a:path w="5802676" h="1188720">
                <a:moveTo>
                  <a:pt x="0" y="0"/>
                </a:moveTo>
                <a:lnTo>
                  <a:pt x="5802676" y="0"/>
                </a:lnTo>
                <a:lnTo>
                  <a:pt x="5802676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99E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771" y="347822"/>
            <a:ext cx="3202229" cy="4795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12064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Amazon Bedrock's core services and model access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731520" y="1981505"/>
            <a:ext cx="4846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Model Access Procedures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2237537"/>
            <a:ext cx="48463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Familiarize yourself with the standard procedures for accessing and integrating foundation models within the Amazon Bedrock environment.</a:t>
            </a:r>
            <a:endParaRPr lang="en-US" sz="1152" dirty="0"/>
          </a:p>
        </p:txBody>
      </p:sp>
      <p:pic>
        <p:nvPicPr>
          <p:cNvPr id="7" name="Image 1" descr="https://osspub.smallppt.com/uploadFile/152_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 rot="10800000">
            <a:off x="458114" y="1752905"/>
            <a:ext cx="457200" cy="3044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575304"/>
            <a:ext cx="4846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Bedrock's Foundation Models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731520" y="3831336"/>
            <a:ext cx="48463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delves into the various foundation models available through Amazon Bedrock, detailing their capabilities and optimal use cases for AI development.</a:t>
            </a:r>
            <a:endParaRPr lang="en-US" sz="1152" dirty="0"/>
          </a:p>
        </p:txBody>
      </p:sp>
      <p:pic>
        <p:nvPicPr>
          <p:cNvPr id="10" name="Image 2" descr="https://osspub.smallppt.com/uploadFile/152_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 rot="10800000">
            <a:off x="467043" y="3346960"/>
            <a:ext cx="45720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generative AI solutions with Bedrock's API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457200" y="2247154"/>
            <a:ext cx="2011680" cy="2103120"/>
          </a:xfrm>
          <a:custGeom>
            <a:avLst/>
            <a:gdLst/>
            <a:ahLst/>
            <a:cxnLst/>
            <a:rect l="l" t="t" r="r" b="b"/>
            <a:pathLst>
              <a:path w="2011680" h="2103120">
                <a:moveTo>
                  <a:pt x="111302" y="0"/>
                </a:moveTo>
                <a:lnTo>
                  <a:pt x="1900378" y="0"/>
                </a:lnTo>
                <a:quadBezTo>
                  <a:pt x="2011680" y="0"/>
                  <a:pt x="2011680" y="111302"/>
                </a:quadBezTo>
                <a:lnTo>
                  <a:pt x="2011680" y="1991818"/>
                </a:lnTo>
                <a:quadBezTo>
                  <a:pt x="2011680" y="2103120"/>
                  <a:pt x="1900378" y="2103120"/>
                </a:quadBezTo>
                <a:lnTo>
                  <a:pt x="111302" y="2103120"/>
                </a:lnTo>
                <a:quadBezTo>
                  <a:pt x="0" y="2103120"/>
                  <a:pt x="0" y="1991818"/>
                </a:quadBezTo>
                <a:lnTo>
                  <a:pt x="0" y="111302"/>
                </a:lnTo>
                <a:quadBezTo>
                  <a:pt x="0" y="0"/>
                  <a:pt x="111302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05522"/>
            <a:ext cx="201168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methodologies for developing robust and scalable generative AI solutions by effectively utilizing the Amazon Bedrock API for various applications.</a:t>
            </a:r>
            <a:endParaRPr lang="en-US" sz="1152" dirty="0"/>
          </a:p>
        </p:txBody>
      </p:sp>
      <p:sp>
        <p:nvSpPr>
          <p:cNvPr id="5" name="Text 3"/>
          <p:cNvSpPr/>
          <p:nvPr/>
        </p:nvSpPr>
        <p:spPr>
          <a:xfrm>
            <a:off x="457200" y="2347738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AI Solutions with Bedrock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9954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29840" y="1454963"/>
            <a:ext cx="2011680" cy="2103120"/>
          </a:xfrm>
          <a:custGeom>
            <a:avLst/>
            <a:gdLst/>
            <a:ahLst/>
            <a:cxnLst/>
            <a:rect l="l" t="t" r="r" b="b"/>
            <a:pathLst>
              <a:path w="2011680" h="2103120">
                <a:moveTo>
                  <a:pt x="111302" y="0"/>
                </a:moveTo>
                <a:lnTo>
                  <a:pt x="1900378" y="0"/>
                </a:lnTo>
                <a:quadBezTo>
                  <a:pt x="2011680" y="0"/>
                  <a:pt x="2011680" y="111302"/>
                </a:quadBezTo>
                <a:lnTo>
                  <a:pt x="2011680" y="1991818"/>
                </a:lnTo>
                <a:quadBezTo>
                  <a:pt x="2011680" y="2103120"/>
                  <a:pt x="1900378" y="2103120"/>
                </a:quadBezTo>
                <a:lnTo>
                  <a:pt x="111302" y="2103120"/>
                </a:lnTo>
                <a:quadBezTo>
                  <a:pt x="0" y="2103120"/>
                  <a:pt x="0" y="1991818"/>
                </a:quadBezTo>
                <a:lnTo>
                  <a:pt x="0" y="111302"/>
                </a:lnTo>
                <a:quadBezTo>
                  <a:pt x="0" y="0"/>
                  <a:pt x="111302" y="0"/>
                </a:quadBezTo>
                <a:close/>
              </a:path>
            </a:pathLst>
          </a:custGeom>
          <a:solidFill>
            <a:srgbClr val="E99E1F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529840" y="2113331"/>
            <a:ext cx="20116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Bedrock API is instrumental for AI teams to integrate generative AI capabilities into their applications, driving innovative solutions.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2529840" y="1555547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Bedrock API for Innovation</a:t>
            </a:r>
            <a:endParaRPr lang="en-US" sz="115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997763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02480" y="1851058"/>
            <a:ext cx="2011680" cy="2103120"/>
          </a:xfrm>
          <a:custGeom>
            <a:avLst/>
            <a:gdLst/>
            <a:ahLst/>
            <a:cxnLst/>
            <a:rect l="l" t="t" r="r" b="b"/>
            <a:pathLst>
              <a:path w="2011680" h="2103120">
                <a:moveTo>
                  <a:pt x="111302" y="0"/>
                </a:moveTo>
                <a:lnTo>
                  <a:pt x="1900378" y="0"/>
                </a:lnTo>
                <a:quadBezTo>
                  <a:pt x="2011680" y="0"/>
                  <a:pt x="2011680" y="111302"/>
                </a:quadBezTo>
                <a:lnTo>
                  <a:pt x="2011680" y="1991818"/>
                </a:lnTo>
                <a:quadBezTo>
                  <a:pt x="2011680" y="2103120"/>
                  <a:pt x="1900378" y="2103120"/>
                </a:quadBezTo>
                <a:lnTo>
                  <a:pt x="111302" y="2103120"/>
                </a:lnTo>
                <a:quadBezTo>
                  <a:pt x="0" y="2103120"/>
                  <a:pt x="0" y="1991818"/>
                </a:quadBezTo>
                <a:lnTo>
                  <a:pt x="0" y="111302"/>
                </a:lnTo>
                <a:quadBezTo>
                  <a:pt x="0" y="0"/>
                  <a:pt x="111302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12" name="Text 8"/>
          <p:cNvSpPr/>
          <p:nvPr/>
        </p:nvSpPr>
        <p:spPr>
          <a:xfrm>
            <a:off x="4602480" y="2509426"/>
            <a:ext cx="201168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segment focuses on the practical steps and best practices for integrating generative AI functionalities into existing systems using Bedrock's API.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4602480" y="1951642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Generative AI via API</a:t>
            </a:r>
            <a:endParaRPr lang="en-US" sz="1152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720" y="1393858"/>
            <a:ext cx="457200" cy="457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75120" y="2643249"/>
            <a:ext cx="2011680" cy="2103120"/>
          </a:xfrm>
          <a:custGeom>
            <a:avLst/>
            <a:gdLst/>
            <a:ahLst/>
            <a:cxnLst/>
            <a:rect l="l" t="t" r="r" b="b"/>
            <a:pathLst>
              <a:path w="2011680" h="2103120">
                <a:moveTo>
                  <a:pt x="111302" y="0"/>
                </a:moveTo>
                <a:lnTo>
                  <a:pt x="1900378" y="0"/>
                </a:lnTo>
                <a:quadBezTo>
                  <a:pt x="2011680" y="0"/>
                  <a:pt x="2011680" y="111302"/>
                </a:quadBezTo>
                <a:lnTo>
                  <a:pt x="2011680" y="1991818"/>
                </a:lnTo>
                <a:quadBezTo>
                  <a:pt x="2011680" y="2103120"/>
                  <a:pt x="1900378" y="2103120"/>
                </a:quadBezTo>
                <a:lnTo>
                  <a:pt x="111302" y="2103120"/>
                </a:lnTo>
                <a:quadBezTo>
                  <a:pt x="0" y="2103120"/>
                  <a:pt x="0" y="1991818"/>
                </a:quadBezTo>
                <a:lnTo>
                  <a:pt x="0" y="111302"/>
                </a:lnTo>
                <a:quadBezTo>
                  <a:pt x="0" y="0"/>
                  <a:pt x="111302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16" name="Text 11"/>
          <p:cNvSpPr/>
          <p:nvPr/>
        </p:nvSpPr>
        <p:spPr>
          <a:xfrm>
            <a:off x="6675120" y="3301617"/>
            <a:ext cx="20116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typical steps involved in implementing generative AI solutions through the Amazon Bedrock API, ensuring smooth integration.</a:t>
            </a:r>
            <a:endParaRPr lang="en-US" sz="1152" dirty="0"/>
          </a:p>
        </p:txBody>
      </p:sp>
      <p:sp>
        <p:nvSpPr>
          <p:cNvPr id="17" name="Text 12"/>
          <p:cNvSpPr/>
          <p:nvPr/>
        </p:nvSpPr>
        <p:spPr>
          <a:xfrm>
            <a:off x="6675120" y="2743833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API Implementation Steps</a:t>
            </a:r>
            <a:endParaRPr lang="en-US" sz="1152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186049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and managing AI applications on AWS Bedrock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5283832" y="1200150"/>
            <a:ext cx="3860168" cy="2743200"/>
          </a:xfrm>
          <a:custGeom>
            <a:avLst/>
            <a:gdLst/>
            <a:ahLst/>
            <a:cxnLst/>
            <a:rect l="l" t="t" r="r" b="b"/>
            <a:pathLst>
              <a:path w="3860168" h="2743200">
                <a:moveTo>
                  <a:pt x="0" y="0"/>
                </a:moveTo>
                <a:lnTo>
                  <a:pt x="3860168" y="0"/>
                </a:lnTo>
                <a:lnTo>
                  <a:pt x="3860168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E99E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2233" y="1200150"/>
            <a:ext cx="308336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8138"/>
            <a:ext cx="43891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AI Innovation on AWS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457200" y="1931213"/>
            <a:ext cx="43891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the security of AI applications on AWS Bedrock is paramount for teams innovating with generative AI, protecting data and models.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0" y="468630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0" y="0"/>
                </a:moveTo>
                <a:lnTo>
                  <a:pt x="1828800" y="0"/>
                </a:lnTo>
                <a:lnTo>
                  <a:pt x="18288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E99E1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4110"/>
            <a:ext cx="2295144" cy="323606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0989" y="1234440"/>
            <a:ext cx="5029200" cy="3017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3829" y="4251960"/>
            <a:ext cx="53035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of Cloud AI Service Implementation(Effectiveness Score (%))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57200" y="274320"/>
            <a:ext cx="8229600" cy="4645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Services Adoption and Implementation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7650" y="1292047"/>
            <a:ext cx="7826350" cy="2560320"/>
          </a:xfrm>
          <a:custGeom>
            <a:avLst/>
            <a:gdLst/>
            <a:ahLst/>
            <a:cxnLst/>
            <a:rect l="l" t="t" r="r" b="b"/>
            <a:pathLst>
              <a:path w="7826350" h="2560320">
                <a:moveTo>
                  <a:pt x="0" y="0"/>
                </a:moveTo>
                <a:lnTo>
                  <a:pt x="7826350" y="0"/>
                </a:lnTo>
                <a:lnTo>
                  <a:pt x="782635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3" name="Text 1"/>
          <p:cNvSpPr/>
          <p:nvPr/>
        </p:nvSpPr>
        <p:spPr>
          <a:xfrm>
            <a:off x="3193085" y="1828800"/>
            <a:ext cx="4936846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Azure OpenAI:Integrating Advanced AI Models into Applications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3719"/>
            <a:ext cx="2545690" cy="3236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Azure OpenAI Service for enterprise AI solutions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 rot="8100000">
            <a:off x="927635" y="1163803"/>
            <a:ext cx="1070811" cy="1070811"/>
          </a:xfrm>
          <a:custGeom>
            <a:avLst/>
            <a:gdLst/>
            <a:ahLst/>
            <a:cxnLst/>
            <a:rect l="l" t="t" r="r" b="b"/>
            <a:pathLst>
              <a:path w="1070811" h="1070811">
                <a:moveTo>
                  <a:pt x="535405" y="0"/>
                </a:moveTo>
                <a:cubicBezTo>
                  <a:pt x="239907" y="0"/>
                  <a:pt x="0" y="239907"/>
                  <a:pt x="0" y="535405"/>
                </a:cubicBezTo>
                <a:cubicBezTo>
                  <a:pt x="0" y="830903"/>
                  <a:pt x="239907" y="1070811"/>
                  <a:pt x="535405" y="1070811"/>
                </a:cubicBezTo>
                <a:cubicBezTo>
                  <a:pt x="830903" y="1070811"/>
                  <a:pt x="1070811" y="830903"/>
                  <a:pt x="1070811" y="535405"/>
                </a:cubicBezTo>
                <a:lnTo>
                  <a:pt x="1070811" y="0"/>
                </a:lnTo>
                <a:lnTo>
                  <a:pt x="53540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1440">
            <a:solidFill>
              <a:srgbClr val="E7940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547" y="1372715"/>
            <a:ext cx="652987" cy="6529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00275" y="1418435"/>
            <a:ext cx="1070811" cy="1070811"/>
          </a:xfrm>
          <a:custGeom>
            <a:avLst/>
            <a:gdLst/>
            <a:ahLst/>
            <a:cxnLst/>
            <a:rect l="l" t="t" r="r" b="b"/>
            <a:pathLst>
              <a:path w="1070811" h="1070811">
                <a:moveTo>
                  <a:pt x="535405" y="0"/>
                </a:moveTo>
                <a:cubicBezTo>
                  <a:pt x="830903" y="0"/>
                  <a:pt x="1070811" y="239907"/>
                  <a:pt x="1070811" y="535405"/>
                </a:cubicBezTo>
                <a:cubicBezTo>
                  <a:pt x="1070811" y="830903"/>
                  <a:pt x="830903" y="1070811"/>
                  <a:pt x="535405" y="1070811"/>
                </a:cubicBezTo>
                <a:cubicBezTo>
                  <a:pt x="239907" y="1070811"/>
                  <a:pt x="0" y="830903"/>
                  <a:pt x="0" y="535405"/>
                </a:cubicBezTo>
                <a:cubicBezTo>
                  <a:pt x="0" y="239907"/>
                  <a:pt x="239907" y="0"/>
                  <a:pt x="5354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0">
            <a:solidFill>
              <a:srgbClr val="24242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187" y="1627347"/>
            <a:ext cx="652987" cy="65298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 rot="8100000">
            <a:off x="5072915" y="1163803"/>
            <a:ext cx="1070811" cy="1070811"/>
          </a:xfrm>
          <a:custGeom>
            <a:avLst/>
            <a:gdLst/>
            <a:ahLst/>
            <a:cxnLst/>
            <a:rect l="l" t="t" r="r" b="b"/>
            <a:pathLst>
              <a:path w="1070811" h="1070811">
                <a:moveTo>
                  <a:pt x="535405" y="0"/>
                </a:moveTo>
                <a:cubicBezTo>
                  <a:pt x="239907" y="0"/>
                  <a:pt x="0" y="239907"/>
                  <a:pt x="0" y="535405"/>
                </a:cubicBezTo>
                <a:cubicBezTo>
                  <a:pt x="0" y="830903"/>
                  <a:pt x="239907" y="1070811"/>
                  <a:pt x="535405" y="1070811"/>
                </a:cubicBezTo>
                <a:cubicBezTo>
                  <a:pt x="830903" y="1070811"/>
                  <a:pt x="1070811" y="830903"/>
                  <a:pt x="1070811" y="535405"/>
                </a:cubicBezTo>
                <a:lnTo>
                  <a:pt x="1070811" y="0"/>
                </a:lnTo>
                <a:lnTo>
                  <a:pt x="53540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1440">
            <a:solidFill>
              <a:srgbClr val="E79407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827" y="1372715"/>
            <a:ext cx="652987" cy="65298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145555" y="1418435"/>
            <a:ext cx="1070811" cy="1070811"/>
          </a:xfrm>
          <a:custGeom>
            <a:avLst/>
            <a:gdLst/>
            <a:ahLst/>
            <a:cxnLst/>
            <a:rect l="l" t="t" r="r" b="b"/>
            <a:pathLst>
              <a:path w="1070811" h="1070811">
                <a:moveTo>
                  <a:pt x="535405" y="0"/>
                </a:moveTo>
                <a:cubicBezTo>
                  <a:pt x="830903" y="0"/>
                  <a:pt x="1070811" y="239907"/>
                  <a:pt x="1070811" y="535405"/>
                </a:cubicBezTo>
                <a:cubicBezTo>
                  <a:pt x="1070811" y="830903"/>
                  <a:pt x="830903" y="1070811"/>
                  <a:pt x="535405" y="1070811"/>
                </a:cubicBezTo>
                <a:cubicBezTo>
                  <a:pt x="239907" y="1070811"/>
                  <a:pt x="0" y="830903"/>
                  <a:pt x="0" y="535405"/>
                </a:cubicBezTo>
                <a:cubicBezTo>
                  <a:pt x="0" y="239907"/>
                  <a:pt x="239907" y="0"/>
                  <a:pt x="5354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0">
            <a:solidFill>
              <a:srgbClr val="333333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467" y="1627347"/>
            <a:ext cx="652987" cy="652987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0" y="2571541"/>
            <a:ext cx="9144000" cy="2103120"/>
          </a:xfrm>
          <a:custGeom>
            <a:avLst/>
            <a:gdLst/>
            <a:ahLst/>
            <a:cxnLst/>
            <a:rect l="l" t="t" r="r" b="b"/>
            <a:pathLst>
              <a:path w="9144000" h="2103120">
                <a:moveTo>
                  <a:pt x="0" y="0"/>
                </a:moveTo>
                <a:lnTo>
                  <a:pt x="9144000" y="0"/>
                </a:lnTo>
                <a:lnTo>
                  <a:pt x="914400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12" name="Text 6"/>
          <p:cNvSpPr/>
          <p:nvPr/>
        </p:nvSpPr>
        <p:spPr>
          <a:xfrm>
            <a:off x="457200" y="3202477"/>
            <a:ext cx="20116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Azure OpenAI empowers AI teams to innovate by providing access to powerful language models and tools for diverse business needs.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57200" y="2644693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for innovation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2529840" y="3202477"/>
            <a:ext cx="201168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how AI teams can leverage Azure OpenAI Service to drive innovation and create impactful enterprise AI solutions, focusing on practical applications.</a:t>
            </a:r>
            <a:endParaRPr lang="en-US" sz="1152" dirty="0"/>
          </a:p>
        </p:txBody>
      </p:sp>
      <p:sp>
        <p:nvSpPr>
          <p:cNvPr id="15" name="Text 9"/>
          <p:cNvSpPr/>
          <p:nvPr/>
        </p:nvSpPr>
        <p:spPr>
          <a:xfrm>
            <a:off x="2529840" y="2644693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for business innovation</a:t>
            </a:r>
            <a:endParaRPr lang="en-US" sz="1152" dirty="0"/>
          </a:p>
        </p:txBody>
      </p:sp>
      <p:sp>
        <p:nvSpPr>
          <p:cNvPr id="16" name="Text 10"/>
          <p:cNvSpPr/>
          <p:nvPr/>
        </p:nvSpPr>
        <p:spPr>
          <a:xfrm>
            <a:off x="4602480" y="3202477"/>
            <a:ext cx="201168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process of integrating advanced AI models from Azure OpenAI into existing applications, enhancing capabilities and user experiences.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4602480" y="2644693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advanced AI models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6675120" y="2644445"/>
            <a:ext cx="20116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solution strategies</a:t>
            </a:r>
            <a:endParaRPr lang="en-US" sz="1152" dirty="0"/>
          </a:p>
        </p:txBody>
      </p:sp>
      <p:sp>
        <p:nvSpPr>
          <p:cNvPr id="19" name="Text 13"/>
          <p:cNvSpPr/>
          <p:nvPr/>
        </p:nvSpPr>
        <p:spPr>
          <a:xfrm>
            <a:off x="6675120" y="3202477"/>
            <a:ext cx="2011680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strategic approaches for implementing enterprise-grade AI solutions using Azure OpenAI, ensuring scalability, security, and performance.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5353"/>
            <a:ext cx="3809390" cy="4378147"/>
          </a:xfrm>
          <a:custGeom>
            <a:avLst/>
            <a:gdLst/>
            <a:ahLst/>
            <a:cxnLst/>
            <a:rect l="l" t="t" r="r" b="b"/>
            <a:pathLst>
              <a:path w="3809390" h="4378147">
                <a:moveTo>
                  <a:pt x="0" y="0"/>
                </a:moveTo>
                <a:lnTo>
                  <a:pt x="0" y="4378147"/>
                </a:lnTo>
                <a:lnTo>
                  <a:pt x="3809390" y="4378147"/>
                </a:lnTo>
                <a:close/>
              </a:path>
            </a:pathLst>
          </a:custGeom>
          <a:solidFill>
            <a:srgbClr val="E99E1F"/>
          </a:solidFill>
          <a:ln/>
        </p:spPr>
      </p:sp>
      <p:sp>
        <p:nvSpPr>
          <p:cNvPr id="3" name="Shape 1"/>
          <p:cNvSpPr/>
          <p:nvPr/>
        </p:nvSpPr>
        <p:spPr>
          <a:xfrm>
            <a:off x="181966" y="980237"/>
            <a:ext cx="1180490" cy="1180490"/>
          </a:xfrm>
          <a:custGeom>
            <a:avLst/>
            <a:gdLst/>
            <a:ahLst/>
            <a:cxnLst/>
            <a:rect l="l" t="t" r="r" b="b"/>
            <a:pathLst>
              <a:path w="1180490" h="1180490">
                <a:moveTo>
                  <a:pt x="590245" y="0"/>
                </a:moveTo>
                <a:cubicBezTo>
                  <a:pt x="916010" y="0"/>
                  <a:pt x="1180490" y="264480"/>
                  <a:pt x="1180490" y="590245"/>
                </a:cubicBezTo>
                <a:cubicBezTo>
                  <a:pt x="1180490" y="916010"/>
                  <a:pt x="916010" y="1180490"/>
                  <a:pt x="590245" y="1180490"/>
                </a:cubicBezTo>
                <a:cubicBezTo>
                  <a:pt x="264480" y="1180490"/>
                  <a:pt x="0" y="916010"/>
                  <a:pt x="0" y="590245"/>
                </a:cubicBezTo>
                <a:cubicBezTo>
                  <a:pt x="0" y="264480"/>
                  <a:pt x="264480" y="0"/>
                  <a:pt x="590245" y="0"/>
                </a:cubicBezTo>
                <a:close/>
              </a:path>
            </a:pathLst>
          </a:custGeom>
          <a:solidFill>
            <a:srgbClr val="FAFAFA"/>
          </a:solidFill>
          <a:ln w="18288">
            <a:solidFill>
              <a:srgbClr val="E7940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69" y="1144460"/>
            <a:ext cx="852045" cy="8520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14723" y="2277596"/>
            <a:ext cx="1180189" cy="1180189"/>
          </a:xfrm>
          <a:custGeom>
            <a:avLst/>
            <a:gdLst/>
            <a:ahLst/>
            <a:cxnLst/>
            <a:rect l="l" t="t" r="r" b="b"/>
            <a:pathLst>
              <a:path w="1180189" h="1180189">
                <a:moveTo>
                  <a:pt x="590094" y="0"/>
                </a:moveTo>
                <a:cubicBezTo>
                  <a:pt x="915776" y="0"/>
                  <a:pt x="1180189" y="264412"/>
                  <a:pt x="1180189" y="590094"/>
                </a:cubicBezTo>
                <a:cubicBezTo>
                  <a:pt x="1180189" y="915776"/>
                  <a:pt x="915776" y="1180189"/>
                  <a:pt x="590094" y="1180189"/>
                </a:cubicBezTo>
                <a:cubicBezTo>
                  <a:pt x="264412" y="1180189"/>
                  <a:pt x="0" y="915776"/>
                  <a:pt x="0" y="590094"/>
                </a:cubicBezTo>
                <a:cubicBezTo>
                  <a:pt x="0" y="264412"/>
                  <a:pt x="264412" y="0"/>
                  <a:pt x="590094" y="0"/>
                </a:cubicBezTo>
                <a:close/>
              </a:path>
            </a:pathLst>
          </a:custGeom>
          <a:solidFill>
            <a:srgbClr val="FAFAFA"/>
          </a:solidFill>
          <a:ln w="18288">
            <a:solidFill>
              <a:srgbClr val="E7940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795" y="2441668"/>
            <a:ext cx="852045" cy="85204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30840" y="3574804"/>
            <a:ext cx="1180189" cy="1180189"/>
          </a:xfrm>
          <a:custGeom>
            <a:avLst/>
            <a:gdLst/>
            <a:ahLst/>
            <a:cxnLst/>
            <a:rect l="l" t="t" r="r" b="b"/>
            <a:pathLst>
              <a:path w="1180189" h="1180189">
                <a:moveTo>
                  <a:pt x="590094" y="0"/>
                </a:moveTo>
                <a:cubicBezTo>
                  <a:pt x="915776" y="0"/>
                  <a:pt x="1180189" y="264412"/>
                  <a:pt x="1180189" y="590094"/>
                </a:cubicBezTo>
                <a:cubicBezTo>
                  <a:pt x="1180189" y="915776"/>
                  <a:pt x="915776" y="1180189"/>
                  <a:pt x="590094" y="1180189"/>
                </a:cubicBezTo>
                <a:cubicBezTo>
                  <a:pt x="264412" y="1180189"/>
                  <a:pt x="0" y="915776"/>
                  <a:pt x="0" y="590094"/>
                </a:cubicBezTo>
                <a:cubicBezTo>
                  <a:pt x="0" y="264412"/>
                  <a:pt x="264412" y="0"/>
                  <a:pt x="590094" y="0"/>
                </a:cubicBezTo>
                <a:close/>
              </a:path>
            </a:pathLst>
          </a:custGeom>
          <a:solidFill>
            <a:srgbClr val="FAFAFA"/>
          </a:solidFill>
          <a:ln w="18288">
            <a:solidFill>
              <a:srgbClr val="E79407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912" y="3786982"/>
            <a:ext cx="852045" cy="7558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and fine-tuning large language models on Azure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1554480" y="1126541"/>
            <a:ext cx="7132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LLM deployment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1554480" y="1391717"/>
            <a:ext cx="71323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robust infrastructure Azure provides for deploying and managing large language models, ensuring reliability and high availability for AI applications.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2651760" y="2424074"/>
            <a:ext cx="60350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models for specific needs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51760" y="2689250"/>
            <a:ext cx="60350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techniques for fine-tuning large language models on Azure to meet specific business requirements and enhance model accuracy and relevance.</a:t>
            </a:r>
            <a:endParaRPr lang="en-US" sz="1152" dirty="0"/>
          </a:p>
        </p:txBody>
      </p:sp>
      <p:sp>
        <p:nvSpPr>
          <p:cNvPr id="14" name="Text 9"/>
          <p:cNvSpPr/>
          <p:nvPr/>
        </p:nvSpPr>
        <p:spPr>
          <a:xfrm>
            <a:off x="3657600" y="3720694"/>
            <a:ext cx="5029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LLM performance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3657600" y="3985870"/>
            <a:ext cx="5029200" cy="3436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best practices for optimizing the performance of large language models deployed on Azure, ensuring efficient resource utilization and responsiveness.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8853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274320"/>
            <a:ext cx="50292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responsible AI practices with Azure OpenAI tools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3657600" y="1278331"/>
            <a:ext cx="4572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with Azure OpenAI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3657600" y="1502359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critical importance of responsible AI practices when utilizing Azure OpenAI tools, ensuring ethical and fair AI system development.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8229600" y="1368543"/>
            <a:ext cx="457200" cy="182880"/>
          </a:xfrm>
          <a:custGeom>
            <a:avLst/>
            <a:gdLst/>
            <a:ahLst/>
            <a:cxnLst/>
            <a:rect l="l" t="t" r="r" b="b"/>
            <a:pathLst>
              <a:path w="457200" h="182880">
                <a:moveTo>
                  <a:pt x="22860" y="0"/>
                </a:moveTo>
                <a:lnTo>
                  <a:pt x="434340" y="0"/>
                </a:lnTo>
                <a:quadBezTo>
                  <a:pt x="457200" y="0"/>
                  <a:pt x="457200" y="22860"/>
                </a:quadBezTo>
                <a:lnTo>
                  <a:pt x="457200" y="160020"/>
                </a:lnTo>
                <a:quadBezTo>
                  <a:pt x="457200" y="182880"/>
                  <a:pt x="43434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094223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0" y="2476195"/>
            <a:ext cx="4572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trustworthy AI systems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3657600" y="2700223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strategies for building trustworthy and transparent AI systems using Azure OpenAI, fostering user confidence and mitigating potential risks.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8229600" y="2566689"/>
            <a:ext cx="457200" cy="182880"/>
          </a:xfrm>
          <a:custGeom>
            <a:avLst/>
            <a:gdLst/>
            <a:ahLst/>
            <a:cxnLst/>
            <a:rect l="l" t="t" r="r" b="b"/>
            <a:pathLst>
              <a:path w="457200" h="182880">
                <a:moveTo>
                  <a:pt x="22860" y="0"/>
                </a:moveTo>
                <a:lnTo>
                  <a:pt x="434340" y="0"/>
                </a:lnTo>
                <a:quadBezTo>
                  <a:pt x="457200" y="0"/>
                  <a:pt x="457200" y="22860"/>
                </a:quadBezTo>
                <a:lnTo>
                  <a:pt x="457200" y="160020"/>
                </a:lnTo>
                <a:quadBezTo>
                  <a:pt x="457200" y="182880"/>
                  <a:pt x="43434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92369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0" y="3674974"/>
            <a:ext cx="45720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tools for responsible AI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3657600" y="3899002"/>
            <a:ext cx="502920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the various tools and features within Azure OpenAI that support responsible AI development, including content moderation and fairness assessments.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8229600" y="3765750"/>
            <a:ext cx="457200" cy="182880"/>
          </a:xfrm>
          <a:custGeom>
            <a:avLst/>
            <a:gdLst/>
            <a:ahLst/>
            <a:cxnLst/>
            <a:rect l="l" t="t" r="r" b="b"/>
            <a:pathLst>
              <a:path w="457200" h="182880">
                <a:moveTo>
                  <a:pt x="22860" y="0"/>
                </a:moveTo>
                <a:lnTo>
                  <a:pt x="434340" y="0"/>
                </a:lnTo>
                <a:quadBezTo>
                  <a:pt x="457200" y="0"/>
                  <a:pt x="457200" y="22860"/>
                </a:quadBezTo>
                <a:lnTo>
                  <a:pt x="457200" y="160020"/>
                </a:lnTo>
                <a:quadBezTo>
                  <a:pt x="457200" y="182880"/>
                  <a:pt x="43434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E99E1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49143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4110"/>
            <a:ext cx="2295144" cy="323606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0989" y="1234440"/>
            <a:ext cx="5029200" cy="3017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3829" y="4251960"/>
            <a:ext cx="53035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Aspects of Azure OpenAI Service Adoption(Effectiveness Score (%))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457200" y="274320"/>
            <a:ext cx="8229600" cy="4645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Solutions with Azure OpenAI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57807"/>
            <a:ext cx="6311081" cy="1828800"/>
          </a:xfrm>
          <a:custGeom>
            <a:avLst/>
            <a:gdLst/>
            <a:ahLst/>
            <a:cxnLst/>
            <a:rect l="l" t="t" r="r" b="b"/>
            <a:pathLst>
              <a:path w="6311081" h="1828800">
                <a:moveTo>
                  <a:pt x="0" y="0"/>
                </a:moveTo>
                <a:lnTo>
                  <a:pt x="6311081" y="0"/>
                </a:lnTo>
                <a:lnTo>
                  <a:pt x="6311081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E794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688" y="429"/>
            <a:ext cx="3201939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366" y="2207447"/>
            <a:ext cx="5703999" cy="729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2026-06-03T03:40:24Z</dcterms:created>
  <dcterms:modified xsi:type="dcterms:W3CDTF">2026-06-03T03:40:24Z</dcterms:modified>
</cp:coreProperties>
</file>