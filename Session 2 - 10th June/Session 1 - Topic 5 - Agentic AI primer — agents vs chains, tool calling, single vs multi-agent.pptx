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4807"/>
            <a:ext cx="1280160" cy="4114800"/>
          </a:xfrm>
          <a:custGeom>
            <a:avLst/>
            <a:gdLst/>
            <a:ahLst/>
            <a:cxnLst/>
            <a:rect l="l" t="t" r="r" b="b"/>
            <a:pathLst>
              <a:path w="1280160" h="4114800">
                <a:moveTo>
                  <a:pt x="0" y="0"/>
                </a:moveTo>
                <a:lnTo>
                  <a:pt x="1280160" y="0"/>
                </a:lnTo>
                <a:lnTo>
                  <a:pt x="1280160" y="4114800"/>
                </a:lnTo>
                <a:lnTo>
                  <a:pt x="0" y="4114800"/>
                </a:lnTo>
                <a:close/>
              </a:path>
            </a:pathLst>
          </a:custGeom>
          <a:solidFill>
            <a:srgbClr val="FFC001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695858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0" y="0"/>
                </a:moveTo>
                <a:lnTo>
                  <a:pt x="274320" y="0"/>
                </a:lnTo>
                <a:lnTo>
                  <a:pt x="274320" y="274320"/>
                </a:lnTo>
                <a:lnTo>
                  <a:pt x="0" y="274320"/>
                </a:lnTo>
                <a:close/>
              </a:path>
            </a:pathLst>
          </a:custGeom>
          <a:solidFill>
            <a:srgbClr val="FFC001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0" y="1062838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0" y="0"/>
                </a:moveTo>
                <a:lnTo>
                  <a:pt x="274320" y="0"/>
                </a:lnTo>
                <a:lnTo>
                  <a:pt x="274320" y="274320"/>
                </a:lnTo>
                <a:lnTo>
                  <a:pt x="0" y="274320"/>
                </a:lnTo>
                <a:close/>
              </a:path>
            </a:pathLst>
          </a:custGeom>
          <a:solidFill>
            <a:srgbClr val="FFC001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0" y="1429817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0" y="0"/>
                </a:moveTo>
                <a:lnTo>
                  <a:pt x="274320" y="0"/>
                </a:lnTo>
                <a:lnTo>
                  <a:pt x="274320" y="274320"/>
                </a:lnTo>
                <a:lnTo>
                  <a:pt x="0" y="274320"/>
                </a:lnTo>
                <a:close/>
              </a:path>
            </a:pathLst>
          </a:custGeom>
          <a:solidFill>
            <a:srgbClr val="FFC001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0" y="1796796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0" y="0"/>
                </a:moveTo>
                <a:lnTo>
                  <a:pt x="274320" y="0"/>
                </a:lnTo>
                <a:lnTo>
                  <a:pt x="274320" y="274320"/>
                </a:lnTo>
                <a:lnTo>
                  <a:pt x="0" y="274320"/>
                </a:lnTo>
                <a:close/>
              </a:path>
            </a:pathLst>
          </a:custGeom>
          <a:solidFill>
            <a:srgbClr val="FFC001"/>
          </a:solidFill>
          <a:ln/>
        </p:spPr>
      </p:sp>
      <p:sp>
        <p:nvSpPr>
          <p:cNvPr id="7" name="Shape 5"/>
          <p:cNvSpPr/>
          <p:nvPr/>
        </p:nvSpPr>
        <p:spPr>
          <a:xfrm>
            <a:off x="6117859" y="4629607"/>
            <a:ext cx="2386061" cy="0"/>
          </a:xfrm>
          <a:custGeom>
            <a:avLst/>
            <a:gdLst/>
            <a:ahLst/>
            <a:cxnLst/>
            <a:rect l="l" t="t" r="r" b="b"/>
            <a:pathLst>
              <a:path w="2386061" h="0">
                <a:moveTo>
                  <a:pt x="0" y="0"/>
                </a:moveTo>
                <a:lnTo>
                  <a:pt x="2386061" y="0"/>
                </a:lnTo>
              </a:path>
            </a:pathLst>
          </a:custGeom>
          <a:noFill/>
          <a:ln w="36576">
            <a:solidFill>
              <a:srgbClr val="FFC001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1188720" y="1463040"/>
            <a:ext cx="6675120" cy="106041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96000"/>
              </a:lnSpc>
              <a:spcBef>
                <a:spcPts val="360"/>
              </a:spcBef>
              <a:buNone/>
            </a:pPr>
            <a:r>
              <a:rPr lang="en-US" sz="28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AI:Understanding Advanced AI Systems</a:t>
            </a:r>
            <a:endParaRPr lang="en-US" sz="115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0" y="0"/>
                </a:moveTo>
                <a:lnTo>
                  <a:pt x="274320" y="0"/>
                </a:lnTo>
                <a:lnTo>
                  <a:pt x="274320" y="274320"/>
                </a:lnTo>
                <a:lnTo>
                  <a:pt x="0" y="274320"/>
                </a:lnTo>
                <a:close/>
              </a:path>
            </a:pathLst>
          </a:custGeom>
          <a:solidFill>
            <a:srgbClr val="FFC001"/>
          </a:solidFill>
          <a:ln/>
        </p:spPr>
      </p:sp>
      <p:sp>
        <p:nvSpPr>
          <p:cNvPr id="3" name="Shape 1"/>
          <p:cNvSpPr/>
          <p:nvPr/>
        </p:nvSpPr>
        <p:spPr>
          <a:xfrm>
            <a:off x="991254" y="54864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0" y="0"/>
                </a:moveTo>
                <a:lnTo>
                  <a:pt x="274320" y="0"/>
                </a:lnTo>
                <a:lnTo>
                  <a:pt x="274320" y="274320"/>
                </a:lnTo>
                <a:lnTo>
                  <a:pt x="0" y="274320"/>
                </a:lnTo>
                <a:close/>
              </a:path>
            </a:pathLst>
          </a:custGeom>
          <a:solidFill>
            <a:srgbClr val="FFC001"/>
          </a:solidFill>
          <a:ln/>
        </p:spPr>
      </p:sp>
      <p:sp>
        <p:nvSpPr>
          <p:cNvPr id="4" name="Shape 2"/>
          <p:cNvSpPr/>
          <p:nvPr/>
        </p:nvSpPr>
        <p:spPr>
          <a:xfrm>
            <a:off x="1433868" y="54864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0" y="0"/>
                </a:moveTo>
                <a:lnTo>
                  <a:pt x="274320" y="0"/>
                </a:lnTo>
                <a:lnTo>
                  <a:pt x="274320" y="274320"/>
                </a:lnTo>
                <a:lnTo>
                  <a:pt x="0" y="274320"/>
                </a:lnTo>
                <a:close/>
              </a:path>
            </a:pathLst>
          </a:custGeom>
          <a:solidFill>
            <a:srgbClr val="FFC001"/>
          </a:solidFill>
          <a:ln/>
        </p:spPr>
      </p:sp>
      <p:sp>
        <p:nvSpPr>
          <p:cNvPr id="5" name="Shape 3"/>
          <p:cNvSpPr/>
          <p:nvPr/>
        </p:nvSpPr>
        <p:spPr>
          <a:xfrm>
            <a:off x="7589520" y="3040380"/>
            <a:ext cx="914400" cy="2103120"/>
          </a:xfrm>
          <a:custGeom>
            <a:avLst/>
            <a:gdLst/>
            <a:ahLst/>
            <a:cxnLst/>
            <a:rect l="l" t="t" r="r" b="b"/>
            <a:pathLst>
              <a:path w="914400" h="2103120">
                <a:moveTo>
                  <a:pt x="0" y="0"/>
                </a:moveTo>
                <a:lnTo>
                  <a:pt x="914400" y="0"/>
                </a:lnTo>
                <a:lnTo>
                  <a:pt x="914400" y="2103120"/>
                </a:lnTo>
                <a:lnTo>
                  <a:pt x="0" y="2103120"/>
                </a:lnTo>
                <a:close/>
              </a:path>
            </a:pathLst>
          </a:custGeom>
          <a:solidFill>
            <a:srgbClr val="FFC001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834640"/>
            <a:ext cx="5876654" cy="0"/>
          </a:xfrm>
          <a:custGeom>
            <a:avLst/>
            <a:gdLst/>
            <a:ahLst/>
            <a:cxnLst/>
            <a:rect l="l" t="t" r="r" b="b"/>
            <a:pathLst>
              <a:path w="5876654" h="0">
                <a:moveTo>
                  <a:pt x="0" y="0"/>
                </a:moveTo>
                <a:lnTo>
                  <a:pt x="5876654" y="0"/>
                </a:lnTo>
              </a:path>
            </a:pathLst>
          </a:custGeom>
          <a:noFill/>
          <a:ln w="36576">
            <a:solidFill>
              <a:srgbClr val="FFC001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914400" y="1645920"/>
            <a:ext cx="7315200" cy="50463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Differentiating Agentic AI from Traditional AI Chains and Workflows</a:t>
            </a:r>
            <a:endParaRPr lang="en-US" sz="115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914400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0" y="0"/>
                </a:moveTo>
                <a:lnTo>
                  <a:pt x="914400" y="0"/>
                </a:lnTo>
                <a:lnTo>
                  <a:pt x="9144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FFC00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9508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agents versus predefined sequential processing in AI</a:t>
            </a:r>
            <a:endParaRPr lang="en-US" sz="1152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54480" y="1432865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926641"/>
            <a:ext cx="2651760" cy="914400"/>
          </a:xfrm>
          <a:custGeom>
            <a:avLst/>
            <a:gdLst/>
            <a:ahLst/>
            <a:cxnLst/>
            <a:rect l="l" t="t" r="r" b="b"/>
            <a:pathLst>
              <a:path w="2651760" h="914400">
                <a:moveTo>
                  <a:pt x="114300" y="0"/>
                </a:moveTo>
                <a:lnTo>
                  <a:pt x="2537460" y="0"/>
                </a:lnTo>
                <a:quadBezTo>
                  <a:pt x="2651760" y="0"/>
                  <a:pt x="2651760" y="114300"/>
                </a:quadBezTo>
                <a:lnTo>
                  <a:pt x="2651760" y="800100"/>
                </a:lnTo>
                <a:quadBezTo>
                  <a:pt x="2651760" y="914400"/>
                  <a:pt x="2537460" y="914400"/>
                </a:quadBezTo>
                <a:lnTo>
                  <a:pt x="114300" y="914400"/>
                </a:lnTo>
                <a:quadBezTo>
                  <a:pt x="0" y="914400"/>
                  <a:pt x="0" y="800100"/>
                </a:quadBezTo>
                <a:lnTo>
                  <a:pt x="0" y="114300"/>
                </a:lnTo>
                <a:quadBezTo>
                  <a:pt x="0" y="0"/>
                  <a:pt x="114300" y="0"/>
                </a:quadBezTo>
                <a:close/>
              </a:path>
            </a:pathLst>
          </a:custGeom>
          <a:solidFill>
            <a:srgbClr val="000000">
              <a:alpha val="0"/>
            </a:srgbClr>
          </a:solidFill>
          <a:ln w="36576">
            <a:solidFill>
              <a:srgbClr val="0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926641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vs. Chains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502920" y="2876702"/>
            <a:ext cx="2560320" cy="76795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systems exhibit dynamic decision-making and adaptability, contrasting with the fixed, sequential execution of traditional AI chains.</a:t>
            </a:r>
            <a:endParaRPr lang="en-US" sz="1152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3400" y="1432865"/>
            <a:ext cx="457200" cy="457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46120" y="1926641"/>
            <a:ext cx="2651760" cy="914400"/>
          </a:xfrm>
          <a:custGeom>
            <a:avLst/>
            <a:gdLst/>
            <a:ahLst/>
            <a:cxnLst/>
            <a:rect l="l" t="t" r="r" b="b"/>
            <a:pathLst>
              <a:path w="2651760" h="914400">
                <a:moveTo>
                  <a:pt x="114300" y="0"/>
                </a:moveTo>
                <a:lnTo>
                  <a:pt x="2537460" y="0"/>
                </a:lnTo>
                <a:quadBezTo>
                  <a:pt x="2651760" y="0"/>
                  <a:pt x="2651760" y="114300"/>
                </a:quadBezTo>
                <a:lnTo>
                  <a:pt x="2651760" y="800100"/>
                </a:lnTo>
                <a:quadBezTo>
                  <a:pt x="2651760" y="914400"/>
                  <a:pt x="2537460" y="914400"/>
                </a:quadBezTo>
                <a:lnTo>
                  <a:pt x="114300" y="914400"/>
                </a:lnTo>
                <a:quadBezTo>
                  <a:pt x="0" y="914400"/>
                  <a:pt x="0" y="800100"/>
                </a:quadBezTo>
                <a:lnTo>
                  <a:pt x="0" y="114300"/>
                </a:lnTo>
                <a:quadBezTo>
                  <a:pt x="0" y="0"/>
                  <a:pt x="114300" y="0"/>
                </a:quadBezTo>
                <a:close/>
              </a:path>
            </a:pathLst>
          </a:custGeom>
          <a:solidFill>
            <a:srgbClr val="000000">
              <a:alpha val="0"/>
            </a:srgbClr>
          </a:solidFill>
          <a:ln w="36576">
            <a:solidFill>
              <a:srgbClr val="00000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46120" y="1926641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Agentic AI</a:t>
            </a:r>
            <a:endParaRPr lang="en-US" sz="1152" dirty="0"/>
          </a:p>
        </p:txBody>
      </p:sp>
      <p:sp>
        <p:nvSpPr>
          <p:cNvPr id="11" name="Text 7"/>
          <p:cNvSpPr/>
          <p:nvPr/>
        </p:nvSpPr>
        <p:spPr>
          <a:xfrm>
            <a:off x="3291840" y="2876702"/>
            <a:ext cx="2560320" cy="91411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primer explores the fundamental distinctions between autonomous agents and predefined AI chains, emphasizing their operational differences and applications.</a:t>
            </a:r>
            <a:endParaRPr lang="en-US" sz="1152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32320" y="1432865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035040" y="1926641"/>
            <a:ext cx="2651760" cy="914400"/>
          </a:xfrm>
          <a:custGeom>
            <a:avLst/>
            <a:gdLst/>
            <a:ahLst/>
            <a:cxnLst/>
            <a:rect l="l" t="t" r="r" b="b"/>
            <a:pathLst>
              <a:path w="2651760" h="914400">
                <a:moveTo>
                  <a:pt x="114300" y="0"/>
                </a:moveTo>
                <a:lnTo>
                  <a:pt x="2537460" y="0"/>
                </a:lnTo>
                <a:quadBezTo>
                  <a:pt x="2651760" y="0"/>
                  <a:pt x="2651760" y="114300"/>
                </a:quadBezTo>
                <a:lnTo>
                  <a:pt x="2651760" y="800100"/>
                </a:lnTo>
                <a:quadBezTo>
                  <a:pt x="2651760" y="914400"/>
                  <a:pt x="2537460" y="914400"/>
                </a:quadBezTo>
                <a:lnTo>
                  <a:pt x="114300" y="914400"/>
                </a:lnTo>
                <a:quadBezTo>
                  <a:pt x="0" y="914400"/>
                  <a:pt x="0" y="800100"/>
                </a:quadBezTo>
                <a:lnTo>
                  <a:pt x="0" y="114300"/>
                </a:lnTo>
                <a:quadBezTo>
                  <a:pt x="0" y="0"/>
                  <a:pt x="114300" y="0"/>
                </a:quadBezTo>
                <a:close/>
              </a:path>
            </a:pathLst>
          </a:custGeom>
          <a:solidFill>
            <a:srgbClr val="000000">
              <a:alpha val="0"/>
            </a:srgbClr>
          </a:solidFill>
          <a:ln w="36576">
            <a:solidFill>
              <a:srgbClr val="00000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035040" y="1926641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Differentiating AI Architectures</a:t>
            </a:r>
            <a:endParaRPr lang="en-US" sz="1152" dirty="0"/>
          </a:p>
        </p:txBody>
      </p:sp>
      <p:sp>
        <p:nvSpPr>
          <p:cNvPr id="15" name="Text 10"/>
          <p:cNvSpPr/>
          <p:nvPr/>
        </p:nvSpPr>
        <p:spPr>
          <a:xfrm>
            <a:off x="6080760" y="2876702"/>
            <a:ext cx="2560320" cy="34561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Examining the core architectural differences that enable agents to perform complex tasks, including tool calling and multi-agent coordination.</a:t>
            </a:r>
            <a:endParaRPr lang="en-US" sz="115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2057"/>
            <a:ext cx="3108960" cy="3291840"/>
          </a:xfrm>
          <a:custGeom>
            <a:avLst/>
            <a:gdLst/>
            <a:ahLst/>
            <a:cxnLst/>
            <a:rect l="l" t="t" r="r" b="b"/>
            <a:pathLst>
              <a:path w="3108960" h="3291840">
                <a:moveTo>
                  <a:pt x="0" y="0"/>
                </a:moveTo>
                <a:lnTo>
                  <a:pt x="3108960" y="0"/>
                </a:lnTo>
                <a:lnTo>
                  <a:pt x="3108960" y="3291840"/>
                </a:lnTo>
                <a:lnTo>
                  <a:pt x="0" y="3291840"/>
                </a:lnTo>
                <a:close/>
              </a:path>
            </a:pathLst>
          </a:custGeom>
          <a:solidFill>
            <a:srgbClr val="FFC00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98520"/>
            <a:ext cx="2921024" cy="283891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365760"/>
            <a:ext cx="914400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0" y="0"/>
                </a:moveTo>
                <a:lnTo>
                  <a:pt x="914400" y="0"/>
                </a:lnTo>
                <a:lnTo>
                  <a:pt x="9144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FFC001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365760"/>
            <a:ext cx="8229600" cy="69508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decision-making capabilities of agents compared to static chains</a:t>
            </a:r>
            <a:endParaRPr lang="en-US" sz="1152" dirty="0"/>
          </a:p>
        </p:txBody>
      </p:sp>
      <p:sp>
        <p:nvSpPr>
          <p:cNvPr id="6" name="Shape 3"/>
          <p:cNvSpPr/>
          <p:nvPr/>
        </p:nvSpPr>
        <p:spPr>
          <a:xfrm>
            <a:off x="3017520" y="1613916"/>
            <a:ext cx="5669280" cy="1188720"/>
          </a:xfrm>
          <a:custGeom>
            <a:avLst/>
            <a:gdLst/>
            <a:ahLst/>
            <a:cxnLst/>
            <a:rect l="l" t="t" r="r" b="b"/>
            <a:pathLst>
              <a:path w="5669280" h="1188720">
                <a:moveTo>
                  <a:pt x="0" y="0"/>
                </a:moveTo>
                <a:lnTo>
                  <a:pt x="5669280" y="0"/>
                </a:lnTo>
                <a:lnTo>
                  <a:pt x="5669280" y="1188720"/>
                </a:lnTo>
                <a:lnTo>
                  <a:pt x="0" y="118872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108960" y="1699807"/>
            <a:ext cx="548640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Primer</a:t>
            </a:r>
            <a:endParaRPr lang="en-US" sz="1152" dirty="0"/>
          </a:p>
        </p:txBody>
      </p:sp>
      <p:sp>
        <p:nvSpPr>
          <p:cNvPr id="8" name="Text 5"/>
          <p:cNvSpPr/>
          <p:nvPr/>
        </p:nvSpPr>
        <p:spPr>
          <a:xfrm>
            <a:off x="3108960" y="1891831"/>
            <a:ext cx="5486400" cy="47534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section clarifies how agents leverage dynamic decision-making for enhanced performance, a key differentiator from conventional AI chains.</a:t>
            </a:r>
            <a:endParaRPr lang="en-US" sz="1152" dirty="0"/>
          </a:p>
        </p:txBody>
      </p:sp>
      <p:sp>
        <p:nvSpPr>
          <p:cNvPr id="9" name="Shape 6"/>
          <p:cNvSpPr/>
          <p:nvPr/>
        </p:nvSpPr>
        <p:spPr>
          <a:xfrm>
            <a:off x="3017520" y="3251606"/>
            <a:ext cx="5669280" cy="1188720"/>
          </a:xfrm>
          <a:custGeom>
            <a:avLst/>
            <a:gdLst/>
            <a:ahLst/>
            <a:cxnLst/>
            <a:rect l="l" t="t" r="r" b="b"/>
            <a:pathLst>
              <a:path w="5669280" h="1188720">
                <a:moveTo>
                  <a:pt x="0" y="0"/>
                </a:moveTo>
                <a:lnTo>
                  <a:pt x="5669280" y="0"/>
                </a:lnTo>
                <a:lnTo>
                  <a:pt x="5669280" y="1188720"/>
                </a:lnTo>
                <a:lnTo>
                  <a:pt x="0" y="118872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08960" y="3337612"/>
            <a:ext cx="548640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AI Systems</a:t>
            </a:r>
            <a:endParaRPr lang="en-US" sz="1152" dirty="0"/>
          </a:p>
        </p:txBody>
      </p:sp>
      <p:sp>
        <p:nvSpPr>
          <p:cNvPr id="11" name="Text 8"/>
          <p:cNvSpPr/>
          <p:nvPr/>
        </p:nvSpPr>
        <p:spPr>
          <a:xfrm>
            <a:off x="3108960" y="3529636"/>
            <a:ext cx="5486400" cy="34561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Exploring the implications of dynamic decision-making in agentic AI for creating more robust and intelligent systems capable of complex tasks.</a:t>
            </a:r>
            <a:endParaRPr lang="en-US" sz="115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914400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0" y="0"/>
                </a:moveTo>
                <a:lnTo>
                  <a:pt x="914400" y="0"/>
                </a:lnTo>
                <a:lnTo>
                  <a:pt x="9144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FFC00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3891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problem-solving through agentic AI architectures</a:t>
            </a:r>
            <a:endParaRPr lang="en-US" sz="1152" dirty="0"/>
          </a:p>
        </p:txBody>
      </p:sp>
      <p:sp>
        <p:nvSpPr>
          <p:cNvPr id="4" name="Shape 2"/>
          <p:cNvSpPr/>
          <p:nvPr/>
        </p:nvSpPr>
        <p:spPr>
          <a:xfrm>
            <a:off x="6126480" y="2423160"/>
            <a:ext cx="2560320" cy="182880"/>
          </a:xfrm>
          <a:custGeom>
            <a:avLst/>
            <a:gdLst/>
            <a:ahLst/>
            <a:cxnLst/>
            <a:rect l="l" t="t" r="r" b="b"/>
            <a:pathLst>
              <a:path w="2560320" h="182880">
                <a:moveTo>
                  <a:pt x="22860" y="0"/>
                </a:moveTo>
                <a:lnTo>
                  <a:pt x="2537460" y="0"/>
                </a:lnTo>
                <a:quadBezTo>
                  <a:pt x="2560320" y="0"/>
                  <a:pt x="2560320" y="22860"/>
                </a:quadBezTo>
                <a:lnTo>
                  <a:pt x="2560320" y="160020"/>
                </a:lnTo>
                <a:quadBezTo>
                  <a:pt x="2560320" y="182880"/>
                  <a:pt x="2537460" y="182880"/>
                </a:quadBezTo>
                <a:lnTo>
                  <a:pt x="22860" y="182880"/>
                </a:lnTo>
                <a:quadBezTo>
                  <a:pt x="0" y="182880"/>
                  <a:pt x="0" y="160020"/>
                </a:quadBezTo>
                <a:lnTo>
                  <a:pt x="0" y="22860"/>
                </a:lnTo>
                <a:quadBezTo>
                  <a:pt x="0" y="0"/>
                  <a:pt x="22860" y="0"/>
                </a:quadBez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6126480" y="2606040"/>
            <a:ext cx="256032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Problem-Solving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6126480" y="3017520"/>
            <a:ext cx="2560320" cy="76795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architectures facilitate adaptive problem-solving by allowing agents to dynamically select tools and strategies to achieve their goals.</a:t>
            </a:r>
            <a:endParaRPr lang="en-US" sz="1152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78040" y="1965960"/>
            <a:ext cx="457200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 flipH="1">
            <a:off x="3291840" y="1645920"/>
            <a:ext cx="2560320" cy="182880"/>
          </a:xfrm>
          <a:custGeom>
            <a:avLst/>
            <a:gdLst/>
            <a:ahLst/>
            <a:cxnLst/>
            <a:rect l="l" t="t" r="r" b="b"/>
            <a:pathLst>
              <a:path w="2560320" h="182880">
                <a:moveTo>
                  <a:pt x="22860" y="0"/>
                </a:moveTo>
                <a:lnTo>
                  <a:pt x="2537460" y="0"/>
                </a:lnTo>
                <a:quadBezTo>
                  <a:pt x="2560320" y="0"/>
                  <a:pt x="2560320" y="22860"/>
                </a:quadBezTo>
                <a:lnTo>
                  <a:pt x="2560320" y="160020"/>
                </a:lnTo>
                <a:quadBezTo>
                  <a:pt x="2560320" y="182880"/>
                  <a:pt x="2537460" y="182880"/>
                </a:quadBezTo>
                <a:lnTo>
                  <a:pt x="22860" y="182880"/>
                </a:lnTo>
                <a:quadBezTo>
                  <a:pt x="0" y="182880"/>
                  <a:pt x="0" y="160020"/>
                </a:quadBezTo>
                <a:lnTo>
                  <a:pt x="0" y="22860"/>
                </a:lnTo>
                <a:quadBezTo>
                  <a:pt x="0" y="0"/>
                  <a:pt x="22860" y="0"/>
                </a:quadBezTo>
                <a:close/>
              </a:path>
            </a:pathLst>
          </a:custGeom>
          <a:solidFill>
            <a:srgbClr val="FFC001"/>
          </a:solidFill>
          <a:ln/>
        </p:spPr>
      </p:sp>
      <p:sp>
        <p:nvSpPr>
          <p:cNvPr id="9" name="Text 6"/>
          <p:cNvSpPr/>
          <p:nvPr/>
        </p:nvSpPr>
        <p:spPr>
          <a:xfrm>
            <a:off x="3291840" y="1828800"/>
            <a:ext cx="256032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vs. Chains Overview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3291840" y="2240280"/>
            <a:ext cx="2560320" cy="76795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primer details how agentic AI's architectural design supports more flexible and adaptive problem-solving compared to rigid, sequential chains.</a:t>
            </a:r>
            <a:endParaRPr lang="en-US" sz="1152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3400" y="1188720"/>
            <a:ext cx="457200" cy="4572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2034540"/>
            <a:ext cx="2560320" cy="182880"/>
          </a:xfrm>
          <a:custGeom>
            <a:avLst/>
            <a:gdLst/>
            <a:ahLst/>
            <a:cxnLst/>
            <a:rect l="l" t="t" r="r" b="b"/>
            <a:pathLst>
              <a:path w="2560320" h="182880">
                <a:moveTo>
                  <a:pt x="22860" y="0"/>
                </a:moveTo>
                <a:lnTo>
                  <a:pt x="2537460" y="0"/>
                </a:lnTo>
                <a:quadBezTo>
                  <a:pt x="2560320" y="0"/>
                  <a:pt x="2560320" y="22860"/>
                </a:quadBezTo>
                <a:lnTo>
                  <a:pt x="2560320" y="160020"/>
                </a:lnTo>
                <a:quadBezTo>
                  <a:pt x="2560320" y="182880"/>
                  <a:pt x="2537460" y="182880"/>
                </a:quadBezTo>
                <a:lnTo>
                  <a:pt x="22860" y="182880"/>
                </a:lnTo>
                <a:quadBezTo>
                  <a:pt x="0" y="182880"/>
                  <a:pt x="0" y="160020"/>
                </a:quadBezTo>
                <a:lnTo>
                  <a:pt x="0" y="22860"/>
                </a:lnTo>
                <a:quadBezTo>
                  <a:pt x="0" y="0"/>
                  <a:pt x="22860" y="0"/>
                </a:quadBez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2217420"/>
            <a:ext cx="256032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Advanced AI</a:t>
            </a:r>
            <a:endParaRPr lang="en-US" sz="1152" dirty="0"/>
          </a:p>
        </p:txBody>
      </p:sp>
      <p:sp>
        <p:nvSpPr>
          <p:cNvPr id="14" name="Text 10"/>
          <p:cNvSpPr/>
          <p:nvPr/>
        </p:nvSpPr>
        <p:spPr>
          <a:xfrm>
            <a:off x="457200" y="2628900"/>
            <a:ext cx="2560320" cy="76795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Investigating how agentic AI's adaptive problem-solving capabilities contribute to more intelligent and autonomous systems in various domains.</a:t>
            </a:r>
            <a:endParaRPr lang="en-US" sz="1152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8760" y="15773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914400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0" y="0"/>
                </a:moveTo>
                <a:lnTo>
                  <a:pt x="914400" y="0"/>
                </a:lnTo>
                <a:lnTo>
                  <a:pt x="9144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FFC00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3891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AI: Agents vs. Chains &amp; Tool Calling</a:t>
            </a:r>
            <a:endParaRPr lang="en-US" sz="1152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35024" y="1188720"/>
            <a:ext cx="5486400" cy="3017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35024" y="4206240"/>
            <a:ext cx="5486400" cy="32904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Aspects of Agentic AI Architectures(Effectiveness Score (%))</a:t>
            </a:r>
            <a:endParaRPr lang="en-US" sz="1152" dirty="0"/>
          </a:p>
        </p:txBody>
      </p:sp>
      <p:sp>
        <p:nvSpPr>
          <p:cNvPr id="6" name="Shape 3"/>
          <p:cNvSpPr/>
          <p:nvPr/>
        </p:nvSpPr>
        <p:spPr>
          <a:xfrm>
            <a:off x="7772400" y="3040380"/>
            <a:ext cx="914400" cy="2103120"/>
          </a:xfrm>
          <a:custGeom>
            <a:avLst/>
            <a:gdLst/>
            <a:ahLst/>
            <a:cxnLst/>
            <a:rect l="l" t="t" r="r" b="b"/>
            <a:pathLst>
              <a:path w="914400" h="2103120">
                <a:moveTo>
                  <a:pt x="0" y="0"/>
                </a:moveTo>
                <a:lnTo>
                  <a:pt x="914400" y="0"/>
                </a:lnTo>
                <a:lnTo>
                  <a:pt x="914400" y="2103120"/>
                </a:lnTo>
                <a:lnTo>
                  <a:pt x="0" y="2103120"/>
                </a:lnTo>
                <a:close/>
              </a:path>
            </a:pathLst>
          </a:custGeom>
          <a:solidFill>
            <a:srgbClr val="FFC001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0" y="0"/>
                </a:moveTo>
                <a:lnTo>
                  <a:pt x="274320" y="0"/>
                </a:lnTo>
                <a:lnTo>
                  <a:pt x="274320" y="274320"/>
                </a:lnTo>
                <a:lnTo>
                  <a:pt x="0" y="274320"/>
                </a:lnTo>
                <a:close/>
              </a:path>
            </a:pathLst>
          </a:custGeom>
          <a:solidFill>
            <a:srgbClr val="FFC001"/>
          </a:solidFill>
          <a:ln/>
        </p:spPr>
      </p:sp>
      <p:sp>
        <p:nvSpPr>
          <p:cNvPr id="3" name="Shape 1"/>
          <p:cNvSpPr/>
          <p:nvPr/>
        </p:nvSpPr>
        <p:spPr>
          <a:xfrm>
            <a:off x="991254" y="54864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0" y="0"/>
                </a:moveTo>
                <a:lnTo>
                  <a:pt x="274320" y="0"/>
                </a:lnTo>
                <a:lnTo>
                  <a:pt x="274320" y="274320"/>
                </a:lnTo>
                <a:lnTo>
                  <a:pt x="0" y="274320"/>
                </a:lnTo>
                <a:close/>
              </a:path>
            </a:pathLst>
          </a:custGeom>
          <a:solidFill>
            <a:srgbClr val="FFC001"/>
          </a:solidFill>
          <a:ln/>
        </p:spPr>
      </p:sp>
      <p:sp>
        <p:nvSpPr>
          <p:cNvPr id="4" name="Shape 2"/>
          <p:cNvSpPr/>
          <p:nvPr/>
        </p:nvSpPr>
        <p:spPr>
          <a:xfrm>
            <a:off x="1433868" y="54864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0" y="0"/>
                </a:moveTo>
                <a:lnTo>
                  <a:pt x="274320" y="0"/>
                </a:lnTo>
                <a:lnTo>
                  <a:pt x="274320" y="274320"/>
                </a:lnTo>
                <a:lnTo>
                  <a:pt x="0" y="274320"/>
                </a:lnTo>
                <a:close/>
              </a:path>
            </a:pathLst>
          </a:custGeom>
          <a:solidFill>
            <a:srgbClr val="FFC001"/>
          </a:solidFill>
          <a:ln/>
        </p:spPr>
      </p:sp>
      <p:sp>
        <p:nvSpPr>
          <p:cNvPr id="5" name="Shape 3"/>
          <p:cNvSpPr/>
          <p:nvPr/>
        </p:nvSpPr>
        <p:spPr>
          <a:xfrm>
            <a:off x="7589520" y="3040380"/>
            <a:ext cx="914400" cy="2103120"/>
          </a:xfrm>
          <a:custGeom>
            <a:avLst/>
            <a:gdLst/>
            <a:ahLst/>
            <a:cxnLst/>
            <a:rect l="l" t="t" r="r" b="b"/>
            <a:pathLst>
              <a:path w="914400" h="2103120">
                <a:moveTo>
                  <a:pt x="0" y="0"/>
                </a:moveTo>
                <a:lnTo>
                  <a:pt x="914400" y="0"/>
                </a:lnTo>
                <a:lnTo>
                  <a:pt x="914400" y="2103120"/>
                </a:lnTo>
                <a:lnTo>
                  <a:pt x="0" y="2103120"/>
                </a:lnTo>
                <a:close/>
              </a:path>
            </a:pathLst>
          </a:custGeom>
          <a:solidFill>
            <a:srgbClr val="FFC001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834640"/>
            <a:ext cx="5876654" cy="0"/>
          </a:xfrm>
          <a:custGeom>
            <a:avLst/>
            <a:gdLst/>
            <a:ahLst/>
            <a:cxnLst/>
            <a:rect l="l" t="t" r="r" b="b"/>
            <a:pathLst>
              <a:path w="5876654" h="0">
                <a:moveTo>
                  <a:pt x="0" y="0"/>
                </a:moveTo>
                <a:lnTo>
                  <a:pt x="5876654" y="0"/>
                </a:lnTo>
              </a:path>
            </a:pathLst>
          </a:custGeom>
          <a:noFill/>
          <a:ln w="36576">
            <a:solidFill>
              <a:srgbClr val="FFC001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914400" y="1645920"/>
            <a:ext cx="7315200" cy="50463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Tool Utilization and External Interaction in Agentic Systems</a:t>
            </a:r>
            <a:endParaRPr lang="en-US" sz="115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914400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0" y="0"/>
                </a:moveTo>
                <a:lnTo>
                  <a:pt x="914400" y="0"/>
                </a:lnTo>
                <a:lnTo>
                  <a:pt x="9144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FFC00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9508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Integrating external tools for enhanced agent functionality and reach</a:t>
            </a:r>
            <a:endParaRPr lang="en-US" sz="1152" dirty="0"/>
          </a:p>
        </p:txBody>
      </p:sp>
      <p:sp>
        <p:nvSpPr>
          <p:cNvPr id="4" name="Shape 2"/>
          <p:cNvSpPr/>
          <p:nvPr/>
        </p:nvSpPr>
        <p:spPr>
          <a:xfrm>
            <a:off x="0" y="1485900"/>
            <a:ext cx="2441448" cy="3657600"/>
          </a:xfrm>
          <a:custGeom>
            <a:avLst/>
            <a:gdLst/>
            <a:ahLst/>
            <a:cxnLst/>
            <a:rect l="l" t="t" r="r" b="b"/>
            <a:pathLst>
              <a:path w="2441448" h="3657600">
                <a:moveTo>
                  <a:pt x="0" y="0"/>
                </a:moveTo>
                <a:lnTo>
                  <a:pt x="2441448" y="0"/>
                </a:lnTo>
                <a:lnTo>
                  <a:pt x="2441448" y="3657600"/>
                </a:lnTo>
                <a:lnTo>
                  <a:pt x="0" y="3657600"/>
                </a:lnTo>
                <a:close/>
              </a:path>
            </a:pathLst>
          </a:custGeom>
          <a:solidFill>
            <a:srgbClr val="FFC00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30795"/>
            <a:ext cx="2341803" cy="351270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884932" y="1155508"/>
            <a:ext cx="5801868" cy="1097280"/>
          </a:xfrm>
          <a:custGeom>
            <a:avLst/>
            <a:gdLst/>
            <a:ahLst/>
            <a:cxnLst/>
            <a:rect l="l" t="t" r="r" b="b"/>
            <a:pathLst>
              <a:path w="5801868" h="1097280">
                <a:moveTo>
                  <a:pt x="0" y="0"/>
                </a:moveTo>
                <a:lnTo>
                  <a:pt x="5801868" y="0"/>
                </a:lnTo>
                <a:lnTo>
                  <a:pt x="5801868" y="1097280"/>
                </a:lnTo>
                <a:lnTo>
                  <a:pt x="0" y="1097280"/>
                </a:lnTo>
                <a:close/>
              </a:path>
            </a:pathLst>
          </a:custGeom>
          <a:solidFill>
            <a:srgbClr val="FFC001"/>
          </a:solidFill>
          <a:ln/>
        </p:spPr>
      </p:sp>
      <p:sp>
        <p:nvSpPr>
          <p:cNvPr id="7" name="Text 4"/>
          <p:cNvSpPr/>
          <p:nvPr/>
        </p:nvSpPr>
        <p:spPr>
          <a:xfrm>
            <a:off x="2884932" y="1228954"/>
            <a:ext cx="548640" cy="43891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2" dirty="0"/>
          </a:p>
        </p:txBody>
      </p:sp>
      <p:sp>
        <p:nvSpPr>
          <p:cNvPr id="8" name="Text 5"/>
          <p:cNvSpPr/>
          <p:nvPr/>
        </p:nvSpPr>
        <p:spPr>
          <a:xfrm>
            <a:off x="3433572" y="1238098"/>
            <a:ext cx="521208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Calling: A Key Capability</a:t>
            </a:r>
            <a:endParaRPr lang="en-US" sz="1152" dirty="0"/>
          </a:p>
        </p:txBody>
      </p:sp>
      <p:sp>
        <p:nvSpPr>
          <p:cNvPr id="9" name="Text 6"/>
          <p:cNvSpPr/>
          <p:nvPr/>
        </p:nvSpPr>
        <p:spPr>
          <a:xfrm>
            <a:off x="3433572" y="1446581"/>
            <a:ext cx="5212080" cy="47534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Examines how agentic AI leverages tool-calling mechanisms to interact with external environments and extend its operational capabilities effectively.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2884932" y="2481682"/>
            <a:ext cx="548640" cy="43891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FFC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52" dirty="0"/>
          </a:p>
        </p:txBody>
      </p:sp>
      <p:sp>
        <p:nvSpPr>
          <p:cNvPr id="11" name="Text 8"/>
          <p:cNvSpPr/>
          <p:nvPr/>
        </p:nvSpPr>
        <p:spPr>
          <a:xfrm>
            <a:off x="3433572" y="2490826"/>
            <a:ext cx="521208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Interaction for Enhanced Reach</a:t>
            </a:r>
            <a:endParaRPr lang="en-US" sz="1152" dirty="0"/>
          </a:p>
        </p:txBody>
      </p:sp>
      <p:sp>
        <p:nvSpPr>
          <p:cNvPr id="12" name="Text 9"/>
          <p:cNvSpPr/>
          <p:nvPr/>
        </p:nvSpPr>
        <p:spPr>
          <a:xfrm>
            <a:off x="3433572" y="2699309"/>
            <a:ext cx="5212080" cy="47534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Focuses on how agents utilize external tools to expand their reach and influence, interacting with diverse systems and data sources.</a:t>
            </a:r>
            <a:endParaRPr lang="en-US" sz="1152" dirty="0"/>
          </a:p>
        </p:txBody>
      </p:sp>
      <p:sp>
        <p:nvSpPr>
          <p:cNvPr id="13" name="Text 10"/>
          <p:cNvSpPr/>
          <p:nvPr/>
        </p:nvSpPr>
        <p:spPr>
          <a:xfrm>
            <a:off x="2884932" y="3725266"/>
            <a:ext cx="548640" cy="43891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FFC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52" dirty="0"/>
          </a:p>
        </p:txBody>
      </p:sp>
      <p:sp>
        <p:nvSpPr>
          <p:cNvPr id="14" name="Text 11"/>
          <p:cNvSpPr/>
          <p:nvPr/>
        </p:nvSpPr>
        <p:spPr>
          <a:xfrm>
            <a:off x="3433572" y="3734410"/>
            <a:ext cx="521208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vs. Chains: Core Differences</a:t>
            </a:r>
            <a:endParaRPr lang="en-US" sz="1152" dirty="0"/>
          </a:p>
        </p:txBody>
      </p:sp>
      <p:sp>
        <p:nvSpPr>
          <p:cNvPr id="15" name="Text 12"/>
          <p:cNvSpPr/>
          <p:nvPr/>
        </p:nvSpPr>
        <p:spPr>
          <a:xfrm>
            <a:off x="3433572" y="3942893"/>
            <a:ext cx="5212080" cy="34561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section explores the fundamental distinctions between agentic AI systems and traditional AI chains, highlighting their architectural and operational variances.</a:t>
            </a:r>
            <a:endParaRPr lang="en-US" sz="115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914400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0" y="0"/>
                </a:moveTo>
                <a:lnTo>
                  <a:pt x="914400" y="0"/>
                </a:lnTo>
                <a:lnTo>
                  <a:pt x="9144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FFC00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3891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Leveraging APIs and databases for real-time information access</a:t>
            </a:r>
            <a:endParaRPr lang="en-US" sz="1152" dirty="0"/>
          </a:p>
        </p:txBody>
      </p:sp>
      <p:sp>
        <p:nvSpPr>
          <p:cNvPr id="4" name="Shape 2"/>
          <p:cNvSpPr/>
          <p:nvPr/>
        </p:nvSpPr>
        <p:spPr>
          <a:xfrm>
            <a:off x="6126480" y="2423160"/>
            <a:ext cx="2560320" cy="182880"/>
          </a:xfrm>
          <a:custGeom>
            <a:avLst/>
            <a:gdLst/>
            <a:ahLst/>
            <a:cxnLst/>
            <a:rect l="l" t="t" r="r" b="b"/>
            <a:pathLst>
              <a:path w="2560320" h="182880">
                <a:moveTo>
                  <a:pt x="22860" y="0"/>
                </a:moveTo>
                <a:lnTo>
                  <a:pt x="2537460" y="0"/>
                </a:lnTo>
                <a:quadBezTo>
                  <a:pt x="2560320" y="0"/>
                  <a:pt x="2560320" y="22860"/>
                </a:quadBezTo>
                <a:lnTo>
                  <a:pt x="2560320" y="160020"/>
                </a:lnTo>
                <a:quadBezTo>
                  <a:pt x="2560320" y="182880"/>
                  <a:pt x="2537460" y="182880"/>
                </a:quadBezTo>
                <a:lnTo>
                  <a:pt x="22860" y="182880"/>
                </a:lnTo>
                <a:quadBezTo>
                  <a:pt x="0" y="182880"/>
                  <a:pt x="0" y="160020"/>
                </a:quadBezTo>
                <a:lnTo>
                  <a:pt x="0" y="22860"/>
                </a:lnTo>
                <a:quadBezTo>
                  <a:pt x="0" y="0"/>
                  <a:pt x="22860" y="0"/>
                </a:quadBez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6126480" y="2606040"/>
            <a:ext cx="256032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Calling for Data Retrieval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6126480" y="3017520"/>
            <a:ext cx="2560320" cy="76795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 the process of using tool-calling to access and retrieve real-time information from APIs and databases, crucial for informed decision-making.</a:t>
            </a:r>
            <a:endParaRPr lang="en-US" sz="1152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78040" y="1965960"/>
            <a:ext cx="457200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 flipH="1">
            <a:off x="3291840" y="1645920"/>
            <a:ext cx="2560320" cy="182880"/>
          </a:xfrm>
          <a:custGeom>
            <a:avLst/>
            <a:gdLst/>
            <a:ahLst/>
            <a:cxnLst/>
            <a:rect l="l" t="t" r="r" b="b"/>
            <a:pathLst>
              <a:path w="2560320" h="182880">
                <a:moveTo>
                  <a:pt x="22860" y="0"/>
                </a:moveTo>
                <a:lnTo>
                  <a:pt x="2537460" y="0"/>
                </a:lnTo>
                <a:quadBezTo>
                  <a:pt x="2560320" y="0"/>
                  <a:pt x="2560320" y="22860"/>
                </a:quadBezTo>
                <a:lnTo>
                  <a:pt x="2560320" y="160020"/>
                </a:lnTo>
                <a:quadBezTo>
                  <a:pt x="2560320" y="182880"/>
                  <a:pt x="2537460" y="182880"/>
                </a:quadBezTo>
                <a:lnTo>
                  <a:pt x="22860" y="182880"/>
                </a:lnTo>
                <a:quadBezTo>
                  <a:pt x="0" y="182880"/>
                  <a:pt x="0" y="160020"/>
                </a:quadBezTo>
                <a:lnTo>
                  <a:pt x="0" y="22860"/>
                </a:lnTo>
                <a:quadBezTo>
                  <a:pt x="0" y="0"/>
                  <a:pt x="22860" y="0"/>
                </a:quadBezTo>
                <a:close/>
              </a:path>
            </a:pathLst>
          </a:custGeom>
          <a:solidFill>
            <a:srgbClr val="FFC001"/>
          </a:solidFill>
          <a:ln/>
        </p:spPr>
      </p:sp>
      <p:sp>
        <p:nvSpPr>
          <p:cNvPr id="9" name="Text 6"/>
          <p:cNvSpPr/>
          <p:nvPr/>
        </p:nvSpPr>
        <p:spPr>
          <a:xfrm>
            <a:off x="3291840" y="1828800"/>
            <a:ext cx="256032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and Database Integration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3291840" y="2240280"/>
            <a:ext cx="2560320" cy="91411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Focuses on the practical aspects of integrating APIs and databases to provide agents with real-time information, enhancing their responsiveness and accuracy.</a:t>
            </a:r>
            <a:endParaRPr lang="en-US" sz="1152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3400" y="1188720"/>
            <a:ext cx="457200" cy="4572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2034540"/>
            <a:ext cx="2560320" cy="182880"/>
          </a:xfrm>
          <a:custGeom>
            <a:avLst/>
            <a:gdLst/>
            <a:ahLst/>
            <a:cxnLst/>
            <a:rect l="l" t="t" r="r" b="b"/>
            <a:pathLst>
              <a:path w="2560320" h="182880">
                <a:moveTo>
                  <a:pt x="22860" y="0"/>
                </a:moveTo>
                <a:lnTo>
                  <a:pt x="2537460" y="0"/>
                </a:lnTo>
                <a:quadBezTo>
                  <a:pt x="2560320" y="0"/>
                  <a:pt x="2560320" y="22860"/>
                </a:quadBezTo>
                <a:lnTo>
                  <a:pt x="2560320" y="160020"/>
                </a:lnTo>
                <a:quadBezTo>
                  <a:pt x="2560320" y="182880"/>
                  <a:pt x="2537460" y="182880"/>
                </a:quadBezTo>
                <a:lnTo>
                  <a:pt x="22860" y="182880"/>
                </a:lnTo>
                <a:quadBezTo>
                  <a:pt x="0" y="182880"/>
                  <a:pt x="0" y="160020"/>
                </a:quadBezTo>
                <a:lnTo>
                  <a:pt x="0" y="22860"/>
                </a:lnTo>
                <a:quadBezTo>
                  <a:pt x="0" y="0"/>
                  <a:pt x="22860" y="0"/>
                </a:quadBez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2217420"/>
            <a:ext cx="2560320" cy="5210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vs. Chains: Data Access</a:t>
            </a:r>
            <a:endParaRPr lang="en-US" sz="1152" dirty="0"/>
          </a:p>
        </p:txBody>
      </p:sp>
      <p:sp>
        <p:nvSpPr>
          <p:cNvPr id="14" name="Text 10"/>
          <p:cNvSpPr/>
          <p:nvPr/>
        </p:nvSpPr>
        <p:spPr>
          <a:xfrm>
            <a:off x="457200" y="2628900"/>
            <a:ext cx="2560320" cy="76795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Compares how agentic AI and AI chains approach real-time data access, emphasizing the dynamic nature of agent interactions with information sources.</a:t>
            </a:r>
            <a:endParaRPr lang="en-US" sz="1152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8760" y="15773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8267" y="1542137"/>
            <a:ext cx="3348533" cy="2011680"/>
          </a:xfrm>
          <a:custGeom>
            <a:avLst/>
            <a:gdLst/>
            <a:ahLst/>
            <a:cxnLst/>
            <a:rect l="l" t="t" r="r" b="b"/>
            <a:pathLst>
              <a:path w="3348533" h="2011680">
                <a:moveTo>
                  <a:pt x="0" y="0"/>
                </a:moveTo>
                <a:lnTo>
                  <a:pt x="3348533" y="0"/>
                </a:lnTo>
                <a:lnTo>
                  <a:pt x="3348533" y="2011680"/>
                </a:lnTo>
                <a:lnTo>
                  <a:pt x="0" y="2011680"/>
                </a:lnTo>
                <a:close/>
              </a:path>
            </a:pathLst>
          </a:custGeom>
          <a:solidFill>
            <a:srgbClr val="FFC00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0"/>
            <a:ext cx="914400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0" y="0"/>
                </a:moveTo>
                <a:lnTo>
                  <a:pt x="914400" y="0"/>
                </a:lnTo>
                <a:lnTo>
                  <a:pt x="9144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FFC00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69508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Orchestrating complex tasks through effective tool-calling mechanisms</a:t>
            </a:r>
            <a:endParaRPr lang="en-US" sz="1152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8267" y="1542137"/>
            <a:ext cx="3377457" cy="19687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508760"/>
            <a:ext cx="457200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vs. Chains: Task Orchestration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457200" y="1874520"/>
            <a:ext cx="4572000" cy="34561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Analyzes how agentic AI systems and AI chains differ in their ability to orchestrate complex tasks, highlighting the adaptive nature of agents.</a:t>
            </a:r>
            <a:endParaRPr lang="en-US" sz="115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914400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0" y="0"/>
                </a:moveTo>
                <a:lnTo>
                  <a:pt x="914400" y="0"/>
                </a:lnTo>
                <a:lnTo>
                  <a:pt x="9144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FFC00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3891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Capabilities Overview</a:t>
            </a:r>
            <a:endParaRPr lang="en-US" sz="1152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35024" y="1188720"/>
            <a:ext cx="5486400" cy="3017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35024" y="4206240"/>
            <a:ext cx="5486400" cy="32904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Aspects of Agentic AI Implementation(Effectiveness Score (%))</a:t>
            </a:r>
            <a:endParaRPr lang="en-US" sz="1152" dirty="0"/>
          </a:p>
        </p:txBody>
      </p:sp>
      <p:sp>
        <p:nvSpPr>
          <p:cNvPr id="6" name="Shape 3"/>
          <p:cNvSpPr/>
          <p:nvPr/>
        </p:nvSpPr>
        <p:spPr>
          <a:xfrm>
            <a:off x="7772400" y="3040380"/>
            <a:ext cx="914400" cy="2103120"/>
          </a:xfrm>
          <a:custGeom>
            <a:avLst/>
            <a:gdLst/>
            <a:ahLst/>
            <a:cxnLst/>
            <a:rect l="l" t="t" r="r" b="b"/>
            <a:pathLst>
              <a:path w="914400" h="2103120">
                <a:moveTo>
                  <a:pt x="0" y="0"/>
                </a:moveTo>
                <a:lnTo>
                  <a:pt x="914400" y="0"/>
                </a:lnTo>
                <a:lnTo>
                  <a:pt x="914400" y="2103120"/>
                </a:lnTo>
                <a:lnTo>
                  <a:pt x="0" y="2103120"/>
                </a:lnTo>
                <a:close/>
              </a:path>
            </a:pathLst>
          </a:custGeom>
          <a:solidFill>
            <a:srgbClr val="FFC001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4807"/>
            <a:ext cx="1280160" cy="4114800"/>
          </a:xfrm>
          <a:custGeom>
            <a:avLst/>
            <a:gdLst/>
            <a:ahLst/>
            <a:cxnLst/>
            <a:rect l="l" t="t" r="r" b="b"/>
            <a:pathLst>
              <a:path w="1280160" h="4114800">
                <a:moveTo>
                  <a:pt x="0" y="0"/>
                </a:moveTo>
                <a:lnTo>
                  <a:pt x="1280160" y="0"/>
                </a:lnTo>
                <a:lnTo>
                  <a:pt x="1280160" y="4114800"/>
                </a:lnTo>
                <a:lnTo>
                  <a:pt x="0" y="4114800"/>
                </a:lnTo>
                <a:close/>
              </a:path>
            </a:pathLst>
          </a:custGeom>
          <a:solidFill>
            <a:srgbClr val="FFC001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695858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0" y="0"/>
                </a:moveTo>
                <a:lnTo>
                  <a:pt x="274320" y="0"/>
                </a:lnTo>
                <a:lnTo>
                  <a:pt x="274320" y="274320"/>
                </a:lnTo>
                <a:lnTo>
                  <a:pt x="0" y="274320"/>
                </a:lnTo>
                <a:close/>
              </a:path>
            </a:pathLst>
          </a:custGeom>
          <a:solidFill>
            <a:srgbClr val="FFC001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0" y="1062838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0" y="0"/>
                </a:moveTo>
                <a:lnTo>
                  <a:pt x="274320" y="0"/>
                </a:lnTo>
                <a:lnTo>
                  <a:pt x="274320" y="274320"/>
                </a:lnTo>
                <a:lnTo>
                  <a:pt x="0" y="274320"/>
                </a:lnTo>
                <a:close/>
              </a:path>
            </a:pathLst>
          </a:custGeom>
          <a:solidFill>
            <a:srgbClr val="FFC001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0" y="1429817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0" y="0"/>
                </a:moveTo>
                <a:lnTo>
                  <a:pt x="274320" y="0"/>
                </a:lnTo>
                <a:lnTo>
                  <a:pt x="274320" y="274320"/>
                </a:lnTo>
                <a:lnTo>
                  <a:pt x="0" y="274320"/>
                </a:lnTo>
                <a:close/>
              </a:path>
            </a:pathLst>
          </a:custGeom>
          <a:solidFill>
            <a:srgbClr val="FFC001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0" y="1796796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0" y="0"/>
                </a:moveTo>
                <a:lnTo>
                  <a:pt x="274320" y="0"/>
                </a:lnTo>
                <a:lnTo>
                  <a:pt x="274320" y="274320"/>
                </a:lnTo>
                <a:lnTo>
                  <a:pt x="0" y="274320"/>
                </a:lnTo>
                <a:close/>
              </a:path>
            </a:pathLst>
          </a:custGeom>
          <a:solidFill>
            <a:srgbClr val="FFC001"/>
          </a:solidFill>
          <a:ln/>
        </p:spPr>
      </p:sp>
      <p:sp>
        <p:nvSpPr>
          <p:cNvPr id="7" name="Shape 5"/>
          <p:cNvSpPr/>
          <p:nvPr/>
        </p:nvSpPr>
        <p:spPr>
          <a:xfrm>
            <a:off x="6117859" y="4629607"/>
            <a:ext cx="2386061" cy="0"/>
          </a:xfrm>
          <a:custGeom>
            <a:avLst/>
            <a:gdLst/>
            <a:ahLst/>
            <a:cxnLst/>
            <a:rect l="l" t="t" r="r" b="b"/>
            <a:pathLst>
              <a:path w="2386061" h="0">
                <a:moveTo>
                  <a:pt x="0" y="0"/>
                </a:moveTo>
                <a:lnTo>
                  <a:pt x="2386061" y="0"/>
                </a:lnTo>
              </a:path>
            </a:pathLst>
          </a:custGeom>
          <a:noFill/>
          <a:ln w="36576">
            <a:solidFill>
              <a:srgbClr val="FFC001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1920240" y="2159813"/>
            <a:ext cx="6309360" cy="82467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96000"/>
              </a:lnSpc>
              <a:spcBef>
                <a:spcPts val="360"/>
              </a:spcBef>
              <a:buNone/>
            </a:pPr>
            <a:r>
              <a:rPr lang="en-US" sz="3888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15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2026-06-03T03:35:10Z</dcterms:created>
  <dcterms:modified xsi:type="dcterms:W3CDTF">2026-06-03T03:35:10Z</dcterms:modified>
</cp:coreProperties>
</file>