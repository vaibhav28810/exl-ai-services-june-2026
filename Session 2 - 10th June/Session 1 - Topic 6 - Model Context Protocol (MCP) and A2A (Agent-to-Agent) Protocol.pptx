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gif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gif"/><Relationship Id="rId2" Type="http://schemas.openxmlformats.org/officeDocument/2006/relationships/image" Target="../media/image-4-2.gif"/><Relationship Id="rId3" Type="http://schemas.openxmlformats.org/officeDocument/2006/relationships/image" Target="../media/image-4-3.gif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gif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gif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_aptfWmQjKJ" descr="https://osspub.smallppt.com/uploadFile/146_1.gif">    </p:cNvPr>
          <p:cNvPicPr>
            <a:picLocks noChangeAspect="1"/>
          </p:cNvPicPr>
          <p:nvPr/>
        </p:nvPicPr>
        <p:blipFill>
          <a:blip r:embed="rId1"/>
          <a:srcRect l="0" t="1961" r="0" b="0"/>
          <a:stretch>
            <a:fillRect/>
          </a:stretch>
        </p:blipFill>
        <p:spPr>
          <a:xfrm>
            <a:off x="2743200" y="0"/>
            <a:ext cx="3657600" cy="355701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0"/>
            <a:ext cx="9144000" cy="2286000"/>
          </a:xfrm>
          <a:custGeom>
            <a:avLst/>
            <a:gdLst/>
            <a:ahLst/>
            <a:cxnLst/>
            <a:rect l="l" t="t" r="r" b="b"/>
            <a:pathLst>
              <a:path w="9144000" h="2286000">
                <a:moveTo>
                  <a:pt x="0" y="0"/>
                </a:moveTo>
                <a:lnTo>
                  <a:pt x="9144000" y="0"/>
                </a:lnTo>
                <a:lnTo>
                  <a:pt x="9144000" y="228600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100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3017520"/>
            <a:ext cx="8229600" cy="106041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96000"/>
              </a:lnSpc>
              <a:spcBef>
                <a:spcPts val="360"/>
              </a:spcBef>
              <a:buNone/>
            </a:pPr>
            <a:r>
              <a:rPr lang="en-US" sz="2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Communication Protocols and Agent Interaction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5109667" y="1109167"/>
            <a:ext cx="5143500" cy="2926080"/>
          </a:xfrm>
          <a:custGeom>
            <a:avLst/>
            <a:gdLst/>
            <a:ahLst/>
            <a:cxnLst/>
            <a:rect l="l" t="t" r="r" b="b"/>
            <a:pathLst>
              <a:path w="5143500" h="2926080">
                <a:moveTo>
                  <a:pt x="0" y="0"/>
                </a:moveTo>
                <a:lnTo>
                  <a:pt x="5143500" y="0"/>
                </a:lnTo>
                <a:lnTo>
                  <a:pt x="5143500" y="2194560"/>
                </a:lnTo>
                <a:cubicBezTo>
                  <a:pt x="2828925" y="2048256"/>
                  <a:pt x="2828925" y="3511296"/>
                  <a:pt x="0" y="2633472"/>
                </a:cubicBezTo>
                <a:close/>
              </a:path>
            </a:pathLst>
          </a:custGeom>
          <a:solidFill>
            <a:srgbClr val="FFC100"/>
          </a:solidFill>
          <a:ln/>
        </p:spPr>
      </p:sp>
      <p:sp>
        <p:nvSpPr>
          <p:cNvPr id="3" name="Shape 1"/>
          <p:cNvSpPr/>
          <p:nvPr/>
        </p:nvSpPr>
        <p:spPr>
          <a:xfrm>
            <a:off x="5352419" y="1474927"/>
            <a:ext cx="2194560" cy="2194560"/>
          </a:xfrm>
          <a:custGeom>
            <a:avLst/>
            <a:gdLst/>
            <a:ahLst/>
            <a:cxnLst/>
            <a:rect l="l" t="t" r="r" b="b"/>
            <a:pathLst>
              <a:path w="2194560" h="2194560">
                <a:moveTo>
                  <a:pt x="1097280" y="0"/>
                </a:moveTo>
                <a:cubicBezTo>
                  <a:pt x="1702885" y="0"/>
                  <a:pt x="2194560" y="491675"/>
                  <a:pt x="2194560" y="1097280"/>
                </a:cubicBezTo>
                <a:cubicBezTo>
                  <a:pt x="2194560" y="1702885"/>
                  <a:pt x="1702885" y="2194560"/>
                  <a:pt x="1097280" y="2194560"/>
                </a:cubicBezTo>
                <a:cubicBezTo>
                  <a:pt x="491675" y="2194560"/>
                  <a:pt x="0" y="1702885"/>
                  <a:pt x="0" y="1097280"/>
                </a:cubicBezTo>
                <a:cubicBezTo>
                  <a:pt x="0" y="491675"/>
                  <a:pt x="491675" y="0"/>
                  <a:pt x="1097280" y="0"/>
                </a:cubicBezTo>
                <a:close/>
              </a:path>
            </a:pathLst>
          </a:custGeom>
          <a:solidFill>
            <a:srgbClr val="FFC100"/>
          </a:solidFill>
          <a:ln/>
        </p:spPr>
      </p:sp>
      <p:pic>
        <p:nvPicPr>
          <p:cNvPr id="4" name="image_QwE_Vriut6" descr="https://osspub.smallppt.com/uploadFile/146_6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3859" y="1566367"/>
            <a:ext cx="2011680" cy="201168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0"/>
            <a:ext cx="4572000" cy="50463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Understanding Model Context Protocol for Enhanced AI Communication</a:t>
            </a:r>
            <a:endParaRPr lang="en-US" sz="115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5109667" y="1109167"/>
            <a:ext cx="5143500" cy="2926080"/>
          </a:xfrm>
          <a:custGeom>
            <a:avLst/>
            <a:gdLst/>
            <a:ahLst/>
            <a:cxnLst/>
            <a:rect l="l" t="t" r="r" b="b"/>
            <a:pathLst>
              <a:path w="5143500" h="2926080">
                <a:moveTo>
                  <a:pt x="0" y="0"/>
                </a:moveTo>
                <a:lnTo>
                  <a:pt x="5143500" y="0"/>
                </a:lnTo>
                <a:lnTo>
                  <a:pt x="5143500" y="2194560"/>
                </a:lnTo>
                <a:cubicBezTo>
                  <a:pt x="2828925" y="2048256"/>
                  <a:pt x="2828925" y="3511296"/>
                  <a:pt x="0" y="2633472"/>
                </a:cubicBezTo>
                <a:close/>
              </a:path>
            </a:pathLst>
          </a:custGeom>
          <a:solidFill>
            <a:srgbClr val="FFC100"/>
          </a:solidFill>
          <a:ln/>
        </p:spPr>
      </p:sp>
      <p:pic>
        <p:nvPicPr>
          <p:cNvPr id="3" name="image_moBVfAtf7s" descr="https://osspub.smallppt.com/uploadFile/146_4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485900"/>
            <a:ext cx="2743200" cy="274320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74320"/>
            <a:ext cx="5029200" cy="69508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Defining MCP's Role in AI Model Understanding and Interaction</a:t>
            </a:r>
            <a:endParaRPr lang="en-US" sz="1152" dirty="0"/>
          </a:p>
        </p:txBody>
      </p:sp>
      <p:sp>
        <p:nvSpPr>
          <p:cNvPr id="5" name="Text 2"/>
          <p:cNvSpPr/>
          <p:nvPr/>
        </p:nvSpPr>
        <p:spPr>
          <a:xfrm>
            <a:off x="914400" y="1324966"/>
            <a:ext cx="4782312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MCP for AI</a:t>
            </a:r>
            <a:endParaRPr lang="en-US" sz="1152" dirty="0"/>
          </a:p>
        </p:txBody>
      </p:sp>
      <p:sp>
        <p:nvSpPr>
          <p:cNvPr id="6" name="Text 3"/>
          <p:cNvSpPr/>
          <p:nvPr/>
        </p:nvSpPr>
        <p:spPr>
          <a:xfrm>
            <a:off x="914400" y="1699870"/>
            <a:ext cx="4782312" cy="62164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MCP is key to developing AI systems that can effectively process and respond to complex contextual cues, thereby improving overall system intelligence and responsiveness.</a:t>
            </a:r>
            <a:endParaRPr lang="en-US" sz="1152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1324966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2945282"/>
            <a:ext cx="4782312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People-Centric AI Context</a:t>
            </a:r>
            <a:endParaRPr lang="en-US" sz="1152" dirty="0"/>
          </a:p>
        </p:txBody>
      </p:sp>
      <p:sp>
        <p:nvSpPr>
          <p:cNvPr id="9" name="Text 5"/>
          <p:cNvSpPr/>
          <p:nvPr/>
        </p:nvSpPr>
        <p:spPr>
          <a:xfrm>
            <a:off x="914400" y="3320186"/>
            <a:ext cx="4782312" cy="62164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plays a vital role in fostering people-centric AI communication by ensuring models grasp human nuances and intentions, leading to more intuitive and empathetic interactions with users.</a:t>
            </a:r>
            <a:endParaRPr lang="en-US" sz="1152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" y="2945282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custGeom>
            <a:avLst/>
            <a:gdLst/>
            <a:ahLst/>
            <a:cxnLst/>
            <a:rect l="l" t="t" r="r" b="b"/>
            <a:pathLst>
              <a:path w="9144000" h="1280160">
                <a:moveTo>
                  <a:pt x="0" y="0"/>
                </a:moveTo>
                <a:lnTo>
                  <a:pt x="9144000" y="0"/>
                </a:lnTo>
                <a:lnTo>
                  <a:pt x="9144000" y="1280160"/>
                </a:lnTo>
                <a:lnTo>
                  <a:pt x="0" y="1280160"/>
                </a:lnTo>
                <a:close/>
              </a:path>
            </a:pathLst>
          </a:custGeom>
          <a:solidFill>
            <a:srgbClr val="FFC100"/>
          </a:solidFill>
          <a:ln/>
        </p:spPr>
      </p:sp>
      <p:pic>
        <p:nvPicPr>
          <p:cNvPr id="3" name="image_TCt4sd8Cq_" descr="https://osspub.smallppt.com/uploadFile/146_3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05202"/>
            <a:ext cx="1828800" cy="1828800"/>
          </a:xfrm>
          <a:prstGeom prst="ellipse">
            <a:avLst/>
          </a:prstGeom>
        </p:spPr>
      </p:pic>
      <p:pic>
        <p:nvPicPr>
          <p:cNvPr id="4" name="image_5M_yySzG3c" descr="https://osspub.smallppt.com/uploadFile/146_2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305202"/>
            <a:ext cx="1828800" cy="1828800"/>
          </a:xfrm>
          <a:prstGeom prst="ellipse">
            <a:avLst/>
          </a:prstGeom>
        </p:spPr>
      </p:pic>
      <p:pic>
        <p:nvPicPr>
          <p:cNvPr id="5" name="image_YfYElcXiQ_" descr="https://osspub.smallppt.com/uploadFile/146_5.gif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05202"/>
            <a:ext cx="1828800" cy="1828800"/>
          </a:xfrm>
          <a:prstGeom prst="ellipse">
            <a:avLst/>
          </a:prstGeom>
        </p:spPr>
      </p:pic>
      <p:sp>
        <p:nvSpPr>
          <p:cNvPr id="6" name="Text 1"/>
          <p:cNvSpPr/>
          <p:nvPr/>
        </p:nvSpPr>
        <p:spPr>
          <a:xfrm>
            <a:off x="457200" y="2377440"/>
            <a:ext cx="8229600" cy="69508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Components of Model Context Protocol for Semantic Alignment</a:t>
            </a:r>
            <a:endParaRPr lang="en-US" sz="1152" dirty="0"/>
          </a:p>
        </p:txBody>
      </p:sp>
      <p:sp>
        <p:nvSpPr>
          <p:cNvPr id="7" name="Text 2"/>
          <p:cNvSpPr/>
          <p:nvPr/>
        </p:nvSpPr>
        <p:spPr>
          <a:xfrm>
            <a:off x="457200" y="3342132"/>
            <a:ext cx="822960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Components for Context</a:t>
            </a:r>
            <a:endParaRPr lang="en-US" sz="1152" dirty="0"/>
          </a:p>
        </p:txBody>
      </p:sp>
      <p:sp>
        <p:nvSpPr>
          <p:cNvPr id="8" name="Text 3"/>
          <p:cNvSpPr/>
          <p:nvPr/>
        </p:nvSpPr>
        <p:spPr>
          <a:xfrm>
            <a:off x="457200" y="3542843"/>
            <a:ext cx="8229600" cy="34561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components of MCP include mechanisms for context representation, propagation, and resolution, ensuring that AI models maintain a consistent and accurate understanding across various interactions and data sources.</a:t>
            </a:r>
            <a:endParaRPr lang="en-US" sz="115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9508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Implementing MCP for Robust and Coherent AI System Responses</a:t>
            </a:r>
            <a:endParaRPr lang="en-US" sz="1152" dirty="0"/>
          </a:p>
        </p:txBody>
      </p:sp>
      <p:sp>
        <p:nvSpPr>
          <p:cNvPr id="3" name="Text 1"/>
          <p:cNvSpPr/>
          <p:nvPr/>
        </p:nvSpPr>
        <p:spPr>
          <a:xfrm>
            <a:off x="822960" y="1865376"/>
            <a:ext cx="2377495" cy="106041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Achieving normal system coherence requires careful design and implementation of communication protocols, ensuring all components work together seamlessly to produce predictable and reliable outcomes.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822960" y="1307592"/>
            <a:ext cx="237744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System Coherence</a:t>
            </a:r>
            <a:endParaRPr lang="en-US" sz="1152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37160" y="0"/>
                </a:moveTo>
                <a:lnTo>
                  <a:pt x="137160" y="137160"/>
                </a:lnTo>
                <a:lnTo>
                  <a:pt x="0" y="137160"/>
                </a:lnTo>
                <a:lnTo>
                  <a:pt x="0" y="228600"/>
                </a:lnTo>
                <a:lnTo>
                  <a:pt x="137160" y="228600"/>
                </a:lnTo>
                <a:lnTo>
                  <a:pt x="137160" y="365760"/>
                </a:lnTo>
                <a:lnTo>
                  <a:pt x="228600" y="365760"/>
                </a:lnTo>
                <a:lnTo>
                  <a:pt x="228600" y="228600"/>
                </a:lnTo>
                <a:lnTo>
                  <a:pt x="365760" y="228600"/>
                </a:lnTo>
                <a:lnTo>
                  <a:pt x="365760" y="137160"/>
                </a:lnTo>
                <a:lnTo>
                  <a:pt x="228600" y="137160"/>
                </a:lnTo>
                <a:lnTo>
                  <a:pt x="228600" y="0"/>
                </a:lnTo>
                <a:close/>
              </a:path>
            </a:pathLst>
          </a:custGeom>
          <a:solidFill>
            <a:srgbClr val="FFC1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07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2" dirty="0"/>
          </a:p>
        </p:txBody>
      </p:sp>
      <p:sp>
        <p:nvSpPr>
          <p:cNvPr id="7" name="Text 5"/>
          <p:cNvSpPr/>
          <p:nvPr/>
        </p:nvSpPr>
        <p:spPr>
          <a:xfrm>
            <a:off x="3840535" y="1865376"/>
            <a:ext cx="2377495" cy="120672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Implementing MCP involves integrating its protocols into AI architectures, enabling models to dynamically adapt their responses based on real-time contextual shifts and user feedback, ensuring relevance.</a:t>
            </a:r>
            <a:endParaRPr lang="en-US" sz="1152" dirty="0"/>
          </a:p>
        </p:txBody>
      </p:sp>
      <p:sp>
        <p:nvSpPr>
          <p:cNvPr id="8" name="Text 6"/>
          <p:cNvSpPr/>
          <p:nvPr/>
        </p:nvSpPr>
        <p:spPr>
          <a:xfrm>
            <a:off x="3840535" y="1307592"/>
            <a:ext cx="2377495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Implementing MCP for AI</a:t>
            </a:r>
            <a:endParaRPr lang="en-US" sz="1152" dirty="0"/>
          </a:p>
        </p:txBody>
      </p:sp>
      <p:sp>
        <p:nvSpPr>
          <p:cNvPr id="9" name="Shape 7"/>
          <p:cNvSpPr/>
          <p:nvPr/>
        </p:nvSpPr>
        <p:spPr>
          <a:xfrm>
            <a:off x="3474775" y="130759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28016"/>
                </a:moveTo>
                <a:lnTo>
                  <a:pt x="365760" y="128016"/>
                </a:lnTo>
                <a:lnTo>
                  <a:pt x="365760" y="237744"/>
                </a:lnTo>
                <a:lnTo>
                  <a:pt x="0" y="237744"/>
                </a:lnTo>
                <a:close/>
              </a:path>
            </a:pathLst>
          </a:custGeom>
          <a:solidFill>
            <a:srgbClr val="FFC100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75" y="1307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2" dirty="0"/>
          </a:p>
        </p:txBody>
      </p:sp>
      <p:sp>
        <p:nvSpPr>
          <p:cNvPr id="11" name="Text 9"/>
          <p:cNvSpPr/>
          <p:nvPr/>
        </p:nvSpPr>
        <p:spPr>
          <a:xfrm>
            <a:off x="822960" y="3587534"/>
            <a:ext cx="2377495" cy="106041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implementation supports people-centric AI by enabling systems to generate coherent and contextually appropriate responses, making interactions feel more natural and aligned with human expectations.</a:t>
            </a:r>
            <a:endParaRPr lang="en-US" sz="1152" dirty="0"/>
          </a:p>
        </p:txBody>
      </p:sp>
      <p:sp>
        <p:nvSpPr>
          <p:cNvPr id="12" name="Text 10"/>
          <p:cNvSpPr/>
          <p:nvPr/>
        </p:nvSpPr>
        <p:spPr>
          <a:xfrm>
            <a:off x="822960" y="3029750"/>
            <a:ext cx="2377495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People-Centric AI Coherence</a:t>
            </a:r>
            <a:endParaRPr lang="en-US" sz="1152" dirty="0"/>
          </a:p>
        </p:txBody>
      </p:sp>
      <p:sp>
        <p:nvSpPr>
          <p:cNvPr id="13" name="Shape 11"/>
          <p:cNvSpPr/>
          <p:nvPr/>
        </p:nvSpPr>
        <p:spPr>
          <a:xfrm>
            <a:off x="457200" y="302975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73152" y="0"/>
                </a:moveTo>
                <a:lnTo>
                  <a:pt x="0" y="73152"/>
                </a:lnTo>
                <a:lnTo>
                  <a:pt x="109728" y="182880"/>
                </a:lnTo>
                <a:lnTo>
                  <a:pt x="0" y="292608"/>
                </a:lnTo>
                <a:lnTo>
                  <a:pt x="73152" y="365760"/>
                </a:lnTo>
                <a:lnTo>
                  <a:pt x="182880" y="256032"/>
                </a:lnTo>
                <a:lnTo>
                  <a:pt x="292608" y="365760"/>
                </a:lnTo>
                <a:lnTo>
                  <a:pt x="365760" y="292608"/>
                </a:lnTo>
                <a:lnTo>
                  <a:pt x="256032" y="182880"/>
                </a:lnTo>
                <a:lnTo>
                  <a:pt x="365760" y="73152"/>
                </a:lnTo>
                <a:lnTo>
                  <a:pt x="292608" y="0"/>
                </a:lnTo>
                <a:lnTo>
                  <a:pt x="182880" y="109728"/>
                </a:lnTo>
                <a:lnTo>
                  <a:pt x="73152" y="0"/>
                </a:lnTo>
                <a:close/>
              </a:path>
            </a:pathLst>
          </a:custGeom>
          <a:solidFill>
            <a:srgbClr val="FFC1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2975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52" dirty="0"/>
          </a:p>
        </p:txBody>
      </p:sp>
      <p:sp>
        <p:nvSpPr>
          <p:cNvPr id="15" name="Text 13"/>
          <p:cNvSpPr/>
          <p:nvPr/>
        </p:nvSpPr>
        <p:spPr>
          <a:xfrm>
            <a:off x="3840535" y="3587534"/>
            <a:ext cx="2377495" cy="120672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Implementing MCP leads to more robust and coherent AI system responses by providing a structured framework for context management, which is essential for handling complex and dynamic operational environments.</a:t>
            </a:r>
            <a:endParaRPr lang="en-US" sz="1152" dirty="0"/>
          </a:p>
        </p:txBody>
      </p:sp>
      <p:sp>
        <p:nvSpPr>
          <p:cNvPr id="16" name="Text 14"/>
          <p:cNvSpPr/>
          <p:nvPr/>
        </p:nvSpPr>
        <p:spPr>
          <a:xfrm>
            <a:off x="3840535" y="3029750"/>
            <a:ext cx="2377495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AI Responses</a:t>
            </a:r>
            <a:endParaRPr lang="en-US" sz="1152" dirty="0"/>
          </a:p>
        </p:txBody>
      </p:sp>
      <p:sp>
        <p:nvSpPr>
          <p:cNvPr id="17" name="Shape 15"/>
          <p:cNvSpPr/>
          <p:nvPr/>
        </p:nvSpPr>
        <p:spPr>
          <a:xfrm>
            <a:off x="3474775" y="302975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46304"/>
                </a:moveTo>
                <a:lnTo>
                  <a:pt x="365760" y="146304"/>
                </a:lnTo>
                <a:lnTo>
                  <a:pt x="365760" y="219456"/>
                </a:lnTo>
                <a:lnTo>
                  <a:pt x="0" y="219456"/>
                </a:lnTo>
                <a:close/>
                <a:moveTo>
                  <a:pt x="182880" y="0"/>
                </a:moveTo>
                <a:cubicBezTo>
                  <a:pt x="208114" y="0"/>
                  <a:pt x="228600" y="20486"/>
                  <a:pt x="228600" y="45720"/>
                </a:cubicBezTo>
                <a:cubicBezTo>
                  <a:pt x="228600" y="70954"/>
                  <a:pt x="208114" y="91440"/>
                  <a:pt x="182880" y="91440"/>
                </a:cubicBezTo>
                <a:cubicBezTo>
                  <a:pt x="157646" y="91440"/>
                  <a:pt x="137160" y="70954"/>
                  <a:pt x="137160" y="45720"/>
                </a:cubicBezTo>
                <a:cubicBezTo>
                  <a:pt x="137160" y="20486"/>
                  <a:pt x="157646" y="0"/>
                  <a:pt x="182880" y="0"/>
                </a:cubicBezTo>
                <a:moveTo>
                  <a:pt x="182880" y="365760"/>
                </a:moveTo>
                <a:cubicBezTo>
                  <a:pt x="157646" y="365760"/>
                  <a:pt x="137160" y="345274"/>
                  <a:pt x="137160" y="320040"/>
                </a:cubicBezTo>
                <a:cubicBezTo>
                  <a:pt x="137160" y="294806"/>
                  <a:pt x="157646" y="274320"/>
                  <a:pt x="182880" y="274320"/>
                </a:cubicBezTo>
                <a:cubicBezTo>
                  <a:pt x="208114" y="274320"/>
                  <a:pt x="228600" y="294806"/>
                  <a:pt x="228600" y="320040"/>
                </a:cubicBezTo>
                <a:cubicBezTo>
                  <a:pt x="228600" y="345274"/>
                  <a:pt x="208114" y="365760"/>
                  <a:pt x="182880" y="365760"/>
                </a:cubicBezTo>
              </a:path>
            </a:pathLst>
          </a:custGeom>
          <a:solidFill>
            <a:srgbClr val="FFC100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75" y="302975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52" dirty="0"/>
          </a:p>
        </p:txBody>
      </p:sp>
      <p:pic>
        <p:nvPicPr>
          <p:cNvPr id="19" name="image_JpBQ93KfdU" descr="https://osspub.smallppt.com/uploadFile/146_3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429207"/>
            <a:ext cx="2286000" cy="2286000"/>
          </a:xfrm>
          <a:prstGeom prst="ellipse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466517"/>
            <a:ext cx="2553367" cy="2553367"/>
          </a:xfrm>
          <a:custGeom>
            <a:avLst/>
            <a:gdLst/>
            <a:ahLst/>
            <a:cxnLst/>
            <a:rect l="l" t="t" r="r" b="b"/>
            <a:pathLst>
              <a:path w="2553367" h="2553367">
                <a:moveTo>
                  <a:pt x="1276683" y="0"/>
                </a:moveTo>
                <a:cubicBezTo>
                  <a:pt x="1981304" y="0"/>
                  <a:pt x="2553367" y="572063"/>
                  <a:pt x="2553367" y="1276683"/>
                </a:cubicBezTo>
                <a:cubicBezTo>
                  <a:pt x="2553367" y="1981304"/>
                  <a:pt x="1981304" y="2553367"/>
                  <a:pt x="1276683" y="2553367"/>
                </a:cubicBezTo>
                <a:cubicBezTo>
                  <a:pt x="572063" y="2553367"/>
                  <a:pt x="0" y="1981304"/>
                  <a:pt x="0" y="1276683"/>
                </a:cubicBezTo>
                <a:cubicBezTo>
                  <a:pt x="0" y="572063"/>
                  <a:pt x="572063" y="0"/>
                  <a:pt x="1276683" y="0"/>
                </a:cubicBezTo>
                <a:close/>
              </a:path>
            </a:pathLst>
          </a:custGeom>
          <a:solidFill>
            <a:srgbClr val="FFC100"/>
          </a:solidFill>
          <a:ln/>
        </p:spPr>
      </p:sp>
      <p:pic>
        <p:nvPicPr>
          <p:cNvPr id="3" name="image_46pw335z6y" descr="https://osspub.smallppt.com/uploadFile/146_1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251" y="1607902"/>
            <a:ext cx="2432005" cy="2411934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74320"/>
            <a:ext cx="8229600" cy="69508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Context Protocol (MCP) and A2A Protocol Implementation Strategies</a:t>
            </a:r>
            <a:endParaRPr lang="en-US" sz="1152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49040" y="1097280"/>
            <a:ext cx="4937760" cy="30175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749040" y="4111142"/>
            <a:ext cx="4937760" cy="34375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Implementation of AI Communication Protocols(Effectiveness Score (%))</a:t>
            </a:r>
            <a:endParaRPr lang="en-US" sz="115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5109667" y="1109167"/>
            <a:ext cx="5143500" cy="2926080"/>
          </a:xfrm>
          <a:custGeom>
            <a:avLst/>
            <a:gdLst/>
            <a:ahLst/>
            <a:cxnLst/>
            <a:rect l="l" t="t" r="r" b="b"/>
            <a:pathLst>
              <a:path w="5143500" h="2926080">
                <a:moveTo>
                  <a:pt x="0" y="0"/>
                </a:moveTo>
                <a:lnTo>
                  <a:pt x="5143500" y="0"/>
                </a:lnTo>
                <a:lnTo>
                  <a:pt x="5143500" y="2194560"/>
                </a:lnTo>
                <a:cubicBezTo>
                  <a:pt x="2828925" y="2048256"/>
                  <a:pt x="2828925" y="3511296"/>
                  <a:pt x="0" y="2633472"/>
                </a:cubicBezTo>
                <a:close/>
              </a:path>
            </a:pathLst>
          </a:custGeom>
          <a:solidFill>
            <a:srgbClr val="FFC100"/>
          </a:solidFill>
          <a:ln/>
        </p:spPr>
      </p:sp>
      <p:sp>
        <p:nvSpPr>
          <p:cNvPr id="3" name="Shape 1"/>
          <p:cNvSpPr/>
          <p:nvPr/>
        </p:nvSpPr>
        <p:spPr>
          <a:xfrm>
            <a:off x="5352419" y="1474927"/>
            <a:ext cx="2194560" cy="2194560"/>
          </a:xfrm>
          <a:custGeom>
            <a:avLst/>
            <a:gdLst/>
            <a:ahLst/>
            <a:cxnLst/>
            <a:rect l="l" t="t" r="r" b="b"/>
            <a:pathLst>
              <a:path w="2194560" h="2194560">
                <a:moveTo>
                  <a:pt x="1097280" y="0"/>
                </a:moveTo>
                <a:cubicBezTo>
                  <a:pt x="1702885" y="0"/>
                  <a:pt x="2194560" y="491675"/>
                  <a:pt x="2194560" y="1097280"/>
                </a:cubicBezTo>
                <a:cubicBezTo>
                  <a:pt x="2194560" y="1702885"/>
                  <a:pt x="1702885" y="2194560"/>
                  <a:pt x="1097280" y="2194560"/>
                </a:cubicBezTo>
                <a:cubicBezTo>
                  <a:pt x="491675" y="2194560"/>
                  <a:pt x="0" y="1702885"/>
                  <a:pt x="0" y="1097280"/>
                </a:cubicBezTo>
                <a:cubicBezTo>
                  <a:pt x="0" y="491675"/>
                  <a:pt x="491675" y="0"/>
                  <a:pt x="1097280" y="0"/>
                </a:cubicBezTo>
                <a:close/>
              </a:path>
            </a:pathLst>
          </a:custGeom>
          <a:solidFill>
            <a:srgbClr val="FFC100"/>
          </a:solidFill>
          <a:ln/>
        </p:spPr>
      </p:sp>
      <p:pic>
        <p:nvPicPr>
          <p:cNvPr id="4" name="image_QwE_Vriut6" descr="https://osspub.smallppt.com/uploadFile/146_6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3859" y="1566367"/>
            <a:ext cx="2011680" cy="201168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0"/>
            <a:ext cx="4572000" cy="50463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Exploring Agent-to-Agent Protocol for Seamless Multi-Agent Collaboration</a:t>
            </a:r>
            <a:endParaRPr lang="en-US" sz="115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71800" y="2571293"/>
            <a:ext cx="2971800" cy="2572207"/>
          </a:xfrm>
          <a:custGeom>
            <a:avLst/>
            <a:gdLst/>
            <a:ahLst/>
            <a:cxnLst/>
            <a:rect l="l" t="t" r="r" b="b"/>
            <a:pathLst>
              <a:path w="2971800" h="2572207">
                <a:moveTo>
                  <a:pt x="0" y="0"/>
                </a:moveTo>
                <a:lnTo>
                  <a:pt x="2971800" y="0"/>
                </a:lnTo>
                <a:lnTo>
                  <a:pt x="2971800" y="2572207"/>
                </a:lnTo>
                <a:lnTo>
                  <a:pt x="0" y="2572207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971800" cy="2572207"/>
          </a:xfrm>
          <a:custGeom>
            <a:avLst/>
            <a:gdLst/>
            <a:ahLst/>
            <a:cxnLst/>
            <a:rect l="l" t="t" r="r" b="b"/>
            <a:pathLst>
              <a:path w="2971800" h="2572207">
                <a:moveTo>
                  <a:pt x="0" y="0"/>
                </a:moveTo>
                <a:lnTo>
                  <a:pt x="2971800" y="0"/>
                </a:lnTo>
                <a:lnTo>
                  <a:pt x="2971800" y="2572207"/>
                </a:lnTo>
                <a:lnTo>
                  <a:pt x="0" y="2572207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/>
        </p:spPr>
      </p:sp>
      <p:pic>
        <p:nvPicPr>
          <p:cNvPr id="4" name="Image 0" descr="https://osspub.smallppt.com/uploadFile/146_5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14854"/>
            <a:ext cx="2286000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274320"/>
            <a:ext cx="2743200" cy="120729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Fundamentals of A2A Protocol in Distributed AI Environments</a:t>
            </a:r>
            <a:endParaRPr lang="en-US" sz="1152" dirty="0"/>
          </a:p>
        </p:txBody>
      </p:sp>
      <p:sp>
        <p:nvSpPr>
          <p:cNvPr id="6" name="Shape 3"/>
          <p:cNvSpPr/>
          <p:nvPr/>
        </p:nvSpPr>
        <p:spPr>
          <a:xfrm>
            <a:off x="3200400" y="0"/>
            <a:ext cx="5943600" cy="5143500"/>
          </a:xfrm>
          <a:custGeom>
            <a:avLst/>
            <a:gdLst/>
            <a:ahLst/>
            <a:cxnLst/>
            <a:rect l="l" t="t" r="r" b="b"/>
            <a:pathLst>
              <a:path w="5943600" h="5143500">
                <a:moveTo>
                  <a:pt x="0" y="0"/>
                </a:moveTo>
                <a:lnTo>
                  <a:pt x="5943600" y="0"/>
                </a:lnTo>
                <a:lnTo>
                  <a:pt x="59436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C100"/>
          </a:solidFill>
          <a:ln/>
        </p:spPr>
      </p:sp>
      <p:sp>
        <p:nvSpPr>
          <p:cNvPr id="7" name="Shape 4"/>
          <p:cNvSpPr/>
          <p:nvPr/>
        </p:nvSpPr>
        <p:spPr>
          <a:xfrm>
            <a:off x="6172200" y="2571293"/>
            <a:ext cx="2971800" cy="2572207"/>
          </a:xfrm>
          <a:custGeom>
            <a:avLst/>
            <a:gdLst/>
            <a:ahLst/>
            <a:cxnLst/>
            <a:rect l="l" t="t" r="r" b="b"/>
            <a:pathLst>
              <a:path w="2971800" h="2572207">
                <a:moveTo>
                  <a:pt x="0" y="0"/>
                </a:moveTo>
                <a:lnTo>
                  <a:pt x="2971800" y="0"/>
                </a:lnTo>
                <a:lnTo>
                  <a:pt x="2971800" y="2572207"/>
                </a:lnTo>
                <a:lnTo>
                  <a:pt x="0" y="2572207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200400" y="0"/>
            <a:ext cx="2971800" cy="2572207"/>
          </a:xfrm>
          <a:custGeom>
            <a:avLst/>
            <a:gdLst/>
            <a:ahLst/>
            <a:cxnLst/>
            <a:rect l="l" t="t" r="r" b="b"/>
            <a:pathLst>
              <a:path w="2971800" h="2572207">
                <a:moveTo>
                  <a:pt x="0" y="0"/>
                </a:moveTo>
                <a:lnTo>
                  <a:pt x="2971800" y="0"/>
                </a:lnTo>
                <a:lnTo>
                  <a:pt x="2971800" y="2572207"/>
                </a:lnTo>
                <a:lnTo>
                  <a:pt x="0" y="2572207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3406140" y="195682"/>
            <a:ext cx="270662" cy="51192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FFC100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3406140" y="353102"/>
            <a:ext cx="2560320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A2A Protocol's Foundational Aspects</a:t>
            </a:r>
            <a:endParaRPr lang="en-US" sz="1152" dirty="0"/>
          </a:p>
        </p:txBody>
      </p:sp>
      <p:sp>
        <p:nvSpPr>
          <p:cNvPr id="11" name="Text 8"/>
          <p:cNvSpPr/>
          <p:nvPr/>
        </p:nvSpPr>
        <p:spPr>
          <a:xfrm>
            <a:off x="3406140" y="728006"/>
            <a:ext cx="2560320" cy="76795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segment outlines the essential components and architectural considerations for implementing robust A2A protocols in complex AI ecosystems.</a:t>
            </a:r>
            <a:endParaRPr lang="en-US" sz="1152" dirty="0"/>
          </a:p>
        </p:txBody>
      </p:sp>
      <p:sp>
        <p:nvSpPr>
          <p:cNvPr id="12" name="Text 9"/>
          <p:cNvSpPr/>
          <p:nvPr/>
        </p:nvSpPr>
        <p:spPr>
          <a:xfrm>
            <a:off x="6377940" y="195996"/>
            <a:ext cx="270662" cy="51192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FFE699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6377940" y="353102"/>
            <a:ext cx="2560320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People-Centric AI Communication</a:t>
            </a:r>
            <a:endParaRPr lang="en-US" sz="1152" dirty="0"/>
          </a:p>
        </p:txBody>
      </p:sp>
      <p:sp>
        <p:nvSpPr>
          <p:cNvPr id="14" name="Text 11"/>
          <p:cNvSpPr/>
          <p:nvPr/>
        </p:nvSpPr>
        <p:spPr>
          <a:xfrm>
            <a:off x="6377940" y="728006"/>
            <a:ext cx="2560320" cy="76795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how A2A protocols facilitate human-like communication patterns within AI systems, emphasizing user experience and intuitive interactions.</a:t>
            </a:r>
            <a:endParaRPr lang="en-US" sz="1152" dirty="0"/>
          </a:p>
        </p:txBody>
      </p:sp>
      <p:sp>
        <p:nvSpPr>
          <p:cNvPr id="15" name="Text 12"/>
          <p:cNvSpPr/>
          <p:nvPr/>
        </p:nvSpPr>
        <p:spPr>
          <a:xfrm>
            <a:off x="3406140" y="2767289"/>
            <a:ext cx="270662" cy="51192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FFE699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52" dirty="0"/>
          </a:p>
        </p:txBody>
      </p:sp>
      <p:sp>
        <p:nvSpPr>
          <p:cNvPr id="16" name="Text 13"/>
          <p:cNvSpPr/>
          <p:nvPr/>
        </p:nvSpPr>
        <p:spPr>
          <a:xfrm>
            <a:off x="3406140" y="2924395"/>
            <a:ext cx="2560320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Multi-Agent Collaboration</a:t>
            </a:r>
            <a:endParaRPr lang="en-US" sz="1152" dirty="0"/>
          </a:p>
        </p:txBody>
      </p:sp>
      <p:sp>
        <p:nvSpPr>
          <p:cNvPr id="17" name="Text 14"/>
          <p:cNvSpPr/>
          <p:nvPr/>
        </p:nvSpPr>
        <p:spPr>
          <a:xfrm>
            <a:off x="3406140" y="3299299"/>
            <a:ext cx="2560320" cy="76795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the core mechanisms of A2A that enable efficient and effective collaboration among diverse AI agents in distributed environments.</a:t>
            </a:r>
            <a:endParaRPr lang="en-US" sz="1152" dirty="0"/>
          </a:p>
        </p:txBody>
      </p:sp>
      <p:sp>
        <p:nvSpPr>
          <p:cNvPr id="18" name="Text 15"/>
          <p:cNvSpPr/>
          <p:nvPr/>
        </p:nvSpPr>
        <p:spPr>
          <a:xfrm>
            <a:off x="6377940" y="2767289"/>
            <a:ext cx="270662" cy="51192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FFC100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52" dirty="0"/>
          </a:p>
        </p:txBody>
      </p:sp>
      <p:sp>
        <p:nvSpPr>
          <p:cNvPr id="19" name="Text 16"/>
          <p:cNvSpPr/>
          <p:nvPr/>
        </p:nvSpPr>
        <p:spPr>
          <a:xfrm>
            <a:off x="6377940" y="2924395"/>
            <a:ext cx="2560320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MCP and A2A Basics</a:t>
            </a:r>
            <a:endParaRPr lang="en-US" sz="1152" dirty="0"/>
          </a:p>
        </p:txBody>
      </p:sp>
      <p:sp>
        <p:nvSpPr>
          <p:cNvPr id="20" name="Text 17"/>
          <p:cNvSpPr/>
          <p:nvPr/>
        </p:nvSpPr>
        <p:spPr>
          <a:xfrm>
            <a:off x="6377940" y="3299299"/>
            <a:ext cx="2560320" cy="34561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section delves into the foundational principles of Model Context Protocol (MCP) and Agent-to-Agent (A2A) Protocol, highlighting their roles in modern AI systems.</a:t>
            </a:r>
            <a:endParaRPr lang="en-US" sz="115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9508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Designing Effective A2A Communication for Collaborative Agent Networks</a:t>
            </a:r>
            <a:endParaRPr lang="en-US" sz="1152" dirty="0"/>
          </a:p>
        </p:txBody>
      </p:sp>
      <p:sp>
        <p:nvSpPr>
          <p:cNvPr id="3" name="Text 1"/>
          <p:cNvSpPr/>
          <p:nvPr/>
        </p:nvSpPr>
        <p:spPr>
          <a:xfrm>
            <a:off x="822960" y="1865376"/>
            <a:ext cx="2377495" cy="91411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part details the development of robust communication frameworks that support complex interactions and data exchange among collaborative agents.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822960" y="1307592"/>
            <a:ext cx="2377440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Communication Frameworks</a:t>
            </a:r>
            <a:endParaRPr lang="en-US" sz="1152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37160" y="0"/>
                </a:moveTo>
                <a:lnTo>
                  <a:pt x="137160" y="137160"/>
                </a:lnTo>
                <a:lnTo>
                  <a:pt x="0" y="137160"/>
                </a:lnTo>
                <a:lnTo>
                  <a:pt x="0" y="228600"/>
                </a:lnTo>
                <a:lnTo>
                  <a:pt x="137160" y="228600"/>
                </a:lnTo>
                <a:lnTo>
                  <a:pt x="137160" y="365760"/>
                </a:lnTo>
                <a:lnTo>
                  <a:pt x="228600" y="365760"/>
                </a:lnTo>
                <a:lnTo>
                  <a:pt x="228600" y="228600"/>
                </a:lnTo>
                <a:lnTo>
                  <a:pt x="365760" y="228600"/>
                </a:lnTo>
                <a:lnTo>
                  <a:pt x="365760" y="137160"/>
                </a:lnTo>
                <a:lnTo>
                  <a:pt x="228600" y="137160"/>
                </a:lnTo>
                <a:lnTo>
                  <a:pt x="228600" y="0"/>
                </a:lnTo>
                <a:close/>
              </a:path>
            </a:pathLst>
          </a:custGeom>
          <a:solidFill>
            <a:srgbClr val="FFC1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07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2" dirty="0"/>
          </a:p>
        </p:txBody>
      </p:sp>
      <p:sp>
        <p:nvSpPr>
          <p:cNvPr id="7" name="Text 5"/>
          <p:cNvSpPr/>
          <p:nvPr/>
        </p:nvSpPr>
        <p:spPr>
          <a:xfrm>
            <a:off x="3840535" y="1865376"/>
            <a:ext cx="2377495" cy="76795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advanced strategies for designing A2A communication that enhances the overall efficiency and effectiveness of agent interactions.</a:t>
            </a:r>
            <a:endParaRPr lang="en-US" sz="1152" dirty="0"/>
          </a:p>
        </p:txBody>
      </p:sp>
      <p:sp>
        <p:nvSpPr>
          <p:cNvPr id="8" name="Text 6"/>
          <p:cNvSpPr/>
          <p:nvPr/>
        </p:nvSpPr>
        <p:spPr>
          <a:xfrm>
            <a:off x="3840535" y="1307592"/>
            <a:ext cx="2377495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Optimizing Agent Interaction Strategies</a:t>
            </a:r>
            <a:endParaRPr lang="en-US" sz="1152" dirty="0"/>
          </a:p>
        </p:txBody>
      </p:sp>
      <p:sp>
        <p:nvSpPr>
          <p:cNvPr id="9" name="Shape 7"/>
          <p:cNvSpPr/>
          <p:nvPr/>
        </p:nvSpPr>
        <p:spPr>
          <a:xfrm>
            <a:off x="3474775" y="130759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28016"/>
                </a:moveTo>
                <a:lnTo>
                  <a:pt x="365760" y="128016"/>
                </a:lnTo>
                <a:lnTo>
                  <a:pt x="365760" y="237744"/>
                </a:lnTo>
                <a:lnTo>
                  <a:pt x="0" y="237744"/>
                </a:lnTo>
                <a:close/>
              </a:path>
            </a:pathLst>
          </a:custGeom>
          <a:solidFill>
            <a:srgbClr val="FFC100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75" y="1307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2" dirty="0"/>
          </a:p>
        </p:txBody>
      </p:sp>
      <p:sp>
        <p:nvSpPr>
          <p:cNvPr id="11" name="Text 9"/>
          <p:cNvSpPr/>
          <p:nvPr/>
        </p:nvSpPr>
        <p:spPr>
          <a:xfrm>
            <a:off x="822960" y="3587534"/>
            <a:ext cx="2377495" cy="76795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 how designing A2A protocols with a people-centric approach can lead to more intuitive and user-friendly AI communication systems.</a:t>
            </a:r>
            <a:endParaRPr lang="en-US" sz="1152" dirty="0"/>
          </a:p>
        </p:txBody>
      </p:sp>
      <p:sp>
        <p:nvSpPr>
          <p:cNvPr id="12" name="Text 10"/>
          <p:cNvSpPr/>
          <p:nvPr/>
        </p:nvSpPr>
        <p:spPr>
          <a:xfrm>
            <a:off x="822960" y="3029750"/>
            <a:ext cx="2377495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Human-Centric Protocol Design</a:t>
            </a:r>
            <a:endParaRPr lang="en-US" sz="1152" dirty="0"/>
          </a:p>
        </p:txBody>
      </p:sp>
      <p:sp>
        <p:nvSpPr>
          <p:cNvPr id="13" name="Shape 11"/>
          <p:cNvSpPr/>
          <p:nvPr/>
        </p:nvSpPr>
        <p:spPr>
          <a:xfrm>
            <a:off x="457200" y="302975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73152" y="0"/>
                </a:moveTo>
                <a:lnTo>
                  <a:pt x="0" y="73152"/>
                </a:lnTo>
                <a:lnTo>
                  <a:pt x="109728" y="182880"/>
                </a:lnTo>
                <a:lnTo>
                  <a:pt x="0" y="292608"/>
                </a:lnTo>
                <a:lnTo>
                  <a:pt x="73152" y="365760"/>
                </a:lnTo>
                <a:lnTo>
                  <a:pt x="182880" y="256032"/>
                </a:lnTo>
                <a:lnTo>
                  <a:pt x="292608" y="365760"/>
                </a:lnTo>
                <a:lnTo>
                  <a:pt x="365760" y="292608"/>
                </a:lnTo>
                <a:lnTo>
                  <a:pt x="256032" y="182880"/>
                </a:lnTo>
                <a:lnTo>
                  <a:pt x="365760" y="73152"/>
                </a:lnTo>
                <a:lnTo>
                  <a:pt x="292608" y="0"/>
                </a:lnTo>
                <a:lnTo>
                  <a:pt x="182880" y="109728"/>
                </a:lnTo>
                <a:lnTo>
                  <a:pt x="73152" y="0"/>
                </a:lnTo>
                <a:close/>
              </a:path>
            </a:pathLst>
          </a:custGeom>
          <a:solidFill>
            <a:srgbClr val="FFC1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2975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52" dirty="0"/>
          </a:p>
        </p:txBody>
      </p:sp>
      <p:sp>
        <p:nvSpPr>
          <p:cNvPr id="15" name="Text 13"/>
          <p:cNvSpPr/>
          <p:nvPr/>
        </p:nvSpPr>
        <p:spPr>
          <a:xfrm>
            <a:off x="3840535" y="3587534"/>
            <a:ext cx="2377495" cy="91411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best practices for architecting A2A communication within multi-agent systems to ensure seamless and scalable collaboration across networks.</a:t>
            </a:r>
            <a:endParaRPr lang="en-US" sz="1152" dirty="0"/>
          </a:p>
        </p:txBody>
      </p:sp>
      <p:sp>
        <p:nvSpPr>
          <p:cNvPr id="16" name="Text 14"/>
          <p:cNvSpPr/>
          <p:nvPr/>
        </p:nvSpPr>
        <p:spPr>
          <a:xfrm>
            <a:off x="3840535" y="3029750"/>
            <a:ext cx="2377495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Architecting for Multi-Agent Systems</a:t>
            </a:r>
            <a:endParaRPr lang="en-US" sz="1152" dirty="0"/>
          </a:p>
        </p:txBody>
      </p:sp>
      <p:sp>
        <p:nvSpPr>
          <p:cNvPr id="17" name="Shape 15"/>
          <p:cNvSpPr/>
          <p:nvPr/>
        </p:nvSpPr>
        <p:spPr>
          <a:xfrm>
            <a:off x="3474775" y="302975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46304"/>
                </a:moveTo>
                <a:lnTo>
                  <a:pt x="365760" y="146304"/>
                </a:lnTo>
                <a:lnTo>
                  <a:pt x="365760" y="219456"/>
                </a:lnTo>
                <a:lnTo>
                  <a:pt x="0" y="219456"/>
                </a:lnTo>
                <a:close/>
                <a:moveTo>
                  <a:pt x="182880" y="0"/>
                </a:moveTo>
                <a:cubicBezTo>
                  <a:pt x="208114" y="0"/>
                  <a:pt x="228600" y="20486"/>
                  <a:pt x="228600" y="45720"/>
                </a:cubicBezTo>
                <a:cubicBezTo>
                  <a:pt x="228600" y="70954"/>
                  <a:pt x="208114" y="91440"/>
                  <a:pt x="182880" y="91440"/>
                </a:cubicBezTo>
                <a:cubicBezTo>
                  <a:pt x="157646" y="91440"/>
                  <a:pt x="137160" y="70954"/>
                  <a:pt x="137160" y="45720"/>
                </a:cubicBezTo>
                <a:cubicBezTo>
                  <a:pt x="137160" y="20486"/>
                  <a:pt x="157646" y="0"/>
                  <a:pt x="182880" y="0"/>
                </a:cubicBezTo>
                <a:moveTo>
                  <a:pt x="182880" y="365760"/>
                </a:moveTo>
                <a:cubicBezTo>
                  <a:pt x="157646" y="365760"/>
                  <a:pt x="137160" y="345274"/>
                  <a:pt x="137160" y="320040"/>
                </a:cubicBezTo>
                <a:cubicBezTo>
                  <a:pt x="137160" y="294806"/>
                  <a:pt x="157646" y="274320"/>
                  <a:pt x="182880" y="274320"/>
                </a:cubicBezTo>
                <a:cubicBezTo>
                  <a:pt x="208114" y="274320"/>
                  <a:pt x="228600" y="294806"/>
                  <a:pt x="228600" y="320040"/>
                </a:cubicBezTo>
                <a:cubicBezTo>
                  <a:pt x="228600" y="345274"/>
                  <a:pt x="208114" y="365760"/>
                  <a:pt x="182880" y="365760"/>
                </a:cubicBezTo>
              </a:path>
            </a:pathLst>
          </a:custGeom>
          <a:solidFill>
            <a:srgbClr val="FFC100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75" y="302975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52" dirty="0"/>
          </a:p>
        </p:txBody>
      </p:sp>
      <p:pic>
        <p:nvPicPr>
          <p:cNvPr id="19" name="image_JpBQ93KfdU" descr="https://osspub.smallppt.com/uploadFile/146_3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429207"/>
            <a:ext cx="2286000" cy="2286000"/>
          </a:xfrm>
          <a:prstGeom prst="ellipse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71800" y="2571293"/>
            <a:ext cx="2971800" cy="2572207"/>
          </a:xfrm>
          <a:custGeom>
            <a:avLst/>
            <a:gdLst/>
            <a:ahLst/>
            <a:cxnLst/>
            <a:rect l="l" t="t" r="r" b="b"/>
            <a:pathLst>
              <a:path w="2971800" h="2572207">
                <a:moveTo>
                  <a:pt x="0" y="0"/>
                </a:moveTo>
                <a:lnTo>
                  <a:pt x="2971800" y="0"/>
                </a:lnTo>
                <a:lnTo>
                  <a:pt x="2971800" y="2572207"/>
                </a:lnTo>
                <a:lnTo>
                  <a:pt x="0" y="2572207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971800" cy="2572207"/>
          </a:xfrm>
          <a:custGeom>
            <a:avLst/>
            <a:gdLst/>
            <a:ahLst/>
            <a:cxnLst/>
            <a:rect l="l" t="t" r="r" b="b"/>
            <a:pathLst>
              <a:path w="2971800" h="2572207">
                <a:moveTo>
                  <a:pt x="0" y="0"/>
                </a:moveTo>
                <a:lnTo>
                  <a:pt x="2971800" y="0"/>
                </a:lnTo>
                <a:lnTo>
                  <a:pt x="2971800" y="2572207"/>
                </a:lnTo>
                <a:lnTo>
                  <a:pt x="0" y="2572207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/>
        </p:spPr>
      </p:sp>
      <p:pic>
        <p:nvPicPr>
          <p:cNvPr id="4" name="Image 0" descr="https://osspub.smallppt.com/uploadFile/146_5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14854"/>
            <a:ext cx="2286000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274320"/>
            <a:ext cx="2743200" cy="120729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Optimizing Agent-to-Agent Interactions for Collective Intelligence</a:t>
            </a:r>
            <a:endParaRPr lang="en-US" sz="1152" dirty="0"/>
          </a:p>
        </p:txBody>
      </p:sp>
      <p:sp>
        <p:nvSpPr>
          <p:cNvPr id="6" name="Shape 3"/>
          <p:cNvSpPr/>
          <p:nvPr/>
        </p:nvSpPr>
        <p:spPr>
          <a:xfrm>
            <a:off x="3200400" y="0"/>
            <a:ext cx="5943600" cy="5143500"/>
          </a:xfrm>
          <a:custGeom>
            <a:avLst/>
            <a:gdLst/>
            <a:ahLst/>
            <a:cxnLst/>
            <a:rect l="l" t="t" r="r" b="b"/>
            <a:pathLst>
              <a:path w="5943600" h="5143500">
                <a:moveTo>
                  <a:pt x="0" y="0"/>
                </a:moveTo>
                <a:lnTo>
                  <a:pt x="5943600" y="0"/>
                </a:lnTo>
                <a:lnTo>
                  <a:pt x="59436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C100"/>
          </a:solidFill>
          <a:ln/>
        </p:spPr>
      </p:sp>
      <p:sp>
        <p:nvSpPr>
          <p:cNvPr id="7" name="Shape 4"/>
          <p:cNvSpPr/>
          <p:nvPr/>
        </p:nvSpPr>
        <p:spPr>
          <a:xfrm>
            <a:off x="6172200" y="2571293"/>
            <a:ext cx="2971800" cy="2572207"/>
          </a:xfrm>
          <a:custGeom>
            <a:avLst/>
            <a:gdLst/>
            <a:ahLst/>
            <a:cxnLst/>
            <a:rect l="l" t="t" r="r" b="b"/>
            <a:pathLst>
              <a:path w="2971800" h="2572207">
                <a:moveTo>
                  <a:pt x="0" y="0"/>
                </a:moveTo>
                <a:lnTo>
                  <a:pt x="2971800" y="0"/>
                </a:lnTo>
                <a:lnTo>
                  <a:pt x="2971800" y="2572207"/>
                </a:lnTo>
                <a:lnTo>
                  <a:pt x="0" y="2572207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200400" y="0"/>
            <a:ext cx="2971800" cy="2572207"/>
          </a:xfrm>
          <a:custGeom>
            <a:avLst/>
            <a:gdLst/>
            <a:ahLst/>
            <a:cxnLst/>
            <a:rect l="l" t="t" r="r" b="b"/>
            <a:pathLst>
              <a:path w="2971800" h="2572207">
                <a:moveTo>
                  <a:pt x="0" y="0"/>
                </a:moveTo>
                <a:lnTo>
                  <a:pt x="2971800" y="0"/>
                </a:lnTo>
                <a:lnTo>
                  <a:pt x="2971800" y="2572207"/>
                </a:lnTo>
                <a:lnTo>
                  <a:pt x="0" y="2572207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3406140" y="195682"/>
            <a:ext cx="270662" cy="51192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FFC100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3406140" y="353102"/>
            <a:ext cx="2560320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Fostering Collective AI Intelligence</a:t>
            </a:r>
            <a:endParaRPr lang="en-US" sz="1152" dirty="0"/>
          </a:p>
        </p:txBody>
      </p:sp>
      <p:sp>
        <p:nvSpPr>
          <p:cNvPr id="11" name="Text 8"/>
          <p:cNvSpPr/>
          <p:nvPr/>
        </p:nvSpPr>
        <p:spPr>
          <a:xfrm>
            <a:off x="3406140" y="728006"/>
            <a:ext cx="2560320" cy="76795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how optimized A2A interactions contribute significantly to the emergence of collective intelligence within distributed AI agent networks.</a:t>
            </a:r>
            <a:endParaRPr lang="en-US" sz="1152" dirty="0"/>
          </a:p>
        </p:txBody>
      </p:sp>
      <p:sp>
        <p:nvSpPr>
          <p:cNvPr id="12" name="Text 9"/>
          <p:cNvSpPr/>
          <p:nvPr/>
        </p:nvSpPr>
        <p:spPr>
          <a:xfrm>
            <a:off x="6377940" y="195996"/>
            <a:ext cx="270662" cy="51192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FFE699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6377940" y="353102"/>
            <a:ext cx="2560320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Maximizing Agent Network Performance</a:t>
            </a:r>
            <a:endParaRPr lang="en-US" sz="1152" dirty="0"/>
          </a:p>
        </p:txBody>
      </p:sp>
      <p:sp>
        <p:nvSpPr>
          <p:cNvPr id="14" name="Text 11"/>
          <p:cNvSpPr/>
          <p:nvPr/>
        </p:nvSpPr>
        <p:spPr>
          <a:xfrm>
            <a:off x="6377940" y="728006"/>
            <a:ext cx="2560320" cy="76795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section focuses on methodologies and tools for maximizing the overall performance and responsiveness of agent networks through optimized A2A.</a:t>
            </a:r>
            <a:endParaRPr lang="en-US" sz="1152" dirty="0"/>
          </a:p>
        </p:txBody>
      </p:sp>
      <p:sp>
        <p:nvSpPr>
          <p:cNvPr id="15" name="Text 12"/>
          <p:cNvSpPr/>
          <p:nvPr/>
        </p:nvSpPr>
        <p:spPr>
          <a:xfrm>
            <a:off x="3406140" y="2767289"/>
            <a:ext cx="270662" cy="51192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FFE699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52" dirty="0"/>
          </a:p>
        </p:txBody>
      </p:sp>
      <p:sp>
        <p:nvSpPr>
          <p:cNvPr id="16" name="Text 13"/>
          <p:cNvSpPr/>
          <p:nvPr/>
        </p:nvSpPr>
        <p:spPr>
          <a:xfrm>
            <a:off x="3406140" y="2924395"/>
            <a:ext cx="2560320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Collaboration Techniques</a:t>
            </a:r>
            <a:endParaRPr lang="en-US" sz="1152" dirty="0"/>
          </a:p>
        </p:txBody>
      </p:sp>
      <p:sp>
        <p:nvSpPr>
          <p:cNvPr id="17" name="Text 14"/>
          <p:cNvSpPr/>
          <p:nvPr/>
        </p:nvSpPr>
        <p:spPr>
          <a:xfrm>
            <a:off x="3406140" y="3299299"/>
            <a:ext cx="2560320" cy="76795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Delve into advanced techniques for improving agent-to-agent collaboration, leading to more sophisticated and intelligent collective behaviors.</a:t>
            </a:r>
            <a:endParaRPr lang="en-US" sz="1152" dirty="0"/>
          </a:p>
        </p:txBody>
      </p:sp>
      <p:sp>
        <p:nvSpPr>
          <p:cNvPr id="18" name="Text 15"/>
          <p:cNvSpPr/>
          <p:nvPr/>
        </p:nvSpPr>
        <p:spPr>
          <a:xfrm>
            <a:off x="6377940" y="2767289"/>
            <a:ext cx="270662" cy="51192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FFC100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52" dirty="0"/>
          </a:p>
        </p:txBody>
      </p:sp>
      <p:sp>
        <p:nvSpPr>
          <p:cNvPr id="19" name="Text 16"/>
          <p:cNvSpPr/>
          <p:nvPr/>
        </p:nvSpPr>
        <p:spPr>
          <a:xfrm>
            <a:off x="6377940" y="2924395"/>
            <a:ext cx="2560320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Enhancing MCP and A2A Efficiency</a:t>
            </a:r>
            <a:endParaRPr lang="en-US" sz="1152" dirty="0"/>
          </a:p>
        </p:txBody>
      </p:sp>
      <p:sp>
        <p:nvSpPr>
          <p:cNvPr id="20" name="Text 17"/>
          <p:cNvSpPr/>
          <p:nvPr/>
        </p:nvSpPr>
        <p:spPr>
          <a:xfrm>
            <a:off x="6377940" y="3299299"/>
            <a:ext cx="2560320" cy="34561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Strategies for optimizing the performance and efficiency of both Model Context Protocol and Agent-to-Agent interactions to achieve superior results.</a:t>
            </a:r>
            <a:endParaRPr lang="en-US" sz="115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466517"/>
            <a:ext cx="2553367" cy="2553367"/>
          </a:xfrm>
          <a:custGeom>
            <a:avLst/>
            <a:gdLst/>
            <a:ahLst/>
            <a:cxnLst/>
            <a:rect l="l" t="t" r="r" b="b"/>
            <a:pathLst>
              <a:path w="2553367" h="2553367">
                <a:moveTo>
                  <a:pt x="1276683" y="0"/>
                </a:moveTo>
                <a:cubicBezTo>
                  <a:pt x="1981304" y="0"/>
                  <a:pt x="2553367" y="572063"/>
                  <a:pt x="2553367" y="1276683"/>
                </a:cubicBezTo>
                <a:cubicBezTo>
                  <a:pt x="2553367" y="1981304"/>
                  <a:pt x="1981304" y="2553367"/>
                  <a:pt x="1276683" y="2553367"/>
                </a:cubicBezTo>
                <a:cubicBezTo>
                  <a:pt x="572063" y="2553367"/>
                  <a:pt x="0" y="1981304"/>
                  <a:pt x="0" y="1276683"/>
                </a:cubicBezTo>
                <a:cubicBezTo>
                  <a:pt x="0" y="572063"/>
                  <a:pt x="572063" y="0"/>
                  <a:pt x="1276683" y="0"/>
                </a:cubicBezTo>
                <a:close/>
              </a:path>
            </a:pathLst>
          </a:custGeom>
          <a:solidFill>
            <a:srgbClr val="FFC100"/>
          </a:solidFill>
          <a:ln/>
        </p:spPr>
      </p:sp>
      <p:pic>
        <p:nvPicPr>
          <p:cNvPr id="3" name="image_2btwJAj14i" descr="https://osspub.smallppt.com/uploadFile/146_1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251" y="1607902"/>
            <a:ext cx="2432005" cy="2411934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A2A Protocol Effectiveness in Distributed AI</a:t>
            </a:r>
            <a:endParaRPr lang="en-US" sz="1152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49040" y="1097280"/>
            <a:ext cx="4937760" cy="30175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749040" y="4111142"/>
            <a:ext cx="4937760" cy="34375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Effectiveness of A2A Protocol Components(Effectiveness Score (%))</a:t>
            </a:r>
            <a:endParaRPr lang="en-US" sz="115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85950"/>
            <a:ext cx="9144000" cy="2286000"/>
          </a:xfrm>
          <a:custGeom>
            <a:avLst/>
            <a:gdLst/>
            <a:ahLst/>
            <a:cxnLst/>
            <a:rect l="l" t="t" r="r" b="b"/>
            <a:pathLst>
              <a:path w="9144000" h="2286000">
                <a:moveTo>
                  <a:pt x="0" y="0"/>
                </a:moveTo>
                <a:lnTo>
                  <a:pt x="9144000" y="0"/>
                </a:lnTo>
                <a:lnTo>
                  <a:pt x="9144000" y="228600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10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0" y="2580894"/>
            <a:ext cx="4830775" cy="84110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96000"/>
              </a:lnSpc>
              <a:spcBef>
                <a:spcPts val="360"/>
              </a:spcBef>
              <a:buNone/>
            </a:pPr>
            <a:r>
              <a:rPr lang="en-US" sz="43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152" dirty="0"/>
          </a:p>
        </p:txBody>
      </p:sp>
      <p:pic>
        <p:nvPicPr>
          <p:cNvPr id="4" name="image_aRudgK1rbU" descr="https://osspub.smallppt.com/uploadFile/146_1.gif">    </p:cNvPr>
          <p:cNvPicPr>
            <a:picLocks noChangeAspect="1"/>
          </p:cNvPicPr>
          <p:nvPr/>
        </p:nvPicPr>
        <p:blipFill>
          <a:blip r:embed="rId1"/>
          <a:srcRect l="0" t="1961" r="0" b="0"/>
          <a:stretch>
            <a:fillRect/>
          </a:stretch>
        </p:blipFill>
        <p:spPr>
          <a:xfrm>
            <a:off x="6775704" y="971550"/>
            <a:ext cx="1828800" cy="1828800"/>
          </a:xfrm>
          <a:prstGeom prst="ellipse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2026-06-03T03:38:29Z</dcterms:created>
  <dcterms:modified xsi:type="dcterms:W3CDTF">2026-06-03T03:38:29Z</dcterms:modified>
</cp:coreProperties>
</file>