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253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4025" y="3737823"/>
            <a:ext cx="1568963" cy="1405677"/>
          </a:xfrm>
          <a:custGeom>
            <a:avLst/>
            <a:gdLst/>
            <a:ahLst/>
            <a:cxnLst/>
            <a:rect l="l" t="t" r="r" b="b"/>
            <a:pathLst>
              <a:path w="1568963" h="1405677">
                <a:moveTo>
                  <a:pt x="0" y="0"/>
                </a:moveTo>
                <a:lnTo>
                  <a:pt x="1568963" y="0"/>
                </a:lnTo>
                <a:lnTo>
                  <a:pt x="1568963" y="1405677"/>
                </a:lnTo>
                <a:lnTo>
                  <a:pt x="0" y="1405677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310242"/>
            <a:ext cx="512978" cy="512978"/>
          </a:xfrm>
          <a:custGeom>
            <a:avLst/>
            <a:gdLst/>
            <a:ahLst/>
            <a:cxnLst/>
            <a:rect l="l" t="t" r="r" b="b"/>
            <a:pathLst>
              <a:path w="512978" h="512978">
                <a:moveTo>
                  <a:pt x="0" y="0"/>
                </a:moveTo>
                <a:lnTo>
                  <a:pt x="512978" y="0"/>
                </a:lnTo>
                <a:lnTo>
                  <a:pt x="512978" y="512978"/>
                </a:lnTo>
                <a:lnTo>
                  <a:pt x="0" y="512978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6983273" y="365760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200400"/>
            <a:ext cx="8046720" cy="11932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People's Advanced Reasoning Models and Compute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13893"/>
            <a:ext cx="8046720" cy="4114800"/>
          </a:xfrm>
          <a:custGeom>
            <a:avLst/>
            <a:gdLst/>
            <a:ahLst/>
            <a:cxnLst/>
            <a:rect l="l" t="t" r="r" b="b"/>
            <a:pathLst>
              <a:path w="8046720" h="4114800">
                <a:moveTo>
                  <a:pt x="0" y="0"/>
                </a:moveTo>
                <a:lnTo>
                  <a:pt x="8046720" y="0"/>
                </a:lnTo>
                <a:lnTo>
                  <a:pt x="804672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3152">
            <a:solidFill>
              <a:srgbClr val="FCCE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1844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1575636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Shape 3"/>
          <p:cNvSpPr/>
          <p:nvPr/>
        </p:nvSpPr>
        <p:spPr>
          <a:xfrm flipH="1" flipV="1">
            <a:off x="7199196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7" name="Shape 4"/>
          <p:cNvSpPr/>
          <p:nvPr/>
        </p:nvSpPr>
        <p:spPr>
          <a:xfrm flipH="1" flipV="1">
            <a:off x="7652988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4537253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011680"/>
            <a:ext cx="6400800" cy="15340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Innovations in AI Reasoning and Extended Thinking Capabilities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457200"/>
            <a:ext cx="4229100" cy="422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22960"/>
            <a:ext cx="3291840" cy="10947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Claude's extended thinking for complex problem-solving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560320"/>
            <a:ext cx="3291840" cy="38619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Theme: Advanced AI Reasoning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3042209"/>
            <a:ext cx="3291840" cy="65593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theme focuses on the cutting-edge advancements in AI reasoning models, including Claude's innovative approaches.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6903720" y="365760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CCE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C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467"/>
            <a:ext cx="8046720" cy="42105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388" y="375027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731520"/>
            <a:ext cx="7680960" cy="79081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o-series advancements in reasoning architectures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1640" y="2046427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2046427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5160" y="2046427"/>
            <a:ext cx="457200" cy="4572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246120" y="1969045"/>
            <a:ext cx="0" cy="736665"/>
          </a:xfrm>
          <a:custGeom>
            <a:avLst/>
            <a:gdLst/>
            <a:ahLst/>
            <a:cxnLst/>
            <a:rect l="l" t="t" r="r" b="b"/>
            <a:pathLst>
              <a:path w="0" h="736665">
                <a:moveTo>
                  <a:pt x="0" y="0"/>
                </a:moveTo>
                <a:lnTo>
                  <a:pt x="0" y="736665"/>
                </a:lnTo>
              </a:path>
            </a:pathLst>
          </a:custGeom>
          <a:noFill/>
          <a:ln w="914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3"/>
          <p:cNvSpPr/>
          <p:nvPr/>
        </p:nvSpPr>
        <p:spPr>
          <a:xfrm>
            <a:off x="5897880" y="1969045"/>
            <a:ext cx="0" cy="736665"/>
          </a:xfrm>
          <a:custGeom>
            <a:avLst/>
            <a:gdLst/>
            <a:ahLst/>
            <a:cxnLst/>
            <a:rect l="l" t="t" r="r" b="b"/>
            <a:pathLst>
              <a:path w="0" h="736665">
                <a:moveTo>
                  <a:pt x="0" y="0"/>
                </a:moveTo>
                <a:lnTo>
                  <a:pt x="0" y="736665"/>
                </a:lnTo>
              </a:path>
            </a:pathLst>
          </a:custGeom>
          <a:noFill/>
          <a:ln w="914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Text 4"/>
          <p:cNvSpPr/>
          <p:nvPr/>
        </p:nvSpPr>
        <p:spPr>
          <a:xfrm>
            <a:off x="731520" y="2503627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Performance Metrics</a:t>
            </a:r>
            <a:endParaRPr lang="en-US" sz="1152" dirty="0"/>
          </a:p>
        </p:txBody>
      </p:sp>
      <p:sp>
        <p:nvSpPr>
          <p:cNvPr id="11" name="Text 5"/>
          <p:cNvSpPr/>
          <p:nvPr/>
        </p:nvSpPr>
        <p:spPr>
          <a:xfrm>
            <a:off x="731520" y="3140964"/>
            <a:ext cx="237744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performance metrics for the OpenAI o-series, providing a baseline for evaluating its reasoning and computational efficiency.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3383280" y="2503913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o-series Architectural Insights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3383280" y="3140964"/>
            <a:ext cx="237744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Delving into the architectural advancements of OpenAI's o-series, specifically designed to enhance reasoning capabilities.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6035040" y="2503913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Theme: AI Compute Innovations</a:t>
            </a:r>
            <a:endParaRPr lang="en-US" sz="1152" dirty="0"/>
          </a:p>
        </p:txBody>
      </p:sp>
      <p:sp>
        <p:nvSpPr>
          <p:cNvPr id="15" name="Text 9"/>
          <p:cNvSpPr/>
          <p:nvPr/>
        </p:nvSpPr>
        <p:spPr>
          <a:xfrm>
            <a:off x="6035040" y="3140964"/>
            <a:ext cx="237744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theme explores innovations in AI compute, with a focus on how the OpenAI o-series pushes boundaries.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819095" cy="422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984202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Shape 1"/>
          <p:cNvSpPr/>
          <p:nvPr/>
        </p:nvSpPr>
        <p:spPr>
          <a:xfrm>
            <a:off x="3093415" y="17556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Text 2"/>
          <p:cNvSpPr/>
          <p:nvPr/>
        </p:nvSpPr>
        <p:spPr>
          <a:xfrm>
            <a:off x="3093415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3657600" y="548640"/>
            <a:ext cx="4937760" cy="79081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R1's novel approach to computational reasoning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657600" y="1755648"/>
            <a:ext cx="4937760" cy="38619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Operational Standards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3657600" y="2054657"/>
            <a:ext cx="49377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operational standards for DeepSeek R1, ensuring reliability and predictability in its computational reasoning processes.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3093415" y="32415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10" name="Text 7"/>
          <p:cNvSpPr/>
          <p:nvPr/>
        </p:nvSpPr>
        <p:spPr>
          <a:xfrm>
            <a:off x="3093415" y="3241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657600" y="3241548"/>
            <a:ext cx="4937760" cy="38619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Catalogue: AI Reasoning Breakthroughs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657600" y="3540557"/>
            <a:ext cx="493776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 in the catalogue on innovations in AI reasoning and extended thinking capabilities, featuring DeepSeek R1's breakthroughs.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5762" y="0"/>
            <a:ext cx="3857625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80537" y="3223260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Text 1"/>
          <p:cNvSpPr/>
          <p:nvPr/>
        </p:nvSpPr>
        <p:spPr>
          <a:xfrm>
            <a:off x="3857854" y="365760"/>
            <a:ext cx="4828946" cy="7179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Advancements in Reasoning Models and Test-Time Compute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7854" y="1188720"/>
            <a:ext cx="4828946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57854" y="4297680"/>
            <a:ext cx="4828946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Advanced Reasoning Architectures(Effectiveness Score (%))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13893"/>
            <a:ext cx="8046720" cy="4114800"/>
          </a:xfrm>
          <a:custGeom>
            <a:avLst/>
            <a:gdLst/>
            <a:ahLst/>
            <a:cxnLst/>
            <a:rect l="l" t="t" r="r" b="b"/>
            <a:pathLst>
              <a:path w="8046720" h="4114800">
                <a:moveTo>
                  <a:pt x="0" y="0"/>
                </a:moveTo>
                <a:lnTo>
                  <a:pt x="8046720" y="0"/>
                </a:lnTo>
                <a:lnTo>
                  <a:pt x="804672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3152">
            <a:solidFill>
              <a:srgbClr val="FCCE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1844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1575636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Shape 3"/>
          <p:cNvSpPr/>
          <p:nvPr/>
        </p:nvSpPr>
        <p:spPr>
          <a:xfrm flipH="1" flipV="1">
            <a:off x="7199196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7" name="Shape 4"/>
          <p:cNvSpPr/>
          <p:nvPr/>
        </p:nvSpPr>
        <p:spPr>
          <a:xfrm flipH="1" flipV="1">
            <a:off x="7652988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4537253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011680"/>
            <a:ext cx="6400800" cy="67222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Optimizing Test-Time Compute for Enhanced Model Performance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" y="91440"/>
            <a:ext cx="8961120" cy="4960620"/>
          </a:xfrm>
          <a:custGeom>
            <a:avLst/>
            <a:gdLst/>
            <a:ahLst/>
            <a:cxnLst/>
            <a:rect l="l" t="t" r="r" b="b"/>
            <a:pathLst>
              <a:path w="8961120" h="4960620">
                <a:moveTo>
                  <a:pt x="0" y="0"/>
                </a:moveTo>
                <a:lnTo>
                  <a:pt x="8961120" y="0"/>
                </a:lnTo>
                <a:lnTo>
                  <a:pt x="8961120" y="4960620"/>
                </a:lnTo>
                <a:lnTo>
                  <a:pt x="0" y="49606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0">
            <a:solidFill>
              <a:srgbClr val="FCCE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57200"/>
            <a:ext cx="8046720" cy="4503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compute utilization in advanced reasoning models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3115361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compute operations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3568903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computational operations are fundamental to the execution of these sophisticated AI models, ensuring their basic functionality and processing capabilities.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2377440" y="1121969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reasoning and compute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2377440" y="1575511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theme of advanced reasoning models and their associated compute requirements highlights the critical interplay between model complexity and computational resources.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4206240" y="3115361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test-time compute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206240" y="3568903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compute utilization is a cornerstone of optimizing test-time compute for enhanced model performance, directly impacting inference speed and resource consumption.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035040" y="1121969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compute for reasoning models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035040" y="1575511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reasoning models like Claude extended thinking and DeepSeek R1 necessitate efficient compute utilization for optimal performance and cost-effectiveness.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383084" y="2765185"/>
            <a:ext cx="8165232" cy="0"/>
          </a:xfrm>
          <a:custGeom>
            <a:avLst/>
            <a:gdLst/>
            <a:ahLst/>
            <a:cxnLst/>
            <a:rect l="l" t="t" r="r" b="b"/>
            <a:pathLst>
              <a:path w="8165232" h="0">
                <a:moveTo>
                  <a:pt x="0" y="0"/>
                </a:moveTo>
                <a:lnTo>
                  <a:pt x="8165232" y="0"/>
                </a:lnTo>
              </a:path>
            </a:pathLst>
          </a:custGeom>
          <a:noFill/>
          <a:ln w="36576">
            <a:solidFill>
              <a:srgbClr val="FCCE23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12893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93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181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181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20xxx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49469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469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7757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757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4960620"/>
          </a:xfrm>
          <a:custGeom>
            <a:avLst/>
            <a:gdLst/>
            <a:ahLst/>
            <a:cxnLst/>
            <a:rect l="l" t="t" r="r" b="b"/>
            <a:pathLst>
              <a:path w="8961120" h="4960620">
                <a:moveTo>
                  <a:pt x="0" y="0"/>
                </a:moveTo>
                <a:lnTo>
                  <a:pt x="8961120" y="0"/>
                </a:lnTo>
                <a:lnTo>
                  <a:pt x="8961120" y="4960620"/>
                </a:lnTo>
                <a:lnTo>
                  <a:pt x="0" y="49606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0">
            <a:solidFill>
              <a:srgbClr val="FCCE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128016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960120" y="0"/>
                </a:moveTo>
                <a:cubicBezTo>
                  <a:pt x="430215" y="0"/>
                  <a:pt x="0" y="430215"/>
                  <a:pt x="0" y="960120"/>
                </a:cubicBezTo>
                <a:cubicBezTo>
                  <a:pt x="0" y="1490025"/>
                  <a:pt x="430215" y="1920240"/>
                  <a:pt x="960120" y="1920240"/>
                </a:cubicBezTo>
                <a:cubicBezTo>
                  <a:pt x="1490025" y="1920240"/>
                  <a:pt x="1920240" y="1490025"/>
                  <a:pt x="1920240" y="960120"/>
                </a:cubicBezTo>
                <a:lnTo>
                  <a:pt x="960120" y="960120"/>
                </a:lnTo>
                <a:lnTo>
                  <a:pt x="960120" y="0"/>
                </a:lnTo>
                <a:close/>
              </a:path>
            </a:pathLst>
          </a:custGeom>
          <a:solidFill>
            <a:srgbClr val="020202"/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128016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1536192" y="192024"/>
                </a:moveTo>
                <a:cubicBezTo>
                  <a:pt x="1179966" y="-75145"/>
                  <a:pt x="686792" y="-62327"/>
                  <a:pt x="344926" y="222986"/>
                </a:cubicBezTo>
                <a:cubicBezTo>
                  <a:pt x="3059" y="508300"/>
                  <a:pt x="-97774" y="991226"/>
                  <a:pt x="101363" y="1389499"/>
                </a:cubicBezTo>
                <a:cubicBezTo>
                  <a:pt x="300499" y="1787771"/>
                  <a:pt x="747340" y="1996861"/>
                  <a:pt x="1180710" y="1894556"/>
                </a:cubicBezTo>
                <a:cubicBezTo>
                  <a:pt x="1614081" y="1792251"/>
                  <a:pt x="1920240" y="1405402"/>
                  <a:pt x="1920240" y="960120"/>
                </a:cubicBezTo>
                <a:lnTo>
                  <a:pt x="960120" y="960120"/>
                </a:lnTo>
                <a:lnTo>
                  <a:pt x="1536192" y="192024"/>
                </a:lnTo>
                <a:close/>
              </a:path>
            </a:pathLst>
          </a:custGeom>
          <a:solidFill>
            <a:srgbClr val="02020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8016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384048" y="192024"/>
                </a:moveTo>
                <a:cubicBezTo>
                  <a:pt x="22843" y="462928"/>
                  <a:pt x="-100805" y="948902"/>
                  <a:pt x="87004" y="1359494"/>
                </a:cubicBezTo>
                <a:cubicBezTo>
                  <a:pt x="274814" y="1770086"/>
                  <a:pt x="723331" y="1994344"/>
                  <a:pt x="1164490" y="1898237"/>
                </a:cubicBezTo>
                <a:cubicBezTo>
                  <a:pt x="1605650" y="1802129"/>
                  <a:pt x="1920240" y="1411626"/>
                  <a:pt x="1920240" y="960120"/>
                </a:cubicBezTo>
                <a:lnTo>
                  <a:pt x="960120" y="960120"/>
                </a:lnTo>
                <a:lnTo>
                  <a:pt x="384048" y="192024"/>
                </a:lnTo>
                <a:close/>
              </a:path>
            </a:pathLst>
          </a:custGeom>
          <a:solidFill>
            <a:srgbClr val="02020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1737360" cy="1737360"/>
          </a:xfrm>
          <a:prstGeom prst="ellipse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371600"/>
            <a:ext cx="1737360" cy="1737360"/>
          </a:xfrm>
          <a:prstGeom prst="ellipse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1737360" cy="1737360"/>
          </a:xfrm>
          <a:prstGeom prst="ellipse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457200"/>
            <a:ext cx="8046720" cy="4503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Minimizing latency for real-time AI inference tasks</a:t>
            </a:r>
            <a:endParaRPr lang="en-US" sz="1152" dirty="0"/>
          </a:p>
        </p:txBody>
      </p:sp>
      <p:sp>
        <p:nvSpPr>
          <p:cNvPr id="10" name="Shape 5"/>
          <p:cNvSpPr/>
          <p:nvPr/>
        </p:nvSpPr>
        <p:spPr>
          <a:xfrm>
            <a:off x="1321403" y="1732883"/>
            <a:ext cx="1014794" cy="1014794"/>
          </a:xfrm>
          <a:custGeom>
            <a:avLst/>
            <a:gdLst/>
            <a:ahLst/>
            <a:cxnLst/>
            <a:rect l="l" t="t" r="r" b="b"/>
            <a:pathLst>
              <a:path w="1014794" h="1014794">
                <a:moveTo>
                  <a:pt x="507397" y="0"/>
                </a:moveTo>
                <a:cubicBezTo>
                  <a:pt x="787437" y="0"/>
                  <a:pt x="1014794" y="227357"/>
                  <a:pt x="1014794" y="507397"/>
                </a:cubicBezTo>
                <a:cubicBezTo>
                  <a:pt x="1014794" y="787437"/>
                  <a:pt x="787437" y="1014794"/>
                  <a:pt x="507397" y="1014794"/>
                </a:cubicBezTo>
                <a:cubicBezTo>
                  <a:pt x="227357" y="1014794"/>
                  <a:pt x="0" y="787437"/>
                  <a:pt x="0" y="507397"/>
                </a:cubicBezTo>
                <a:cubicBezTo>
                  <a:pt x="0" y="227357"/>
                  <a:pt x="227357" y="0"/>
                  <a:pt x="5073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1077101" y="1904167"/>
            <a:ext cx="1503398" cy="8869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63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%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4064603" y="1732883"/>
            <a:ext cx="1014794" cy="1014794"/>
          </a:xfrm>
          <a:custGeom>
            <a:avLst/>
            <a:gdLst/>
            <a:ahLst/>
            <a:cxnLst/>
            <a:rect l="l" t="t" r="r" b="b"/>
            <a:pathLst>
              <a:path w="1014794" h="1014794">
                <a:moveTo>
                  <a:pt x="507397" y="0"/>
                </a:moveTo>
                <a:cubicBezTo>
                  <a:pt x="787437" y="0"/>
                  <a:pt x="1014794" y="227357"/>
                  <a:pt x="1014794" y="507397"/>
                </a:cubicBezTo>
                <a:cubicBezTo>
                  <a:pt x="1014794" y="787437"/>
                  <a:pt x="787437" y="1014794"/>
                  <a:pt x="507397" y="1014794"/>
                </a:cubicBezTo>
                <a:cubicBezTo>
                  <a:pt x="227357" y="1014794"/>
                  <a:pt x="0" y="787437"/>
                  <a:pt x="0" y="507397"/>
                </a:cubicBezTo>
                <a:cubicBezTo>
                  <a:pt x="0" y="227357"/>
                  <a:pt x="227357" y="0"/>
                  <a:pt x="5073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6807803" y="1732883"/>
            <a:ext cx="1014794" cy="1014794"/>
          </a:xfrm>
          <a:custGeom>
            <a:avLst/>
            <a:gdLst/>
            <a:ahLst/>
            <a:cxnLst/>
            <a:rect l="l" t="t" r="r" b="b"/>
            <a:pathLst>
              <a:path w="1014794" h="1014794">
                <a:moveTo>
                  <a:pt x="507397" y="0"/>
                </a:moveTo>
                <a:cubicBezTo>
                  <a:pt x="787437" y="0"/>
                  <a:pt x="1014794" y="227357"/>
                  <a:pt x="1014794" y="507397"/>
                </a:cubicBezTo>
                <a:cubicBezTo>
                  <a:pt x="1014794" y="787437"/>
                  <a:pt x="787437" y="1014794"/>
                  <a:pt x="507397" y="1014794"/>
                </a:cubicBezTo>
                <a:cubicBezTo>
                  <a:pt x="227357" y="1014794"/>
                  <a:pt x="0" y="787437"/>
                  <a:pt x="0" y="507397"/>
                </a:cubicBezTo>
                <a:cubicBezTo>
                  <a:pt x="0" y="227357"/>
                  <a:pt x="227357" y="0"/>
                  <a:pt x="5073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3820301" y="1951101"/>
            <a:ext cx="1503398" cy="73837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75%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6563501" y="1951101"/>
            <a:ext cx="1503398" cy="73837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87%</a:t>
            </a:r>
            <a:endParaRPr lang="en-US" sz="1152" dirty="0"/>
          </a:p>
        </p:txBody>
      </p:sp>
      <p:sp>
        <p:nvSpPr>
          <p:cNvPr id="16" name="Text 11"/>
          <p:cNvSpPr/>
          <p:nvPr/>
        </p:nvSpPr>
        <p:spPr>
          <a:xfrm>
            <a:off x="548640" y="3236976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latency in AI inference</a:t>
            </a:r>
            <a:endParaRPr lang="en-US" sz="1152" dirty="0"/>
          </a:p>
        </p:txBody>
      </p:sp>
      <p:sp>
        <p:nvSpPr>
          <p:cNvPr id="17" name="Text 12"/>
          <p:cNvSpPr/>
          <p:nvPr/>
        </p:nvSpPr>
        <p:spPr>
          <a:xfrm>
            <a:off x="548640" y="3675888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Minimizing latency is crucial for real-time AI inference tasks, especially with models like OpenAI o-series, to ensure prompt and responsive decision-making.</a:t>
            </a:r>
            <a:endParaRPr lang="en-US" sz="1152" dirty="0"/>
          </a:p>
        </p:txBody>
      </p:sp>
      <p:sp>
        <p:nvSpPr>
          <p:cNvPr id="18" name="Text 13"/>
          <p:cNvSpPr/>
          <p:nvPr/>
        </p:nvSpPr>
        <p:spPr>
          <a:xfrm>
            <a:off x="3291840" y="3236976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latency considerations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3291840" y="3675888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latency considerations involve assessing network delays and processing times to ensure smooth operation of AI inference systems in various environments.</a:t>
            </a:r>
            <a:endParaRPr lang="en-US" sz="1152" dirty="0"/>
          </a:p>
        </p:txBody>
      </p:sp>
      <p:sp>
        <p:nvSpPr>
          <p:cNvPr id="20" name="Text 15"/>
          <p:cNvSpPr/>
          <p:nvPr/>
        </p:nvSpPr>
        <p:spPr>
          <a:xfrm>
            <a:off x="6035040" y="3236976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compute for AI</a:t>
            </a:r>
            <a:endParaRPr lang="en-US" sz="1152" dirty="0"/>
          </a:p>
        </p:txBody>
      </p:sp>
      <p:sp>
        <p:nvSpPr>
          <p:cNvPr id="21" name="Text 16"/>
          <p:cNvSpPr/>
          <p:nvPr/>
        </p:nvSpPr>
        <p:spPr>
          <a:xfrm>
            <a:off x="6035040" y="3675888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theme emphasizes the importance of real-time compute for advanced reasoning models, directly addressing the need for low-latency inference in practical applications.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6494" y="457200"/>
            <a:ext cx="5319065" cy="4229100"/>
          </a:xfrm>
          <a:custGeom>
            <a:avLst/>
            <a:gdLst/>
            <a:ahLst/>
            <a:cxnLst/>
            <a:rect l="l" t="t" r="r" b="b"/>
            <a:pathLst>
              <a:path w="5319065" h="4229100">
                <a:moveTo>
                  <a:pt x="0" y="0"/>
                </a:moveTo>
                <a:lnTo>
                  <a:pt x="5319065" y="0"/>
                </a:lnTo>
                <a:lnTo>
                  <a:pt x="5319065" y="4229100"/>
                </a:lnTo>
                <a:lnTo>
                  <a:pt x="0" y="422910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3" name="Text 1"/>
          <p:cNvSpPr/>
          <p:nvPr/>
        </p:nvSpPr>
        <p:spPr>
          <a:xfrm>
            <a:off x="3485435" y="640080"/>
            <a:ext cx="4901184" cy="7179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computational resources for complex AI workloads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819095" cy="4229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2984202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Text 3"/>
          <p:cNvSpPr/>
          <p:nvPr/>
        </p:nvSpPr>
        <p:spPr>
          <a:xfrm>
            <a:off x="3485435" y="1545336"/>
            <a:ext cx="237744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scaling for reasoning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85435" y="1956816"/>
            <a:ext cx="237744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theme underscores the necessity of scaling compute for advanced reasoning models, reflecting the increasing complexity and data intensity of modern AI applications.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009179" y="1545336"/>
            <a:ext cx="23774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resource scaling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6009179" y="1956816"/>
            <a:ext cx="237744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resource scaling involves adjusting computational capacity to meet varying demands, ensuring consistent performance for AI workloads without over-provisioning.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85435" y="2990088"/>
            <a:ext cx="237744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compute for AI workloads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85435" y="3401568"/>
            <a:ext cx="237744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computational resources is essential for handling complex AI workloads, particularly for advanced reasoning models that demand significant processing power.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009179" y="2990088"/>
            <a:ext cx="237744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compute for scaling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009179" y="3401568"/>
            <a:ext cx="237744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computational resources is integral to optimizing test-time compute for enhanced model performance, facilitating the deployment of complex AI systems efficiently.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5762" y="0"/>
            <a:ext cx="3857625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80537" y="3223260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Text 1"/>
          <p:cNvSpPr/>
          <p:nvPr/>
        </p:nvSpPr>
        <p:spPr>
          <a:xfrm>
            <a:off x="3857854" y="365760"/>
            <a:ext cx="4828946" cy="7179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Reasoning Model Compute Utilization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7854" y="1188720"/>
            <a:ext cx="4828946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57854" y="4297680"/>
            <a:ext cx="4828946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Utilization &amp; Performance Metrics(Utilization (%))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253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18104"/>
            <a:ext cx="8046720" cy="8411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518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0" y="3310242"/>
            <a:ext cx="512978" cy="512978"/>
          </a:xfrm>
          <a:custGeom>
            <a:avLst/>
            <a:gdLst/>
            <a:ahLst/>
            <a:cxnLst/>
            <a:rect l="l" t="t" r="r" b="b"/>
            <a:pathLst>
              <a:path w="512978" h="512978">
                <a:moveTo>
                  <a:pt x="0" y="0"/>
                </a:moveTo>
                <a:lnTo>
                  <a:pt x="512978" y="0"/>
                </a:lnTo>
                <a:lnTo>
                  <a:pt x="512978" y="512978"/>
                </a:lnTo>
                <a:lnTo>
                  <a:pt x="0" y="512978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6574025" y="3737823"/>
            <a:ext cx="1568963" cy="1405677"/>
          </a:xfrm>
          <a:custGeom>
            <a:avLst/>
            <a:gdLst/>
            <a:ahLst/>
            <a:cxnLst/>
            <a:rect l="l" t="t" r="r" b="b"/>
            <a:pathLst>
              <a:path w="1568963" h="1405677">
                <a:moveTo>
                  <a:pt x="0" y="0"/>
                </a:moveTo>
                <a:lnTo>
                  <a:pt x="1568963" y="0"/>
                </a:lnTo>
                <a:lnTo>
                  <a:pt x="1568963" y="1405677"/>
                </a:lnTo>
                <a:lnTo>
                  <a:pt x="0" y="1405677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Shape 3"/>
          <p:cNvSpPr/>
          <p:nvPr/>
        </p:nvSpPr>
        <p:spPr>
          <a:xfrm>
            <a:off x="6983273" y="365760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CCE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2026-06-03T03:27:29Z</dcterms:created>
  <dcterms:modified xsi:type="dcterms:W3CDTF">2026-06-03T03:27:29Z</dcterms:modified>
</cp:coreProperties>
</file>