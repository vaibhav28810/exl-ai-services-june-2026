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253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4025" y="3737823"/>
            <a:ext cx="1568963" cy="1405677"/>
          </a:xfrm>
          <a:custGeom>
            <a:avLst/>
            <a:gdLst/>
            <a:ahLst/>
            <a:cxnLst/>
            <a:rect l="l" t="t" r="r" b="b"/>
            <a:pathLst>
              <a:path w="1568963" h="1405677">
                <a:moveTo>
                  <a:pt x="0" y="0"/>
                </a:moveTo>
                <a:lnTo>
                  <a:pt x="1568963" y="0"/>
                </a:lnTo>
                <a:lnTo>
                  <a:pt x="1568963" y="1405677"/>
                </a:lnTo>
                <a:lnTo>
                  <a:pt x="0" y="1405677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310242"/>
            <a:ext cx="512978" cy="512978"/>
          </a:xfrm>
          <a:custGeom>
            <a:avLst/>
            <a:gdLst/>
            <a:ahLst/>
            <a:cxnLst/>
            <a:rect l="l" t="t" r="r" b="b"/>
            <a:pathLst>
              <a:path w="512978" h="512978">
                <a:moveTo>
                  <a:pt x="0" y="0"/>
                </a:moveTo>
                <a:lnTo>
                  <a:pt x="512978" y="0"/>
                </a:lnTo>
                <a:lnTo>
                  <a:pt x="512978" y="512978"/>
                </a:lnTo>
                <a:lnTo>
                  <a:pt x="0" y="512978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Shape 2"/>
          <p:cNvSpPr/>
          <p:nvPr/>
        </p:nvSpPr>
        <p:spPr>
          <a:xfrm>
            <a:off x="6983273" y="365760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200400"/>
            <a:ext cx="8046720" cy="11932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and Prompt Engineering Techniques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13893"/>
            <a:ext cx="8046720" cy="4114800"/>
          </a:xfrm>
          <a:custGeom>
            <a:avLst/>
            <a:gdLst/>
            <a:ahLst/>
            <a:cxnLst/>
            <a:rect l="l" t="t" r="r" b="b"/>
            <a:pathLst>
              <a:path w="8046720" h="4114800">
                <a:moveTo>
                  <a:pt x="0" y="0"/>
                </a:moveTo>
                <a:lnTo>
                  <a:pt x="8046720" y="0"/>
                </a:lnTo>
                <a:lnTo>
                  <a:pt x="8046720" y="4114800"/>
                </a:lnTo>
                <a:lnTo>
                  <a:pt x="0" y="41148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3152">
            <a:solidFill>
              <a:srgbClr val="FCCE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1844" y="112035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Shape 2"/>
          <p:cNvSpPr/>
          <p:nvPr/>
        </p:nvSpPr>
        <p:spPr>
          <a:xfrm>
            <a:off x="1575636" y="112035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Shape 3"/>
          <p:cNvSpPr/>
          <p:nvPr/>
        </p:nvSpPr>
        <p:spPr>
          <a:xfrm flipH="1" flipV="1">
            <a:off x="7199196" y="349779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7" name="Shape 4"/>
          <p:cNvSpPr/>
          <p:nvPr/>
        </p:nvSpPr>
        <p:spPr>
          <a:xfrm flipH="1" flipV="1">
            <a:off x="7652988" y="349779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4537253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011680"/>
            <a:ext cx="6400800" cy="15340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34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Advanced Prompting Strategies for Language Models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532120" cy="4229100"/>
          </a:xfrm>
          <a:custGeom>
            <a:avLst/>
            <a:gdLst/>
            <a:ahLst/>
            <a:cxnLst/>
            <a:rect l="l" t="t" r="r" b="b"/>
            <a:pathLst>
              <a:path w="5532120" h="4229100">
                <a:moveTo>
                  <a:pt x="0" y="0"/>
                </a:moveTo>
                <a:lnTo>
                  <a:pt x="5532120" y="0"/>
                </a:lnTo>
                <a:lnTo>
                  <a:pt x="5532120" y="4229100"/>
                </a:lnTo>
                <a:lnTo>
                  <a:pt x="0" y="4229100"/>
                </a:lnTo>
                <a:close/>
              </a:path>
            </a:pathLst>
          </a:custGeom>
          <a:solidFill>
            <a:srgbClr val="FCCE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878" y="0"/>
            <a:ext cx="4859122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93438" y="2995374"/>
            <a:ext cx="182880" cy="1463040"/>
          </a:xfrm>
          <a:custGeom>
            <a:avLst/>
            <a:gdLst/>
            <a:ahLst/>
            <a:cxnLst/>
            <a:rect l="l" t="t" r="r" b="b"/>
            <a:pathLst>
              <a:path w="182880" h="1463040">
                <a:moveTo>
                  <a:pt x="0" y="0"/>
                </a:moveTo>
                <a:lnTo>
                  <a:pt x="182880" y="0"/>
                </a:lnTo>
                <a:lnTo>
                  <a:pt x="18288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914400"/>
            <a:ext cx="3108960" cy="10947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Zero-shot prompting for immediate task execution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2798064"/>
            <a:ext cx="3108960" cy="38619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Prompting Approach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3255264"/>
            <a:ext cx="310896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normal subtitle content example, demonstrating a standard approach to information presentation within the given constraints and guidelines for clarity.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" y="91440"/>
            <a:ext cx="8961120" cy="4960620"/>
          </a:xfrm>
          <a:custGeom>
            <a:avLst/>
            <a:gdLst/>
            <a:ahLst/>
            <a:cxnLst/>
            <a:rect l="l" t="t" r="r" b="b"/>
            <a:pathLst>
              <a:path w="8961120" h="4960620">
                <a:moveTo>
                  <a:pt x="0" y="0"/>
                </a:moveTo>
                <a:lnTo>
                  <a:pt x="8961120" y="0"/>
                </a:lnTo>
                <a:lnTo>
                  <a:pt x="8961120" y="4960620"/>
                </a:lnTo>
                <a:lnTo>
                  <a:pt x="0" y="49606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0">
            <a:solidFill>
              <a:srgbClr val="FCCE2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457200"/>
            <a:ext cx="8046720" cy="4503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Few-shot learning with minimal example demonstrations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3115361"/>
            <a:ext cx="2560320" cy="5715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Prompting Framework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3568903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Few-shot learning is a crucial advanced strategy, enabling models to adapt rapidly to specific task requirements with minimal data, enhancing versatility.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2377440" y="1121969"/>
            <a:ext cx="2560320" cy="5715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Human-like Learning Efficiency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2377440" y="1575511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method mirrors human ability to learn new concepts quickly from limited exposure, making models more adaptable and responsive to novel scenarios.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4206240" y="3115361"/>
            <a:ext cx="2560320" cy="5715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Learning with Examples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206240" y="3568903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Few-shot learning allows models to generalize from a small number of examples provided in the prompt, significantly improving performance on new, related tasks.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6035040" y="1121969"/>
            <a:ext cx="2560320" cy="37719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Learning Method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035040" y="1575511"/>
            <a:ext cx="25603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normal subtitle content example, demonstrating a standard approach to information presentation within the given constraints and guidelines for clarity.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383084" y="2765185"/>
            <a:ext cx="8165232" cy="0"/>
          </a:xfrm>
          <a:custGeom>
            <a:avLst/>
            <a:gdLst/>
            <a:ahLst/>
            <a:cxnLst/>
            <a:rect l="l" t="t" r="r" b="b"/>
            <a:pathLst>
              <a:path w="8165232" h="0">
                <a:moveTo>
                  <a:pt x="0" y="0"/>
                </a:moveTo>
                <a:lnTo>
                  <a:pt x="8165232" y="0"/>
                </a:lnTo>
              </a:path>
            </a:pathLst>
          </a:custGeom>
          <a:noFill/>
          <a:ln w="36576">
            <a:solidFill>
              <a:srgbClr val="FCCE23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1289304" y="2536585"/>
            <a:ext cx="1078992" cy="457200"/>
          </a:xfrm>
          <a:custGeom>
            <a:avLst/>
            <a:gdLst/>
            <a:ahLst/>
            <a:cxnLst/>
            <a:rect l="l" t="t" r="r" b="b"/>
            <a:pathLst>
              <a:path w="1078992" h="457200">
                <a:moveTo>
                  <a:pt x="0" y="0"/>
                </a:moveTo>
                <a:lnTo>
                  <a:pt x="1078992" y="0"/>
                </a:lnTo>
                <a:lnTo>
                  <a:pt x="107899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9304" y="2536585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448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20xx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18104" y="2536585"/>
            <a:ext cx="1078992" cy="457200"/>
          </a:xfrm>
          <a:custGeom>
            <a:avLst/>
            <a:gdLst/>
            <a:ahLst/>
            <a:cxnLst/>
            <a:rect l="l" t="t" r="r" b="b"/>
            <a:pathLst>
              <a:path w="1078992" h="457200">
                <a:moveTo>
                  <a:pt x="0" y="0"/>
                </a:moveTo>
                <a:lnTo>
                  <a:pt x="1078992" y="0"/>
                </a:lnTo>
                <a:lnTo>
                  <a:pt x="107899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18104" y="2536585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448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20xxx</a:t>
            </a:r>
            <a:endParaRPr lang="en-US" sz="1152" dirty="0"/>
          </a:p>
        </p:txBody>
      </p:sp>
      <p:sp>
        <p:nvSpPr>
          <p:cNvPr id="18" name="Shape 15"/>
          <p:cNvSpPr/>
          <p:nvPr/>
        </p:nvSpPr>
        <p:spPr>
          <a:xfrm>
            <a:off x="4946904" y="2536585"/>
            <a:ext cx="1078992" cy="457200"/>
          </a:xfrm>
          <a:custGeom>
            <a:avLst/>
            <a:gdLst/>
            <a:ahLst/>
            <a:cxnLst/>
            <a:rect l="l" t="t" r="r" b="b"/>
            <a:pathLst>
              <a:path w="1078992" h="457200">
                <a:moveTo>
                  <a:pt x="0" y="0"/>
                </a:moveTo>
                <a:lnTo>
                  <a:pt x="1078992" y="0"/>
                </a:lnTo>
                <a:lnTo>
                  <a:pt x="107899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46904" y="2536585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448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20xx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6775704" y="2536585"/>
            <a:ext cx="1078992" cy="457200"/>
          </a:xfrm>
          <a:custGeom>
            <a:avLst/>
            <a:gdLst/>
            <a:ahLst/>
            <a:cxnLst/>
            <a:rect l="l" t="t" r="r" b="b"/>
            <a:pathLst>
              <a:path w="1078992" h="457200">
                <a:moveTo>
                  <a:pt x="0" y="0"/>
                </a:moveTo>
                <a:lnTo>
                  <a:pt x="1078992" y="0"/>
                </a:lnTo>
                <a:lnTo>
                  <a:pt x="107899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CCE23"/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75704" y="2536585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448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20xx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C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6467"/>
            <a:ext cx="8046720" cy="421056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0388" y="375027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731520"/>
            <a:ext cx="7680960" cy="48677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Chain-of-Thought for complex reasoning pathways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1640" y="2046427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2046427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95160" y="2046427"/>
            <a:ext cx="457200" cy="4572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246120" y="1969045"/>
            <a:ext cx="0" cy="736665"/>
          </a:xfrm>
          <a:custGeom>
            <a:avLst/>
            <a:gdLst/>
            <a:ahLst/>
            <a:cxnLst/>
            <a:rect l="l" t="t" r="r" b="b"/>
            <a:pathLst>
              <a:path w="0" h="736665">
                <a:moveTo>
                  <a:pt x="0" y="0"/>
                </a:moveTo>
                <a:lnTo>
                  <a:pt x="0" y="736665"/>
                </a:lnTo>
              </a:path>
            </a:pathLst>
          </a:custGeom>
          <a:noFill/>
          <a:ln w="9144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3"/>
          <p:cNvSpPr/>
          <p:nvPr/>
        </p:nvSpPr>
        <p:spPr>
          <a:xfrm>
            <a:off x="5897880" y="1969045"/>
            <a:ext cx="0" cy="736665"/>
          </a:xfrm>
          <a:custGeom>
            <a:avLst/>
            <a:gdLst/>
            <a:ahLst/>
            <a:cxnLst/>
            <a:rect l="l" t="t" r="r" b="b"/>
            <a:pathLst>
              <a:path w="0" h="736665">
                <a:moveTo>
                  <a:pt x="0" y="0"/>
                </a:moveTo>
                <a:lnTo>
                  <a:pt x="0" y="736665"/>
                </a:lnTo>
              </a:path>
            </a:pathLst>
          </a:custGeom>
          <a:noFill/>
          <a:ln w="9144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Text 4"/>
          <p:cNvSpPr/>
          <p:nvPr/>
        </p:nvSpPr>
        <p:spPr>
          <a:xfrm>
            <a:off x="731520" y="2503627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Reasoning Flow</a:t>
            </a:r>
            <a:endParaRPr lang="en-US" sz="1152" dirty="0"/>
          </a:p>
        </p:txBody>
      </p:sp>
      <p:sp>
        <p:nvSpPr>
          <p:cNvPr id="11" name="Text 5"/>
          <p:cNvSpPr/>
          <p:nvPr/>
        </p:nvSpPr>
        <p:spPr>
          <a:xfrm>
            <a:off x="731520" y="3140964"/>
            <a:ext cx="237744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normal subtitle content example, demonstrating a standard approach to information presentation within the given constraints and guidelines for clarity.</a:t>
            </a:r>
            <a:endParaRPr lang="en-US" sz="1152" dirty="0"/>
          </a:p>
        </p:txBody>
      </p:sp>
      <p:sp>
        <p:nvSpPr>
          <p:cNvPr id="12" name="Text 6"/>
          <p:cNvSpPr/>
          <p:nvPr/>
        </p:nvSpPr>
        <p:spPr>
          <a:xfrm>
            <a:off x="3383280" y="2503913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Reasoning Process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3383280" y="3140964"/>
            <a:ext cx="237744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Chain-of-Thought prompting guides models to break down complex problems into intermediate steps, revealing their reasoning process and improving accuracy on intricate tasks.</a:t>
            </a:r>
            <a:endParaRPr lang="en-US" sz="1152" dirty="0"/>
          </a:p>
        </p:txBody>
      </p:sp>
      <p:sp>
        <p:nvSpPr>
          <p:cNvPr id="14" name="Text 8"/>
          <p:cNvSpPr/>
          <p:nvPr/>
        </p:nvSpPr>
        <p:spPr>
          <a:xfrm>
            <a:off x="6035040" y="2503913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Process Emulation</a:t>
            </a:r>
            <a:endParaRPr lang="en-US" sz="1152" dirty="0"/>
          </a:p>
        </p:txBody>
      </p:sp>
      <p:sp>
        <p:nvSpPr>
          <p:cNvPr id="15" name="Text 9"/>
          <p:cNvSpPr/>
          <p:nvPr/>
        </p:nvSpPr>
        <p:spPr>
          <a:xfrm>
            <a:off x="6035040" y="3140964"/>
            <a:ext cx="2377440" cy="3436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technique simulates human step-by-step reasoning, making the model's decision-making more transparent and reliable for complex problem-solving scenarios.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5762" y="0"/>
            <a:ext cx="3857625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80537" y="3223260"/>
            <a:ext cx="182880" cy="1463040"/>
          </a:xfrm>
          <a:custGeom>
            <a:avLst/>
            <a:gdLst/>
            <a:ahLst/>
            <a:cxnLst/>
            <a:rect l="l" t="t" r="r" b="b"/>
            <a:pathLst>
              <a:path w="182880" h="1463040">
                <a:moveTo>
                  <a:pt x="0" y="0"/>
                </a:moveTo>
                <a:lnTo>
                  <a:pt x="182880" y="0"/>
                </a:lnTo>
                <a:lnTo>
                  <a:pt x="18288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4" name="Text 1"/>
          <p:cNvSpPr/>
          <p:nvPr/>
        </p:nvSpPr>
        <p:spPr>
          <a:xfrm>
            <a:off x="3857854" y="365760"/>
            <a:ext cx="4828946" cy="7179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Engineering Techniques Overview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7854" y="1188720"/>
            <a:ext cx="4828946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57854" y="4297680"/>
            <a:ext cx="4828946" cy="3436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Effectiveness of Prompt Engineering Strategies(Effectiveness Score (%))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13893"/>
            <a:ext cx="8046720" cy="4114800"/>
          </a:xfrm>
          <a:custGeom>
            <a:avLst/>
            <a:gdLst/>
            <a:ahLst/>
            <a:cxnLst/>
            <a:rect l="l" t="t" r="r" b="b"/>
            <a:pathLst>
              <a:path w="8046720" h="4114800">
                <a:moveTo>
                  <a:pt x="0" y="0"/>
                </a:moveTo>
                <a:lnTo>
                  <a:pt x="8046720" y="0"/>
                </a:lnTo>
                <a:lnTo>
                  <a:pt x="8046720" y="4114800"/>
                </a:lnTo>
                <a:lnTo>
                  <a:pt x="0" y="41148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3152">
            <a:solidFill>
              <a:srgbClr val="FCCE2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1844" y="112035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Shape 2"/>
          <p:cNvSpPr/>
          <p:nvPr/>
        </p:nvSpPr>
        <p:spPr>
          <a:xfrm>
            <a:off x="1575636" y="112035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Shape 3"/>
          <p:cNvSpPr/>
          <p:nvPr/>
        </p:nvSpPr>
        <p:spPr>
          <a:xfrm flipH="1" flipV="1">
            <a:off x="7199196" y="349779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7" name="Shape 4"/>
          <p:cNvSpPr/>
          <p:nvPr/>
        </p:nvSpPr>
        <p:spPr>
          <a:xfrm flipH="1" flipV="1">
            <a:off x="7652988" y="3497793"/>
            <a:ext cx="369168" cy="525354"/>
          </a:xfrm>
          <a:custGeom>
            <a:avLst/>
            <a:gdLst/>
            <a:ahLst/>
            <a:cxnLst/>
            <a:rect l="l" t="t" r="r" b="b"/>
            <a:pathLst>
              <a:path w="369168" h="525354">
                <a:moveTo>
                  <a:pt x="369168" y="0"/>
                </a:moveTo>
                <a:lnTo>
                  <a:pt x="184584" y="7099"/>
                </a:lnTo>
                <a:lnTo>
                  <a:pt x="0" y="525354"/>
                </a:lnTo>
                <a:lnTo>
                  <a:pt x="312373" y="525354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4537253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011680"/>
            <a:ext cx="6400800" cy="67222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34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Interactive and Consistent AI Prompting Methods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754880" cy="4229100"/>
          </a:xfrm>
          <a:custGeom>
            <a:avLst/>
            <a:gdLst/>
            <a:ahLst/>
            <a:cxnLst/>
            <a:rect l="l" t="t" r="r" b="b"/>
            <a:pathLst>
              <a:path w="4754880" h="4229100">
                <a:moveTo>
                  <a:pt x="0" y="0"/>
                </a:moveTo>
                <a:lnTo>
                  <a:pt x="4754880" y="0"/>
                </a:lnTo>
                <a:lnTo>
                  <a:pt x="4754880" y="4229100"/>
                </a:lnTo>
                <a:lnTo>
                  <a:pt x="0" y="4229100"/>
                </a:lnTo>
                <a:close/>
              </a:path>
            </a:pathLst>
          </a:custGeom>
          <a:solidFill>
            <a:srgbClr val="FCCE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57200"/>
            <a:ext cx="3383280" cy="422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0080"/>
            <a:ext cx="4389120" cy="7179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prompting for dynamic action and observation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8760" y="1682496"/>
            <a:ext cx="365760" cy="3657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94760" y="1682496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0080" y="2048256"/>
            <a:ext cx="2103120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AI Interaction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640080" y="2553919"/>
            <a:ext cx="21031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AI interaction involves standard input-output processes, often lacking the dynamic reasoning and action capabilities seen in advanced prompting techniques.</a:t>
            </a:r>
            <a:endParaRPr lang="en-US" sz="1152" dirty="0"/>
          </a:p>
        </p:txBody>
      </p:sp>
      <p:sp>
        <p:nvSpPr>
          <p:cNvPr id="9" name="Text 4"/>
          <p:cNvSpPr/>
          <p:nvPr/>
        </p:nvSpPr>
        <p:spPr>
          <a:xfrm>
            <a:off x="2926080" y="2048256"/>
            <a:ext cx="210312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in Prompt Engineering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2926080" y="2553919"/>
            <a:ext cx="21031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combines reasoning and acting, enabling models to perform dynamic actions and observations for complex problem-solving. This enhances interactive AI capabilities.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1005840" y="3613709"/>
            <a:ext cx="4023360" cy="3290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AI Prompting</a:t>
            </a:r>
            <a:endParaRPr lang="en-US" sz="1152" dirty="0"/>
          </a:p>
        </p:txBody>
      </p:sp>
      <p:sp>
        <p:nvSpPr>
          <p:cNvPr id="12" name="Text 7"/>
          <p:cNvSpPr/>
          <p:nvPr/>
        </p:nvSpPr>
        <p:spPr>
          <a:xfrm>
            <a:off x="1005840" y="3805733"/>
            <a:ext cx="402336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864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is a key interactive AI prompting method, facilitating dynamic action and observation to achieve more sophisticated and context-aware responses from models.</a:t>
            </a:r>
            <a:endParaRPr lang="en-US" sz="115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80" y="363502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8961120" cy="4960620"/>
          </a:xfrm>
          <a:custGeom>
            <a:avLst/>
            <a:gdLst/>
            <a:ahLst/>
            <a:cxnLst/>
            <a:rect l="l" t="t" r="r" b="b"/>
            <a:pathLst>
              <a:path w="8961120" h="4960620">
                <a:moveTo>
                  <a:pt x="0" y="0"/>
                </a:moveTo>
                <a:lnTo>
                  <a:pt x="8961120" y="0"/>
                </a:lnTo>
                <a:lnTo>
                  <a:pt x="8961120" y="4960620"/>
                </a:lnTo>
                <a:lnTo>
                  <a:pt x="0" y="49606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0">
            <a:solidFill>
              <a:srgbClr val="FCCE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128016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960120" y="0"/>
                </a:moveTo>
                <a:cubicBezTo>
                  <a:pt x="430215" y="0"/>
                  <a:pt x="0" y="430215"/>
                  <a:pt x="0" y="960120"/>
                </a:cubicBezTo>
                <a:cubicBezTo>
                  <a:pt x="0" y="1490025"/>
                  <a:pt x="430215" y="1920240"/>
                  <a:pt x="960120" y="1920240"/>
                </a:cubicBezTo>
                <a:cubicBezTo>
                  <a:pt x="1490025" y="1920240"/>
                  <a:pt x="1920240" y="1490025"/>
                  <a:pt x="1920240" y="960120"/>
                </a:cubicBezTo>
                <a:lnTo>
                  <a:pt x="960120" y="960120"/>
                </a:lnTo>
                <a:lnTo>
                  <a:pt x="960120" y="0"/>
                </a:lnTo>
                <a:close/>
              </a:path>
            </a:pathLst>
          </a:custGeom>
          <a:solidFill>
            <a:srgbClr val="020202"/>
          </a:solidFill>
          <a:ln/>
        </p:spPr>
      </p:sp>
      <p:sp>
        <p:nvSpPr>
          <p:cNvPr id="4" name="Shape 2"/>
          <p:cNvSpPr/>
          <p:nvPr/>
        </p:nvSpPr>
        <p:spPr>
          <a:xfrm>
            <a:off x="6355080" y="128016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1536192" y="192024"/>
                </a:moveTo>
                <a:cubicBezTo>
                  <a:pt x="1179966" y="-75145"/>
                  <a:pt x="686792" y="-62327"/>
                  <a:pt x="344926" y="222986"/>
                </a:cubicBezTo>
                <a:cubicBezTo>
                  <a:pt x="3059" y="508300"/>
                  <a:pt x="-97774" y="991226"/>
                  <a:pt x="101363" y="1389499"/>
                </a:cubicBezTo>
                <a:cubicBezTo>
                  <a:pt x="300499" y="1787771"/>
                  <a:pt x="747340" y="1996861"/>
                  <a:pt x="1180710" y="1894556"/>
                </a:cubicBezTo>
                <a:cubicBezTo>
                  <a:pt x="1614081" y="1792251"/>
                  <a:pt x="1920240" y="1405402"/>
                  <a:pt x="1920240" y="960120"/>
                </a:cubicBezTo>
                <a:lnTo>
                  <a:pt x="960120" y="960120"/>
                </a:lnTo>
                <a:lnTo>
                  <a:pt x="1536192" y="192024"/>
                </a:lnTo>
                <a:close/>
              </a:path>
            </a:pathLst>
          </a:custGeom>
          <a:solidFill>
            <a:srgbClr val="02020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28016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384048" y="192024"/>
                </a:moveTo>
                <a:cubicBezTo>
                  <a:pt x="22843" y="462928"/>
                  <a:pt x="-100805" y="948902"/>
                  <a:pt x="87004" y="1359494"/>
                </a:cubicBezTo>
                <a:cubicBezTo>
                  <a:pt x="274814" y="1770086"/>
                  <a:pt x="723331" y="1994344"/>
                  <a:pt x="1164490" y="1898237"/>
                </a:cubicBezTo>
                <a:cubicBezTo>
                  <a:pt x="1605650" y="1802129"/>
                  <a:pt x="1920240" y="1411626"/>
                  <a:pt x="1920240" y="960120"/>
                </a:cubicBezTo>
                <a:lnTo>
                  <a:pt x="960120" y="960120"/>
                </a:lnTo>
                <a:lnTo>
                  <a:pt x="384048" y="192024"/>
                </a:lnTo>
                <a:close/>
              </a:path>
            </a:pathLst>
          </a:custGeom>
          <a:solidFill>
            <a:srgbClr val="02020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1737360" cy="1737360"/>
          </a:xfrm>
          <a:prstGeom prst="ellipse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371600"/>
            <a:ext cx="1737360" cy="1737360"/>
          </a:xfrm>
          <a:prstGeom prst="ellipse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1737360" cy="1737360"/>
          </a:xfrm>
          <a:prstGeom prst="ellipse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457200"/>
            <a:ext cx="8046720" cy="4503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Self-consistency for robust and reliable outputs</a:t>
            </a:r>
            <a:endParaRPr lang="en-US" sz="1152" dirty="0"/>
          </a:p>
        </p:txBody>
      </p:sp>
      <p:sp>
        <p:nvSpPr>
          <p:cNvPr id="10" name="Shape 5"/>
          <p:cNvSpPr/>
          <p:nvPr/>
        </p:nvSpPr>
        <p:spPr>
          <a:xfrm>
            <a:off x="1321403" y="1732883"/>
            <a:ext cx="1014794" cy="1014794"/>
          </a:xfrm>
          <a:custGeom>
            <a:avLst/>
            <a:gdLst/>
            <a:ahLst/>
            <a:cxnLst/>
            <a:rect l="l" t="t" r="r" b="b"/>
            <a:pathLst>
              <a:path w="1014794" h="1014794">
                <a:moveTo>
                  <a:pt x="507397" y="0"/>
                </a:moveTo>
                <a:cubicBezTo>
                  <a:pt x="787437" y="0"/>
                  <a:pt x="1014794" y="227357"/>
                  <a:pt x="1014794" y="507397"/>
                </a:cubicBezTo>
                <a:cubicBezTo>
                  <a:pt x="1014794" y="787437"/>
                  <a:pt x="787437" y="1014794"/>
                  <a:pt x="507397" y="1014794"/>
                </a:cubicBezTo>
                <a:cubicBezTo>
                  <a:pt x="227357" y="1014794"/>
                  <a:pt x="0" y="787437"/>
                  <a:pt x="0" y="507397"/>
                </a:cubicBezTo>
                <a:cubicBezTo>
                  <a:pt x="0" y="227357"/>
                  <a:pt x="227357" y="0"/>
                  <a:pt x="5073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1077101" y="1904167"/>
            <a:ext cx="1503398" cy="85267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456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63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%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4064603" y="1732883"/>
            <a:ext cx="1014794" cy="1014794"/>
          </a:xfrm>
          <a:custGeom>
            <a:avLst/>
            <a:gdLst/>
            <a:ahLst/>
            <a:cxnLst/>
            <a:rect l="l" t="t" r="r" b="b"/>
            <a:pathLst>
              <a:path w="1014794" h="1014794">
                <a:moveTo>
                  <a:pt x="507397" y="0"/>
                </a:moveTo>
                <a:cubicBezTo>
                  <a:pt x="787437" y="0"/>
                  <a:pt x="1014794" y="227357"/>
                  <a:pt x="1014794" y="507397"/>
                </a:cubicBezTo>
                <a:cubicBezTo>
                  <a:pt x="1014794" y="787437"/>
                  <a:pt x="787437" y="1014794"/>
                  <a:pt x="507397" y="1014794"/>
                </a:cubicBezTo>
                <a:cubicBezTo>
                  <a:pt x="227357" y="1014794"/>
                  <a:pt x="0" y="787437"/>
                  <a:pt x="0" y="507397"/>
                </a:cubicBezTo>
                <a:cubicBezTo>
                  <a:pt x="0" y="227357"/>
                  <a:pt x="227357" y="0"/>
                  <a:pt x="5073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6807803" y="1732883"/>
            <a:ext cx="1014794" cy="1014794"/>
          </a:xfrm>
          <a:custGeom>
            <a:avLst/>
            <a:gdLst/>
            <a:ahLst/>
            <a:cxnLst/>
            <a:rect l="l" t="t" r="r" b="b"/>
            <a:pathLst>
              <a:path w="1014794" h="1014794">
                <a:moveTo>
                  <a:pt x="507397" y="0"/>
                </a:moveTo>
                <a:cubicBezTo>
                  <a:pt x="787437" y="0"/>
                  <a:pt x="1014794" y="227357"/>
                  <a:pt x="1014794" y="507397"/>
                </a:cubicBezTo>
                <a:cubicBezTo>
                  <a:pt x="1014794" y="787437"/>
                  <a:pt x="787437" y="1014794"/>
                  <a:pt x="507397" y="1014794"/>
                </a:cubicBezTo>
                <a:cubicBezTo>
                  <a:pt x="227357" y="1014794"/>
                  <a:pt x="0" y="787437"/>
                  <a:pt x="0" y="507397"/>
                </a:cubicBezTo>
                <a:cubicBezTo>
                  <a:pt x="0" y="227357"/>
                  <a:pt x="227357" y="0"/>
                  <a:pt x="5073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3820301" y="1951101"/>
            <a:ext cx="1503398" cy="7155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75%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6563501" y="1951101"/>
            <a:ext cx="1503398" cy="7155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dirty="0">
                <a:solidFill>
                  <a:srgbClr val="02020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87%</a:t>
            </a:r>
            <a:endParaRPr lang="en-US" sz="1152" dirty="0"/>
          </a:p>
        </p:txBody>
      </p:sp>
      <p:sp>
        <p:nvSpPr>
          <p:cNvPr id="16" name="Text 11"/>
          <p:cNvSpPr/>
          <p:nvPr/>
        </p:nvSpPr>
        <p:spPr>
          <a:xfrm>
            <a:off x="548640" y="3236976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Self-Consistency in Prompting</a:t>
            </a:r>
            <a:endParaRPr lang="en-US" sz="1152" dirty="0"/>
          </a:p>
        </p:txBody>
      </p:sp>
      <p:sp>
        <p:nvSpPr>
          <p:cNvPr id="17" name="Text 12"/>
          <p:cNvSpPr/>
          <p:nvPr/>
        </p:nvSpPr>
        <p:spPr>
          <a:xfrm>
            <a:off x="548640" y="3675888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Self-consistency enhances output reliability by generating multiple reasoning paths and selecting the most frequent answer, ensuring robust model performance.</a:t>
            </a:r>
            <a:endParaRPr lang="en-US" sz="1152" dirty="0"/>
          </a:p>
        </p:txBody>
      </p:sp>
      <p:sp>
        <p:nvSpPr>
          <p:cNvPr id="18" name="Text 13"/>
          <p:cNvSpPr/>
          <p:nvPr/>
        </p:nvSpPr>
        <p:spPr>
          <a:xfrm>
            <a:off x="3291840" y="3236976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Output Reliability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3291840" y="3675888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output reliability refers to the standard consistency of AI responses, which may not always achieve the high robustness of self-consistency methods.</a:t>
            </a:r>
            <a:endParaRPr lang="en-US" sz="1152" dirty="0"/>
          </a:p>
        </p:txBody>
      </p:sp>
      <p:sp>
        <p:nvSpPr>
          <p:cNvPr id="20" name="Text 15"/>
          <p:cNvSpPr/>
          <p:nvPr/>
        </p:nvSpPr>
        <p:spPr>
          <a:xfrm>
            <a:off x="6035040" y="3236976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and Reliable AI</a:t>
            </a:r>
            <a:endParaRPr lang="en-US" sz="1152" dirty="0"/>
          </a:p>
        </p:txBody>
      </p:sp>
      <p:sp>
        <p:nvSpPr>
          <p:cNvPr id="21" name="Text 16"/>
          <p:cNvSpPr/>
          <p:nvPr/>
        </p:nvSpPr>
        <p:spPr>
          <a:xfrm>
            <a:off x="6035040" y="3675888"/>
            <a:ext cx="2560320" cy="34375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require reliable AI outputs for critical applications. Self-consistency provides a method to ensure the robustness and trustworthiness of AI-generated content.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C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6467"/>
            <a:ext cx="8046720" cy="421056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0388" y="375027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731520"/>
            <a:ext cx="7680960" cy="79081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Enhancing model performance through iterative prompting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1640" y="2046427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2046427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95160" y="2046427"/>
            <a:ext cx="457200" cy="4572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246120" y="1969045"/>
            <a:ext cx="0" cy="736665"/>
          </a:xfrm>
          <a:custGeom>
            <a:avLst/>
            <a:gdLst/>
            <a:ahLst/>
            <a:cxnLst/>
            <a:rect l="l" t="t" r="r" b="b"/>
            <a:pathLst>
              <a:path w="0" h="736665">
                <a:moveTo>
                  <a:pt x="0" y="0"/>
                </a:moveTo>
                <a:lnTo>
                  <a:pt x="0" y="736665"/>
                </a:lnTo>
              </a:path>
            </a:pathLst>
          </a:custGeom>
          <a:noFill/>
          <a:ln w="9144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3"/>
          <p:cNvSpPr/>
          <p:nvPr/>
        </p:nvSpPr>
        <p:spPr>
          <a:xfrm>
            <a:off x="5897880" y="1969045"/>
            <a:ext cx="0" cy="736665"/>
          </a:xfrm>
          <a:custGeom>
            <a:avLst/>
            <a:gdLst/>
            <a:ahLst/>
            <a:cxnLst/>
            <a:rect l="l" t="t" r="r" b="b"/>
            <a:pathLst>
              <a:path w="0" h="736665">
                <a:moveTo>
                  <a:pt x="0" y="0"/>
                </a:moveTo>
                <a:lnTo>
                  <a:pt x="0" y="736665"/>
                </a:lnTo>
              </a:path>
            </a:pathLst>
          </a:custGeom>
          <a:noFill/>
          <a:ln w="9144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Text 4"/>
          <p:cNvSpPr/>
          <p:nvPr/>
        </p:nvSpPr>
        <p:spPr>
          <a:xfrm>
            <a:off x="731520" y="2503627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Prompting for Performance</a:t>
            </a:r>
            <a:endParaRPr lang="en-US" sz="1152" dirty="0"/>
          </a:p>
        </p:txBody>
      </p:sp>
      <p:sp>
        <p:nvSpPr>
          <p:cNvPr id="11" name="Text 5"/>
          <p:cNvSpPr/>
          <p:nvPr/>
        </p:nvSpPr>
        <p:spPr>
          <a:xfrm>
            <a:off x="731520" y="3140964"/>
            <a:ext cx="237744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prompting, including techniques like Chain-of-Thought, enhances model performance by refining responses through sequential reasoning steps, leading to better outcomes.</a:t>
            </a:r>
            <a:endParaRPr lang="en-US" sz="1152" dirty="0"/>
          </a:p>
        </p:txBody>
      </p:sp>
      <p:sp>
        <p:nvSpPr>
          <p:cNvPr id="12" name="Text 6"/>
          <p:cNvSpPr/>
          <p:nvPr/>
        </p:nvSpPr>
        <p:spPr>
          <a:xfrm>
            <a:off x="3383280" y="2503913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and Enhanced AI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3383280" y="3140964"/>
            <a:ext cx="237744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benefit from enhanced AI performance, as iterative prompting techniques lead to more accurate and nuanced responses, improving the utility of AI systems.</a:t>
            </a:r>
            <a:endParaRPr lang="en-US" sz="1152" dirty="0"/>
          </a:p>
        </p:txBody>
      </p:sp>
      <p:sp>
        <p:nvSpPr>
          <p:cNvPr id="14" name="Text 8"/>
          <p:cNvSpPr/>
          <p:nvPr/>
        </p:nvSpPr>
        <p:spPr>
          <a:xfrm>
            <a:off x="6035040" y="2503913"/>
            <a:ext cx="2377440" cy="5896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Prompting Methods</a:t>
            </a:r>
            <a:endParaRPr lang="en-US" sz="1152" dirty="0"/>
          </a:p>
        </p:txBody>
      </p:sp>
      <p:sp>
        <p:nvSpPr>
          <p:cNvPr id="15" name="Text 9"/>
          <p:cNvSpPr/>
          <p:nvPr/>
        </p:nvSpPr>
        <p:spPr>
          <a:xfrm>
            <a:off x="6035040" y="3140964"/>
            <a:ext cx="2377440" cy="3436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prompting is an interactive AI prompting method that significantly enhances model performance by guiding the AI through a series of refined steps and considerations.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5762" y="0"/>
            <a:ext cx="3857625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80537" y="3223260"/>
            <a:ext cx="182880" cy="1463040"/>
          </a:xfrm>
          <a:custGeom>
            <a:avLst/>
            <a:gdLst/>
            <a:ahLst/>
            <a:cxnLst/>
            <a:rect l="l" t="t" r="r" b="b"/>
            <a:pathLst>
              <a:path w="182880" h="1463040">
                <a:moveTo>
                  <a:pt x="0" y="0"/>
                </a:moveTo>
                <a:lnTo>
                  <a:pt x="182880" y="0"/>
                </a:lnTo>
                <a:lnTo>
                  <a:pt x="18288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4" name="Text 1"/>
          <p:cNvSpPr/>
          <p:nvPr/>
        </p:nvSpPr>
        <p:spPr>
          <a:xfrm>
            <a:off x="3857854" y="365760"/>
            <a:ext cx="4828946" cy="71794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Engineering Techniques Effectiveness</a:t>
            </a:r>
            <a:endParaRPr lang="en-US" sz="115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7854" y="1188720"/>
            <a:ext cx="4828946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57854" y="4297680"/>
            <a:ext cx="4828946" cy="3436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Effectiveness of Prompt Engineering Strategies(Effectiveness Score (%))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253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18104"/>
            <a:ext cx="8046720" cy="8411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5184" b="1" dirty="0">
                <a:solidFill>
                  <a:srgbClr val="02020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0" y="3310242"/>
            <a:ext cx="512978" cy="512978"/>
          </a:xfrm>
          <a:custGeom>
            <a:avLst/>
            <a:gdLst/>
            <a:ahLst/>
            <a:cxnLst/>
            <a:rect l="l" t="t" r="r" b="b"/>
            <a:pathLst>
              <a:path w="512978" h="512978">
                <a:moveTo>
                  <a:pt x="0" y="0"/>
                </a:moveTo>
                <a:lnTo>
                  <a:pt x="512978" y="0"/>
                </a:lnTo>
                <a:lnTo>
                  <a:pt x="512978" y="512978"/>
                </a:lnTo>
                <a:lnTo>
                  <a:pt x="0" y="512978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5" name="Shape 2"/>
          <p:cNvSpPr/>
          <p:nvPr/>
        </p:nvSpPr>
        <p:spPr>
          <a:xfrm>
            <a:off x="6574025" y="3737823"/>
            <a:ext cx="1568963" cy="1405677"/>
          </a:xfrm>
          <a:custGeom>
            <a:avLst/>
            <a:gdLst/>
            <a:ahLst/>
            <a:cxnLst/>
            <a:rect l="l" t="t" r="r" b="b"/>
            <a:pathLst>
              <a:path w="1568963" h="1405677">
                <a:moveTo>
                  <a:pt x="0" y="0"/>
                </a:moveTo>
                <a:lnTo>
                  <a:pt x="1568963" y="0"/>
                </a:lnTo>
                <a:lnTo>
                  <a:pt x="1568963" y="1405677"/>
                </a:lnTo>
                <a:lnTo>
                  <a:pt x="0" y="1405677"/>
                </a:lnTo>
                <a:close/>
              </a:path>
            </a:pathLst>
          </a:custGeom>
          <a:solidFill>
            <a:srgbClr val="FCCE23"/>
          </a:solidFill>
          <a:ln/>
        </p:spPr>
      </p:sp>
      <p:sp>
        <p:nvSpPr>
          <p:cNvPr id="6" name="Shape 3"/>
          <p:cNvSpPr/>
          <p:nvPr/>
        </p:nvSpPr>
        <p:spPr>
          <a:xfrm>
            <a:off x="6983273" y="365760"/>
            <a:ext cx="1463040" cy="182880"/>
          </a:xfrm>
          <a:custGeom>
            <a:avLst/>
            <a:gdLst/>
            <a:ahLst/>
            <a:cxnLst/>
            <a:rect l="l" t="t" r="r" b="b"/>
            <a:pathLst>
              <a:path w="1463040" h="182880">
                <a:moveTo>
                  <a:pt x="0" y="0"/>
                </a:moveTo>
                <a:lnTo>
                  <a:pt x="1463040" y="0"/>
                </a:lnTo>
                <a:lnTo>
                  <a:pt x="146304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CCE2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2026-06-03T03:29:31Z</dcterms:created>
  <dcterms:modified xsi:type="dcterms:W3CDTF">2026-06-03T03:29:31Z</dcterms:modified>
</cp:coreProperties>
</file>