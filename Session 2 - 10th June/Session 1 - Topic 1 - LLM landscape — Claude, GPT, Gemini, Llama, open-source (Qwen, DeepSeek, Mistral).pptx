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gif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5143500"/>
          </a:xfrm>
          <a:custGeom>
            <a:avLst/>
            <a:gdLst/>
            <a:ahLst/>
            <a:cxnLst/>
            <a:rect l="l" t="t" r="r" b="b"/>
            <a:pathLst>
              <a:path w="5143500" h="5143500">
                <a:moveTo>
                  <a:pt x="0" y="0"/>
                </a:moveTo>
                <a:lnTo>
                  <a:pt x="0" y="5143500"/>
                </a:lnTo>
                <a:lnTo>
                  <a:pt x="5143500" y="5143500"/>
                </a:lnTo>
                <a:close/>
              </a:path>
            </a:pathLst>
          </a:custGeom>
          <a:solidFill>
            <a:srgbClr val="1E497B"/>
          </a:solidFill>
          <a:ln/>
        </p:spPr>
      </p:sp>
      <p:sp>
        <p:nvSpPr>
          <p:cNvPr id="3" name="Shape 1"/>
          <p:cNvSpPr/>
          <p:nvPr/>
        </p:nvSpPr>
        <p:spPr>
          <a:xfrm>
            <a:off x="1206500" y="1428750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1143000" y="0"/>
                </a:moveTo>
                <a:cubicBezTo>
                  <a:pt x="1773839" y="0"/>
                  <a:pt x="2286000" y="512161"/>
                  <a:pt x="2286000" y="1143000"/>
                </a:cubicBezTo>
                <a:cubicBezTo>
                  <a:pt x="2286000" y="1773839"/>
                  <a:pt x="1773839" y="2286000"/>
                  <a:pt x="1143000" y="2286000"/>
                </a:cubicBezTo>
                <a:cubicBezTo>
                  <a:pt x="512161" y="2286000"/>
                  <a:pt x="0" y="1773839"/>
                  <a:pt x="0" y="1143000"/>
                </a:cubicBezTo>
                <a:cubicBezTo>
                  <a:pt x="0" y="512161"/>
                  <a:pt x="512161" y="0"/>
                  <a:pt x="11430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4E81BB"/>
            </a:solidFill>
            <a:prstDash val="solid"/>
          </a:ln>
          <a:effectLst>
            <a:outerShdw sx="100000" sy="100000" kx="0" ky="0" algn="bl" rotWithShape="0" blurRad="18288" dist="38100" dir="2700000">
              <a:srgbClr val="242424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87379" y="1609629"/>
            <a:ext cx="1924242" cy="1924242"/>
          </a:xfrm>
          <a:custGeom>
            <a:avLst/>
            <a:gdLst/>
            <a:ahLst/>
            <a:cxnLst/>
            <a:rect l="l" t="t" r="r" b="b"/>
            <a:pathLst>
              <a:path w="1924242" h="1924242">
                <a:moveTo>
                  <a:pt x="962121" y="0"/>
                </a:moveTo>
                <a:cubicBezTo>
                  <a:pt x="1493130" y="0"/>
                  <a:pt x="1924242" y="431112"/>
                  <a:pt x="1924242" y="962121"/>
                </a:cubicBezTo>
                <a:cubicBezTo>
                  <a:pt x="1924242" y="1493130"/>
                  <a:pt x="1493130" y="1924242"/>
                  <a:pt x="962121" y="1924242"/>
                </a:cubicBezTo>
                <a:cubicBezTo>
                  <a:pt x="431112" y="1924242"/>
                  <a:pt x="0" y="1493130"/>
                  <a:pt x="0" y="962121"/>
                </a:cubicBezTo>
                <a:cubicBezTo>
                  <a:pt x="0" y="431112"/>
                  <a:pt x="431112" y="0"/>
                  <a:pt x="962121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36576" dist="38100" dir="2700000">
              <a:srgbClr val="3b3b3b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8395" y="798599"/>
            <a:ext cx="727364" cy="727364"/>
          </a:xfrm>
          <a:custGeom>
            <a:avLst/>
            <a:gdLst/>
            <a:ahLst/>
            <a:cxnLst/>
            <a:rect l="l" t="t" r="r" b="b"/>
            <a:pathLst>
              <a:path w="727364" h="727364">
                <a:moveTo>
                  <a:pt x="363682" y="0"/>
                </a:moveTo>
                <a:cubicBezTo>
                  <a:pt x="564403" y="0"/>
                  <a:pt x="727364" y="162960"/>
                  <a:pt x="727364" y="363682"/>
                </a:cubicBezTo>
                <a:cubicBezTo>
                  <a:pt x="727364" y="564403"/>
                  <a:pt x="564403" y="727364"/>
                  <a:pt x="363682" y="727364"/>
                </a:cubicBezTo>
                <a:cubicBezTo>
                  <a:pt x="162960" y="727364"/>
                  <a:pt x="0" y="564403"/>
                  <a:pt x="0" y="363682"/>
                </a:cubicBezTo>
                <a:cubicBezTo>
                  <a:pt x="0" y="162960"/>
                  <a:pt x="162960" y="0"/>
                  <a:pt x="36368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8288">
            <a:solidFill>
              <a:srgbClr val="4E81BB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6360" y="886565"/>
            <a:ext cx="551432" cy="551432"/>
          </a:xfrm>
          <a:custGeom>
            <a:avLst/>
            <a:gdLst/>
            <a:ahLst/>
            <a:cxnLst/>
            <a:rect l="l" t="t" r="r" b="b"/>
            <a:pathLst>
              <a:path w="551432" h="551432">
                <a:moveTo>
                  <a:pt x="275716" y="0"/>
                </a:moveTo>
                <a:cubicBezTo>
                  <a:pt x="427888" y="0"/>
                  <a:pt x="551432" y="123544"/>
                  <a:pt x="551432" y="275716"/>
                </a:cubicBezTo>
                <a:cubicBezTo>
                  <a:pt x="551432" y="427888"/>
                  <a:pt x="427888" y="551432"/>
                  <a:pt x="275716" y="551432"/>
                </a:cubicBezTo>
                <a:cubicBezTo>
                  <a:pt x="123544" y="551432"/>
                  <a:pt x="0" y="427888"/>
                  <a:pt x="0" y="275716"/>
                </a:cubicBezTo>
                <a:cubicBezTo>
                  <a:pt x="0" y="123544"/>
                  <a:pt x="123544" y="0"/>
                  <a:pt x="275716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334861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831187" y="3714750"/>
            <a:ext cx="265545" cy="265545"/>
          </a:xfrm>
          <a:custGeom>
            <a:avLst/>
            <a:gdLst/>
            <a:ahLst/>
            <a:cxnLst/>
            <a:rect l="l" t="t" r="r" b="b"/>
            <a:pathLst>
              <a:path w="265545" h="265545">
                <a:moveTo>
                  <a:pt x="132773" y="0"/>
                </a:moveTo>
                <a:cubicBezTo>
                  <a:pt x="206052" y="0"/>
                  <a:pt x="265545" y="59493"/>
                  <a:pt x="265545" y="132773"/>
                </a:cubicBezTo>
                <a:cubicBezTo>
                  <a:pt x="265545" y="206052"/>
                  <a:pt x="206052" y="265545"/>
                  <a:pt x="132773" y="265545"/>
                </a:cubicBezTo>
                <a:cubicBezTo>
                  <a:pt x="59493" y="265545"/>
                  <a:pt x="0" y="206052"/>
                  <a:pt x="0" y="132773"/>
                </a:cubicBezTo>
                <a:cubicBezTo>
                  <a:pt x="0" y="59493"/>
                  <a:pt x="59493" y="0"/>
                  <a:pt x="13277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4E81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78220" y="3761783"/>
            <a:ext cx="171480" cy="171480"/>
          </a:xfrm>
          <a:custGeom>
            <a:avLst/>
            <a:gdLst/>
            <a:ahLst/>
            <a:cxnLst/>
            <a:rect l="l" t="t" r="r" b="b"/>
            <a:pathLst>
              <a:path w="171480" h="171480">
                <a:moveTo>
                  <a:pt x="85740" y="0"/>
                </a:moveTo>
                <a:cubicBezTo>
                  <a:pt x="133061" y="0"/>
                  <a:pt x="171480" y="38419"/>
                  <a:pt x="171480" y="85740"/>
                </a:cubicBezTo>
                <a:cubicBezTo>
                  <a:pt x="171480" y="133061"/>
                  <a:pt x="133061" y="171480"/>
                  <a:pt x="85740" y="171480"/>
                </a:cubicBezTo>
                <a:cubicBezTo>
                  <a:pt x="38419" y="171480"/>
                  <a:pt x="0" y="133061"/>
                  <a:pt x="0" y="85740"/>
                </a:cubicBezTo>
                <a:cubicBezTo>
                  <a:pt x="0" y="38419"/>
                  <a:pt x="38419" y="0"/>
                  <a:pt x="85740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0820" y="1703070"/>
            <a:ext cx="1737360" cy="1737360"/>
          </a:xfrm>
          <a:prstGeom prst="ellipse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0" y="1371600"/>
            <a:ext cx="5120640" cy="106041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2880" b="1" dirty="0">
                <a:solidFill>
                  <a:srgbClr val="1E4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and LLM Landscape Evolution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81122" y="1245947"/>
            <a:ext cx="727364" cy="727364"/>
          </a:xfrm>
          <a:custGeom>
            <a:avLst/>
            <a:gdLst/>
            <a:ahLst/>
            <a:cxnLst/>
            <a:rect l="l" t="t" r="r" b="b"/>
            <a:pathLst>
              <a:path w="727364" h="727364">
                <a:moveTo>
                  <a:pt x="363682" y="0"/>
                </a:moveTo>
                <a:cubicBezTo>
                  <a:pt x="564403" y="0"/>
                  <a:pt x="727364" y="162960"/>
                  <a:pt x="727364" y="363682"/>
                </a:cubicBezTo>
                <a:cubicBezTo>
                  <a:pt x="727364" y="564403"/>
                  <a:pt x="564403" y="727364"/>
                  <a:pt x="363682" y="727364"/>
                </a:cubicBezTo>
                <a:cubicBezTo>
                  <a:pt x="162960" y="727364"/>
                  <a:pt x="0" y="564403"/>
                  <a:pt x="0" y="363682"/>
                </a:cubicBezTo>
                <a:cubicBezTo>
                  <a:pt x="0" y="162960"/>
                  <a:pt x="162960" y="0"/>
                  <a:pt x="36368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4E81BB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301931" y="0"/>
            <a:ext cx="2842069" cy="5143500"/>
          </a:xfrm>
          <a:custGeom>
            <a:avLst/>
            <a:gdLst/>
            <a:ahLst/>
            <a:cxnLst/>
            <a:rect l="l" t="t" r="r" b="b"/>
            <a:pathLst>
              <a:path w="2842069" h="5143500">
                <a:moveTo>
                  <a:pt x="0" y="0"/>
                </a:moveTo>
                <a:lnTo>
                  <a:pt x="2842069" y="0"/>
                </a:lnTo>
                <a:lnTo>
                  <a:pt x="2842069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1E497B"/>
          </a:solidFill>
          <a:ln/>
        </p:spPr>
      </p:sp>
      <p:sp>
        <p:nvSpPr>
          <p:cNvPr id="4" name="Shape 2"/>
          <p:cNvSpPr/>
          <p:nvPr/>
        </p:nvSpPr>
        <p:spPr>
          <a:xfrm>
            <a:off x="5158931" y="1428750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1143000" y="0"/>
                </a:moveTo>
                <a:cubicBezTo>
                  <a:pt x="1773839" y="0"/>
                  <a:pt x="2286000" y="512161"/>
                  <a:pt x="2286000" y="1143000"/>
                </a:cubicBezTo>
                <a:cubicBezTo>
                  <a:pt x="2286000" y="1773839"/>
                  <a:pt x="1773839" y="2286000"/>
                  <a:pt x="1143000" y="2286000"/>
                </a:cubicBezTo>
                <a:cubicBezTo>
                  <a:pt x="512161" y="2286000"/>
                  <a:pt x="0" y="1773839"/>
                  <a:pt x="0" y="1143000"/>
                </a:cubicBezTo>
                <a:cubicBezTo>
                  <a:pt x="0" y="512161"/>
                  <a:pt x="512161" y="0"/>
                  <a:pt x="11430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4E81BB"/>
            </a:solidFill>
            <a:prstDash val="solid"/>
          </a:ln>
          <a:effectLst>
            <a:outerShdw sx="100000" sy="100000" kx="0" ky="0" algn="bl" rotWithShape="0" blurRad="18288" dist="38100" dir="2700000">
              <a:srgbClr val="242424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39809" y="1609629"/>
            <a:ext cx="1924242" cy="1924242"/>
          </a:xfrm>
          <a:custGeom>
            <a:avLst/>
            <a:gdLst/>
            <a:ahLst/>
            <a:cxnLst/>
            <a:rect l="l" t="t" r="r" b="b"/>
            <a:pathLst>
              <a:path w="1924242" h="1924242">
                <a:moveTo>
                  <a:pt x="962121" y="0"/>
                </a:moveTo>
                <a:cubicBezTo>
                  <a:pt x="1493130" y="0"/>
                  <a:pt x="1924242" y="431112"/>
                  <a:pt x="1924242" y="962121"/>
                </a:cubicBezTo>
                <a:cubicBezTo>
                  <a:pt x="1924242" y="1493130"/>
                  <a:pt x="1493130" y="1924242"/>
                  <a:pt x="962121" y="1924242"/>
                </a:cubicBezTo>
                <a:cubicBezTo>
                  <a:pt x="431112" y="1924242"/>
                  <a:pt x="0" y="1493130"/>
                  <a:pt x="0" y="962121"/>
                </a:cubicBezTo>
                <a:cubicBezTo>
                  <a:pt x="0" y="431112"/>
                  <a:pt x="431112" y="0"/>
                  <a:pt x="962121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78971" y="1748790"/>
            <a:ext cx="1645920" cy="1645920"/>
          </a:xfrm>
          <a:custGeom>
            <a:avLst/>
            <a:gdLst/>
            <a:ahLst/>
            <a:cxnLst/>
            <a:rect l="l" t="t" r="r" b="b"/>
            <a:pathLst>
              <a:path w="1645920" h="1645920">
                <a:moveTo>
                  <a:pt x="822960" y="0"/>
                </a:moveTo>
                <a:cubicBezTo>
                  <a:pt x="1277164" y="0"/>
                  <a:pt x="1645920" y="368756"/>
                  <a:pt x="1645920" y="822960"/>
                </a:cubicBezTo>
                <a:cubicBezTo>
                  <a:pt x="1645920" y="1277164"/>
                  <a:pt x="1277164" y="1645920"/>
                  <a:pt x="822960" y="1645920"/>
                </a:cubicBezTo>
                <a:cubicBezTo>
                  <a:pt x="368756" y="1645920"/>
                  <a:pt x="0" y="1277164"/>
                  <a:pt x="0" y="822960"/>
                </a:cubicBezTo>
                <a:cubicBezTo>
                  <a:pt x="0" y="368756"/>
                  <a:pt x="368756" y="0"/>
                  <a:pt x="822960" y="0"/>
                </a:cubicBezTo>
                <a:close/>
              </a:path>
            </a:pathLst>
          </a:custGeom>
          <a:solidFill>
            <a:srgbClr val="1E497B"/>
          </a:solidFill>
          <a:ln/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69088" y="1333913"/>
            <a:ext cx="551432" cy="551432"/>
          </a:xfrm>
          <a:custGeom>
            <a:avLst/>
            <a:gdLst/>
            <a:ahLst/>
            <a:cxnLst/>
            <a:rect l="l" t="t" r="r" b="b"/>
            <a:pathLst>
              <a:path w="551432" h="551432">
                <a:moveTo>
                  <a:pt x="275716" y="0"/>
                </a:moveTo>
                <a:cubicBezTo>
                  <a:pt x="427888" y="0"/>
                  <a:pt x="551432" y="123544"/>
                  <a:pt x="551432" y="275716"/>
                </a:cubicBezTo>
                <a:cubicBezTo>
                  <a:pt x="551432" y="427888"/>
                  <a:pt x="427888" y="551432"/>
                  <a:pt x="275716" y="551432"/>
                </a:cubicBezTo>
                <a:cubicBezTo>
                  <a:pt x="123544" y="551432"/>
                  <a:pt x="0" y="427888"/>
                  <a:pt x="0" y="275716"/>
                </a:cubicBezTo>
                <a:cubicBezTo>
                  <a:pt x="0" y="123544"/>
                  <a:pt x="123544" y="0"/>
                  <a:pt x="275716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20520" y="3610257"/>
            <a:ext cx="635679" cy="635679"/>
          </a:xfrm>
          <a:custGeom>
            <a:avLst/>
            <a:gdLst/>
            <a:ahLst/>
            <a:cxnLst/>
            <a:rect l="l" t="t" r="r" b="b"/>
            <a:pathLst>
              <a:path w="635679" h="635679">
                <a:moveTo>
                  <a:pt x="317840" y="0"/>
                </a:moveTo>
                <a:cubicBezTo>
                  <a:pt x="493260" y="0"/>
                  <a:pt x="635679" y="142419"/>
                  <a:pt x="635679" y="317840"/>
                </a:cubicBezTo>
                <a:cubicBezTo>
                  <a:pt x="635679" y="493260"/>
                  <a:pt x="493260" y="635679"/>
                  <a:pt x="317840" y="635679"/>
                </a:cubicBezTo>
                <a:cubicBezTo>
                  <a:pt x="142419" y="635679"/>
                  <a:pt x="0" y="493260"/>
                  <a:pt x="0" y="317840"/>
                </a:cubicBezTo>
                <a:cubicBezTo>
                  <a:pt x="0" y="142419"/>
                  <a:pt x="142419" y="0"/>
                  <a:pt x="31784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4E81BB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18903" y="3708640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438912" h="438912">
                <a:moveTo>
                  <a:pt x="219456" y="0"/>
                </a:moveTo>
                <a:cubicBezTo>
                  <a:pt x="340577" y="0"/>
                  <a:pt x="438912" y="98335"/>
                  <a:pt x="438912" y="219456"/>
                </a:cubicBezTo>
                <a:cubicBezTo>
                  <a:pt x="438912" y="340577"/>
                  <a:pt x="340577" y="438912"/>
                  <a:pt x="219456" y="438912"/>
                </a:cubicBezTo>
                <a:cubicBezTo>
                  <a:pt x="98335" y="438912"/>
                  <a:pt x="0" y="340577"/>
                  <a:pt x="0" y="219456"/>
                </a:cubicBezTo>
                <a:cubicBezTo>
                  <a:pt x="0" y="98335"/>
                  <a:pt x="98335" y="0"/>
                  <a:pt x="219456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525252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634470"/>
            <a:ext cx="543995" cy="543995"/>
          </a:xfrm>
          <a:custGeom>
            <a:avLst/>
            <a:gdLst/>
            <a:ahLst/>
            <a:cxnLst/>
            <a:rect l="l" t="t" r="r" b="b"/>
            <a:pathLst>
              <a:path w="543995" h="543995">
                <a:moveTo>
                  <a:pt x="271997" y="0"/>
                </a:moveTo>
                <a:cubicBezTo>
                  <a:pt x="422117" y="0"/>
                  <a:pt x="543995" y="121878"/>
                  <a:pt x="543995" y="271997"/>
                </a:cubicBezTo>
                <a:cubicBezTo>
                  <a:pt x="543995" y="422117"/>
                  <a:pt x="422117" y="543995"/>
                  <a:pt x="271997" y="543995"/>
                </a:cubicBezTo>
                <a:cubicBezTo>
                  <a:pt x="121878" y="543995"/>
                  <a:pt x="0" y="422117"/>
                  <a:pt x="0" y="271997"/>
                </a:cubicBezTo>
                <a:cubicBezTo>
                  <a:pt x="0" y="121878"/>
                  <a:pt x="121878" y="0"/>
                  <a:pt x="27199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4E81BB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6194" y="718664"/>
            <a:ext cx="375607" cy="375607"/>
          </a:xfrm>
          <a:custGeom>
            <a:avLst/>
            <a:gdLst/>
            <a:ahLst/>
            <a:cxnLst/>
            <a:rect l="l" t="t" r="r" b="b"/>
            <a:pathLst>
              <a:path w="375607" h="375607">
                <a:moveTo>
                  <a:pt x="187804" y="0"/>
                </a:moveTo>
                <a:cubicBezTo>
                  <a:pt x="291455" y="0"/>
                  <a:pt x="375607" y="84152"/>
                  <a:pt x="375607" y="187804"/>
                </a:cubicBezTo>
                <a:cubicBezTo>
                  <a:pt x="375607" y="291455"/>
                  <a:pt x="291455" y="375607"/>
                  <a:pt x="187804" y="375607"/>
                </a:cubicBezTo>
                <a:cubicBezTo>
                  <a:pt x="84152" y="375607"/>
                  <a:pt x="0" y="291455"/>
                  <a:pt x="0" y="187804"/>
                </a:cubicBezTo>
                <a:cubicBezTo>
                  <a:pt x="0" y="84152"/>
                  <a:pt x="84152" y="0"/>
                  <a:pt x="187804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525252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82597" y="783375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0"/>
                </a:moveTo>
                <a:cubicBezTo>
                  <a:pt x="241242" y="0"/>
                  <a:pt x="310896" y="69654"/>
                  <a:pt x="310896" y="155448"/>
                </a:cubicBezTo>
                <a:cubicBezTo>
                  <a:pt x="310896" y="241242"/>
                  <a:pt x="241242" y="310896"/>
                  <a:pt x="155448" y="310896"/>
                </a:cubicBezTo>
                <a:cubicBezTo>
                  <a:pt x="69654" y="310896"/>
                  <a:pt x="0" y="241242"/>
                  <a:pt x="0" y="155448"/>
                </a:cubicBezTo>
                <a:cubicBezTo>
                  <a:pt x="0" y="69654"/>
                  <a:pt x="69654" y="0"/>
                  <a:pt x="15544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4E81BB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946605" y="847383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525252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32477" y="2090990"/>
            <a:ext cx="543995" cy="543995"/>
          </a:xfrm>
          <a:custGeom>
            <a:avLst/>
            <a:gdLst/>
            <a:ahLst/>
            <a:cxnLst/>
            <a:rect l="l" t="t" r="r" b="b"/>
            <a:pathLst>
              <a:path w="543995" h="543995">
                <a:moveTo>
                  <a:pt x="271997" y="0"/>
                </a:moveTo>
                <a:cubicBezTo>
                  <a:pt x="422117" y="0"/>
                  <a:pt x="543995" y="121878"/>
                  <a:pt x="543995" y="271997"/>
                </a:cubicBezTo>
                <a:cubicBezTo>
                  <a:pt x="543995" y="422117"/>
                  <a:pt x="422117" y="543995"/>
                  <a:pt x="271997" y="543995"/>
                </a:cubicBezTo>
                <a:cubicBezTo>
                  <a:pt x="121878" y="543995"/>
                  <a:pt x="0" y="422117"/>
                  <a:pt x="0" y="271997"/>
                </a:cubicBezTo>
                <a:cubicBezTo>
                  <a:pt x="0" y="121878"/>
                  <a:pt x="121878" y="0"/>
                  <a:pt x="27199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4864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315" y="2231314"/>
            <a:ext cx="274320" cy="26334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" y="2011680"/>
            <a:ext cx="438912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4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Proprietary Large Language Models Overview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18589" y="1531244"/>
            <a:ext cx="0" cy="2042014"/>
          </a:xfrm>
          <a:custGeom>
            <a:avLst/>
            <a:gdLst/>
            <a:ahLst/>
            <a:cxnLst/>
            <a:rect l="l" t="t" r="r" b="b"/>
            <a:pathLst>
              <a:path w="0" h="2042014">
                <a:moveTo>
                  <a:pt x="0" y="0"/>
                </a:moveTo>
                <a:quadBezTo>
                  <a:pt x="-820335" y="920744"/>
                  <a:pt x="0" y="2042014"/>
                </a:quadBezTo>
              </a:path>
            </a:pathLst>
          </a:custGeom>
          <a:noFill/>
          <a:ln w="18288">
            <a:solidFill>
              <a:srgbClr val="1E497B"/>
            </a:solidFill>
            <a:prstDash val="solid"/>
            <a:headEnd type="none"/>
            <a:tailEnd type="none"/>
          </a:ln>
          <a:effectLst>
            <a:outerShdw sx="100000" sy="100000" kx="0" ky="0" algn="bl" rotWithShape="0" blurRad="18288" dist="38100" dir="2700000">
              <a:srgbClr val="334861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76145" y="215715"/>
            <a:ext cx="526328" cy="526328"/>
          </a:xfrm>
          <a:custGeom>
            <a:avLst/>
            <a:gdLst/>
            <a:ahLst/>
            <a:cxnLst/>
            <a:rect l="l" t="t" r="r" b="b"/>
            <a:pathLst>
              <a:path w="526328" h="526328">
                <a:moveTo>
                  <a:pt x="263164" y="0"/>
                </a:moveTo>
                <a:cubicBezTo>
                  <a:pt x="408408" y="0"/>
                  <a:pt x="526328" y="117920"/>
                  <a:pt x="526328" y="263164"/>
                </a:cubicBezTo>
                <a:cubicBezTo>
                  <a:pt x="526328" y="408408"/>
                  <a:pt x="408408" y="526328"/>
                  <a:pt x="263164" y="526328"/>
                </a:cubicBezTo>
                <a:cubicBezTo>
                  <a:pt x="117920" y="526328"/>
                  <a:pt x="0" y="408408"/>
                  <a:pt x="0" y="263164"/>
                </a:cubicBezTo>
                <a:cubicBezTo>
                  <a:pt x="0" y="117920"/>
                  <a:pt x="117920" y="0"/>
                  <a:pt x="26316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8288">
            <a:solidFill>
              <a:srgbClr val="1E4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9798" y="279368"/>
            <a:ext cx="399022" cy="399022"/>
          </a:xfrm>
          <a:custGeom>
            <a:avLst/>
            <a:gdLst/>
            <a:ahLst/>
            <a:cxnLst/>
            <a:rect l="l" t="t" r="r" b="b"/>
            <a:pathLst>
              <a:path w="399022" h="399022">
                <a:moveTo>
                  <a:pt x="199511" y="0"/>
                </a:moveTo>
                <a:cubicBezTo>
                  <a:pt x="309624" y="0"/>
                  <a:pt x="399022" y="89398"/>
                  <a:pt x="399022" y="199511"/>
                </a:cubicBezTo>
                <a:cubicBezTo>
                  <a:pt x="399022" y="309624"/>
                  <a:pt x="309624" y="399022"/>
                  <a:pt x="199511" y="399022"/>
                </a:cubicBezTo>
                <a:cubicBezTo>
                  <a:pt x="89398" y="399022"/>
                  <a:pt x="0" y="309624"/>
                  <a:pt x="0" y="199511"/>
                </a:cubicBezTo>
                <a:cubicBezTo>
                  <a:pt x="0" y="89398"/>
                  <a:pt x="89398" y="0"/>
                  <a:pt x="199511" y="0"/>
                </a:cubicBezTo>
                <a:close/>
              </a:path>
            </a:pathLst>
          </a:custGeom>
          <a:solidFill>
            <a:srgbClr val="1E497B"/>
          </a:solidFill>
          <a:ln/>
          <a:effectLst>
            <a:outerShdw sx="100000" sy="100000" kx="0" ky="0" algn="bl" rotWithShape="0" blurRad="18288" dist="38100" dir="2700000">
              <a:srgbClr val="525252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7314" y="103231"/>
            <a:ext cx="224968" cy="224968"/>
          </a:xfrm>
          <a:custGeom>
            <a:avLst/>
            <a:gdLst/>
            <a:ahLst/>
            <a:cxnLst/>
            <a:rect l="l" t="t" r="r" b="b"/>
            <a:pathLst>
              <a:path w="224968" h="224968">
                <a:moveTo>
                  <a:pt x="112484" y="0"/>
                </a:moveTo>
                <a:cubicBezTo>
                  <a:pt x="174565" y="0"/>
                  <a:pt x="224968" y="50402"/>
                  <a:pt x="224968" y="112484"/>
                </a:cubicBezTo>
                <a:cubicBezTo>
                  <a:pt x="224968" y="174565"/>
                  <a:pt x="174565" y="224968"/>
                  <a:pt x="112484" y="224968"/>
                </a:cubicBezTo>
                <a:cubicBezTo>
                  <a:pt x="50402" y="224968"/>
                  <a:pt x="0" y="174565"/>
                  <a:pt x="0" y="112484"/>
                </a:cubicBezTo>
                <a:cubicBezTo>
                  <a:pt x="0" y="50402"/>
                  <a:pt x="50402" y="0"/>
                  <a:pt x="11248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1E497B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3631" y="131260"/>
            <a:ext cx="132334" cy="132334"/>
          </a:xfrm>
          <a:custGeom>
            <a:avLst/>
            <a:gdLst/>
            <a:ahLst/>
            <a:cxnLst/>
            <a:rect l="l" t="t" r="r" b="b"/>
            <a:pathLst>
              <a:path w="132334" h="132334">
                <a:moveTo>
                  <a:pt x="66167" y="0"/>
                </a:moveTo>
                <a:cubicBezTo>
                  <a:pt x="102686" y="0"/>
                  <a:pt x="132334" y="29648"/>
                  <a:pt x="132334" y="66167"/>
                </a:cubicBezTo>
                <a:cubicBezTo>
                  <a:pt x="132334" y="102686"/>
                  <a:pt x="102686" y="132334"/>
                  <a:pt x="66167" y="132334"/>
                </a:cubicBezTo>
                <a:cubicBezTo>
                  <a:pt x="29648" y="132334"/>
                  <a:pt x="0" y="102686"/>
                  <a:pt x="0" y="66167"/>
                </a:cubicBezTo>
                <a:cubicBezTo>
                  <a:pt x="0" y="29648"/>
                  <a:pt x="29648" y="0"/>
                  <a:pt x="66167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525252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2473" y="103231"/>
            <a:ext cx="224968" cy="224968"/>
          </a:xfrm>
          <a:custGeom>
            <a:avLst/>
            <a:gdLst/>
            <a:ahLst/>
            <a:cxnLst/>
            <a:rect l="l" t="t" r="r" b="b"/>
            <a:pathLst>
              <a:path w="224968" h="224968">
                <a:moveTo>
                  <a:pt x="112484" y="0"/>
                </a:moveTo>
                <a:cubicBezTo>
                  <a:pt x="174565" y="0"/>
                  <a:pt x="224968" y="50402"/>
                  <a:pt x="224968" y="112484"/>
                </a:cubicBezTo>
                <a:cubicBezTo>
                  <a:pt x="224968" y="174565"/>
                  <a:pt x="174565" y="224968"/>
                  <a:pt x="112484" y="224968"/>
                </a:cubicBezTo>
                <a:cubicBezTo>
                  <a:pt x="50402" y="224968"/>
                  <a:pt x="0" y="174565"/>
                  <a:pt x="0" y="112484"/>
                </a:cubicBezTo>
                <a:cubicBezTo>
                  <a:pt x="0" y="50402"/>
                  <a:pt x="50402" y="0"/>
                  <a:pt x="11248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1E49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8790" y="131260"/>
            <a:ext cx="132334" cy="132334"/>
          </a:xfrm>
          <a:custGeom>
            <a:avLst/>
            <a:gdLst/>
            <a:ahLst/>
            <a:cxnLst/>
            <a:rect l="l" t="t" r="r" b="b"/>
            <a:pathLst>
              <a:path w="132334" h="132334">
                <a:moveTo>
                  <a:pt x="66167" y="0"/>
                </a:moveTo>
                <a:cubicBezTo>
                  <a:pt x="102686" y="0"/>
                  <a:pt x="132334" y="29648"/>
                  <a:pt x="132334" y="66167"/>
                </a:cubicBezTo>
                <a:cubicBezTo>
                  <a:pt x="132334" y="102686"/>
                  <a:pt x="102686" y="132334"/>
                  <a:pt x="66167" y="132334"/>
                </a:cubicBezTo>
                <a:cubicBezTo>
                  <a:pt x="29648" y="132334"/>
                  <a:pt x="0" y="102686"/>
                  <a:pt x="0" y="66167"/>
                </a:cubicBezTo>
                <a:cubicBezTo>
                  <a:pt x="0" y="29648"/>
                  <a:pt x="29648" y="0"/>
                  <a:pt x="66167" y="0"/>
                </a:cubicBezTo>
                <a:close/>
              </a:path>
            </a:pathLst>
          </a:custGeom>
          <a:solidFill>
            <a:srgbClr val="1E497B"/>
          </a:solidFill>
          <a:ln/>
        </p:spPr>
      </p:sp>
      <p:sp>
        <p:nvSpPr>
          <p:cNvPr id="9" name="Shape 7"/>
          <p:cNvSpPr/>
          <p:nvPr/>
        </p:nvSpPr>
        <p:spPr>
          <a:xfrm>
            <a:off x="738820" y="642793"/>
            <a:ext cx="198501" cy="198501"/>
          </a:xfrm>
          <a:custGeom>
            <a:avLst/>
            <a:gdLst/>
            <a:ahLst/>
            <a:cxnLst/>
            <a:rect l="l" t="t" r="r" b="b"/>
            <a:pathLst>
              <a:path w="198501" h="198501">
                <a:moveTo>
                  <a:pt x="99250" y="0"/>
                </a:moveTo>
                <a:cubicBezTo>
                  <a:pt x="154028" y="0"/>
                  <a:pt x="198501" y="44473"/>
                  <a:pt x="198501" y="99250"/>
                </a:cubicBezTo>
                <a:cubicBezTo>
                  <a:pt x="198501" y="154028"/>
                  <a:pt x="154028" y="198501"/>
                  <a:pt x="99250" y="198501"/>
                </a:cubicBezTo>
                <a:cubicBezTo>
                  <a:pt x="44473" y="198501"/>
                  <a:pt x="0" y="154028"/>
                  <a:pt x="0" y="99250"/>
                </a:cubicBezTo>
                <a:cubicBezTo>
                  <a:pt x="0" y="44473"/>
                  <a:pt x="44473" y="0"/>
                  <a:pt x="9925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1E49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3648" y="908293"/>
            <a:ext cx="7765837" cy="0"/>
          </a:xfrm>
          <a:custGeom>
            <a:avLst/>
            <a:gdLst/>
            <a:ahLst/>
            <a:cxnLst/>
            <a:rect l="l" t="t" r="r" b="b"/>
            <a:pathLst>
              <a:path w="7765837" h="0">
                <a:moveTo>
                  <a:pt x="0" y="0"/>
                </a:moveTo>
                <a:lnTo>
                  <a:pt x="7765837" y="0"/>
                </a:lnTo>
              </a:path>
            </a:pathLst>
          </a:custGeom>
          <a:noFill/>
          <a:ln w="9144">
            <a:solidFill>
              <a:srgbClr val="1E497B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27441" y="908293"/>
            <a:ext cx="2096411" cy="0"/>
          </a:xfrm>
          <a:custGeom>
            <a:avLst/>
            <a:gdLst/>
            <a:ahLst/>
            <a:cxnLst/>
            <a:rect l="l" t="t" r="r" b="b"/>
            <a:pathLst>
              <a:path w="2096411" h="0">
                <a:moveTo>
                  <a:pt x="0" y="0"/>
                </a:moveTo>
                <a:lnTo>
                  <a:pt x="2096411" y="0"/>
                </a:lnTo>
              </a:path>
            </a:pathLst>
          </a:custGeom>
          <a:noFill/>
          <a:ln w="36576">
            <a:solidFill>
              <a:srgbClr val="1E497B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027441" y="182880"/>
            <a:ext cx="73152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Anthropic's Claude family of models</a:t>
            </a:r>
            <a:endParaRPr lang="en-US" sz="1152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8862" y="324612"/>
            <a:ext cx="457200" cy="4572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500301" y="1165484"/>
            <a:ext cx="4572000" cy="731520"/>
          </a:xfrm>
          <a:custGeom>
            <a:avLst/>
            <a:gdLst/>
            <a:ahLst/>
            <a:cxnLst/>
            <a:rect l="l" t="t" r="r" b="b"/>
            <a:pathLst>
              <a:path w="4572000" h="731520">
                <a:moveTo>
                  <a:pt x="91440" y="0"/>
                </a:moveTo>
                <a:lnTo>
                  <a:pt x="4480560" y="0"/>
                </a:lnTo>
                <a:quadBezTo>
                  <a:pt x="4572000" y="0"/>
                  <a:pt x="4572000" y="91440"/>
                </a:quadBezTo>
                <a:lnTo>
                  <a:pt x="4572000" y="640080"/>
                </a:lnTo>
                <a:quadBezTo>
                  <a:pt x="4572000" y="731520"/>
                  <a:pt x="4480560" y="731520"/>
                </a:quadBezTo>
                <a:lnTo>
                  <a:pt x="91440" y="731520"/>
                </a:lnTo>
                <a:quadBezTo>
                  <a:pt x="0" y="731520"/>
                  <a:pt x="0" y="640080"/>
                </a:quadBezTo>
                <a:lnTo>
                  <a:pt x="0" y="91440"/>
                </a:lnTo>
                <a:quadBezTo>
                  <a:pt x="0" y="0"/>
                  <a:pt x="91440" y="0"/>
                </a:quadBezTo>
                <a:close/>
              </a:path>
            </a:pathLst>
          </a:custGeom>
          <a:solidFill>
            <a:srgbClr val="1E497B"/>
          </a:solidFill>
          <a:ln/>
          <a:effectLst>
            <a:outerShdw sx="100000" sy="100000" kx="0" ky="0" algn="bl" rotWithShape="0" blurRad="18288" dist="38100" dir="2700000">
              <a:srgbClr val="334861">
                <a:alpha val="1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500301" y="1165484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and Claude's evolution</a:t>
            </a:r>
            <a:endParaRPr lang="en-US" sz="1152" dirty="0"/>
          </a:p>
        </p:txBody>
      </p:sp>
      <p:sp>
        <p:nvSpPr>
          <p:cNvPr id="16" name="Shape 13"/>
          <p:cNvSpPr/>
          <p:nvPr/>
        </p:nvSpPr>
        <p:spPr>
          <a:xfrm>
            <a:off x="1500301" y="3207499"/>
            <a:ext cx="4572000" cy="731520"/>
          </a:xfrm>
          <a:custGeom>
            <a:avLst/>
            <a:gdLst/>
            <a:ahLst/>
            <a:cxnLst/>
            <a:rect l="l" t="t" r="r" b="b"/>
            <a:pathLst>
              <a:path w="4572000" h="731520">
                <a:moveTo>
                  <a:pt x="91440" y="0"/>
                </a:moveTo>
                <a:lnTo>
                  <a:pt x="4480560" y="0"/>
                </a:lnTo>
                <a:quadBezTo>
                  <a:pt x="4572000" y="0"/>
                  <a:pt x="4572000" y="91440"/>
                </a:quadBezTo>
                <a:lnTo>
                  <a:pt x="4572000" y="640080"/>
                </a:lnTo>
                <a:quadBezTo>
                  <a:pt x="4572000" y="731520"/>
                  <a:pt x="4480560" y="731520"/>
                </a:quadBezTo>
                <a:lnTo>
                  <a:pt x="91440" y="731520"/>
                </a:lnTo>
                <a:quadBezTo>
                  <a:pt x="0" y="731520"/>
                  <a:pt x="0" y="640080"/>
                </a:quadBezTo>
                <a:lnTo>
                  <a:pt x="0" y="91440"/>
                </a:lnTo>
                <a:quadBezTo>
                  <a:pt x="0" y="0"/>
                  <a:pt x="91440" y="0"/>
                </a:quadBezTo>
                <a:close/>
              </a:path>
            </a:pathLst>
          </a:custGeom>
          <a:solidFill>
            <a:srgbClr val="1E497B"/>
          </a:solidFill>
          <a:ln/>
          <a:effectLst>
            <a:outerShdw sx="100000" sy="100000" kx="0" ky="0" algn="bl" rotWithShape="0" blurRad="18288" dist="38100" dir="2700000">
              <a:srgbClr val="334861">
                <a:alpha val="10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500301" y="3207499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Claude's role in LLM landscape</a:t>
            </a:r>
            <a:endParaRPr lang="en-US" sz="1152" dirty="0"/>
          </a:p>
        </p:txBody>
      </p:sp>
      <p:sp>
        <p:nvSpPr>
          <p:cNvPr id="18" name="Text 15"/>
          <p:cNvSpPr/>
          <p:nvPr/>
        </p:nvSpPr>
        <p:spPr>
          <a:xfrm>
            <a:off x="1500301" y="1924436"/>
            <a:ext cx="713232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development of Claude models significantly impacts how people interact with AI, driving advancements in human-AI collaboration and understanding.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1500301" y="3984041"/>
            <a:ext cx="713232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models are pivotal in the evolving LLM landscape, offering advanced conversational AI and reasoning capabilities for various applications.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6145" y="215715"/>
            <a:ext cx="526328" cy="526328"/>
          </a:xfrm>
          <a:custGeom>
            <a:avLst/>
            <a:gdLst/>
            <a:ahLst/>
            <a:cxnLst/>
            <a:rect l="l" t="t" r="r" b="b"/>
            <a:pathLst>
              <a:path w="526328" h="526328">
                <a:moveTo>
                  <a:pt x="263164" y="0"/>
                </a:moveTo>
                <a:cubicBezTo>
                  <a:pt x="408408" y="0"/>
                  <a:pt x="526328" y="117920"/>
                  <a:pt x="526328" y="263164"/>
                </a:cubicBezTo>
                <a:cubicBezTo>
                  <a:pt x="526328" y="408408"/>
                  <a:pt x="408408" y="526328"/>
                  <a:pt x="263164" y="526328"/>
                </a:cubicBezTo>
                <a:cubicBezTo>
                  <a:pt x="117920" y="526328"/>
                  <a:pt x="0" y="408408"/>
                  <a:pt x="0" y="263164"/>
                </a:cubicBezTo>
                <a:cubicBezTo>
                  <a:pt x="0" y="117920"/>
                  <a:pt x="117920" y="0"/>
                  <a:pt x="26316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8288">
            <a:solidFill>
              <a:srgbClr val="1E4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9798" y="279368"/>
            <a:ext cx="399022" cy="399022"/>
          </a:xfrm>
          <a:custGeom>
            <a:avLst/>
            <a:gdLst/>
            <a:ahLst/>
            <a:cxnLst/>
            <a:rect l="l" t="t" r="r" b="b"/>
            <a:pathLst>
              <a:path w="399022" h="399022">
                <a:moveTo>
                  <a:pt x="199511" y="0"/>
                </a:moveTo>
                <a:cubicBezTo>
                  <a:pt x="309624" y="0"/>
                  <a:pt x="399022" y="89398"/>
                  <a:pt x="399022" y="199511"/>
                </a:cubicBezTo>
                <a:cubicBezTo>
                  <a:pt x="399022" y="309624"/>
                  <a:pt x="309624" y="399022"/>
                  <a:pt x="199511" y="399022"/>
                </a:cubicBezTo>
                <a:cubicBezTo>
                  <a:pt x="89398" y="399022"/>
                  <a:pt x="0" y="309624"/>
                  <a:pt x="0" y="199511"/>
                </a:cubicBezTo>
                <a:cubicBezTo>
                  <a:pt x="0" y="89398"/>
                  <a:pt x="89398" y="0"/>
                  <a:pt x="199511" y="0"/>
                </a:cubicBezTo>
                <a:close/>
              </a:path>
            </a:pathLst>
          </a:custGeom>
          <a:solidFill>
            <a:srgbClr val="1E497B"/>
          </a:solidFill>
          <a:ln/>
          <a:effectLst>
            <a:outerShdw sx="100000" sy="100000" kx="0" ky="0" algn="bl" rotWithShape="0" blurRad="18288" dist="38100" dir="2700000">
              <a:srgbClr val="525252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7314" y="103231"/>
            <a:ext cx="224968" cy="224968"/>
          </a:xfrm>
          <a:custGeom>
            <a:avLst/>
            <a:gdLst/>
            <a:ahLst/>
            <a:cxnLst/>
            <a:rect l="l" t="t" r="r" b="b"/>
            <a:pathLst>
              <a:path w="224968" h="224968">
                <a:moveTo>
                  <a:pt x="112484" y="0"/>
                </a:moveTo>
                <a:cubicBezTo>
                  <a:pt x="174565" y="0"/>
                  <a:pt x="224968" y="50402"/>
                  <a:pt x="224968" y="112484"/>
                </a:cubicBezTo>
                <a:cubicBezTo>
                  <a:pt x="224968" y="174565"/>
                  <a:pt x="174565" y="224968"/>
                  <a:pt x="112484" y="224968"/>
                </a:cubicBezTo>
                <a:cubicBezTo>
                  <a:pt x="50402" y="224968"/>
                  <a:pt x="0" y="174565"/>
                  <a:pt x="0" y="112484"/>
                </a:cubicBezTo>
                <a:cubicBezTo>
                  <a:pt x="0" y="50402"/>
                  <a:pt x="50402" y="0"/>
                  <a:pt x="11248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1E497B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3631" y="131260"/>
            <a:ext cx="132334" cy="132334"/>
          </a:xfrm>
          <a:custGeom>
            <a:avLst/>
            <a:gdLst/>
            <a:ahLst/>
            <a:cxnLst/>
            <a:rect l="l" t="t" r="r" b="b"/>
            <a:pathLst>
              <a:path w="132334" h="132334">
                <a:moveTo>
                  <a:pt x="66167" y="0"/>
                </a:moveTo>
                <a:cubicBezTo>
                  <a:pt x="102686" y="0"/>
                  <a:pt x="132334" y="29648"/>
                  <a:pt x="132334" y="66167"/>
                </a:cubicBezTo>
                <a:cubicBezTo>
                  <a:pt x="132334" y="102686"/>
                  <a:pt x="102686" y="132334"/>
                  <a:pt x="66167" y="132334"/>
                </a:cubicBezTo>
                <a:cubicBezTo>
                  <a:pt x="29648" y="132334"/>
                  <a:pt x="0" y="102686"/>
                  <a:pt x="0" y="66167"/>
                </a:cubicBezTo>
                <a:cubicBezTo>
                  <a:pt x="0" y="29648"/>
                  <a:pt x="29648" y="0"/>
                  <a:pt x="66167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525252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2473" y="103231"/>
            <a:ext cx="224968" cy="224968"/>
          </a:xfrm>
          <a:custGeom>
            <a:avLst/>
            <a:gdLst/>
            <a:ahLst/>
            <a:cxnLst/>
            <a:rect l="l" t="t" r="r" b="b"/>
            <a:pathLst>
              <a:path w="224968" h="224968">
                <a:moveTo>
                  <a:pt x="112484" y="0"/>
                </a:moveTo>
                <a:cubicBezTo>
                  <a:pt x="174565" y="0"/>
                  <a:pt x="224968" y="50402"/>
                  <a:pt x="224968" y="112484"/>
                </a:cubicBezTo>
                <a:cubicBezTo>
                  <a:pt x="224968" y="174565"/>
                  <a:pt x="174565" y="224968"/>
                  <a:pt x="112484" y="224968"/>
                </a:cubicBezTo>
                <a:cubicBezTo>
                  <a:pt x="50402" y="224968"/>
                  <a:pt x="0" y="174565"/>
                  <a:pt x="0" y="112484"/>
                </a:cubicBezTo>
                <a:cubicBezTo>
                  <a:pt x="0" y="50402"/>
                  <a:pt x="50402" y="0"/>
                  <a:pt x="11248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1E49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790" y="131260"/>
            <a:ext cx="132334" cy="132334"/>
          </a:xfrm>
          <a:custGeom>
            <a:avLst/>
            <a:gdLst/>
            <a:ahLst/>
            <a:cxnLst/>
            <a:rect l="l" t="t" r="r" b="b"/>
            <a:pathLst>
              <a:path w="132334" h="132334">
                <a:moveTo>
                  <a:pt x="66167" y="0"/>
                </a:moveTo>
                <a:cubicBezTo>
                  <a:pt x="102686" y="0"/>
                  <a:pt x="132334" y="29648"/>
                  <a:pt x="132334" y="66167"/>
                </a:cubicBezTo>
                <a:cubicBezTo>
                  <a:pt x="132334" y="102686"/>
                  <a:pt x="102686" y="132334"/>
                  <a:pt x="66167" y="132334"/>
                </a:cubicBezTo>
                <a:cubicBezTo>
                  <a:pt x="29648" y="132334"/>
                  <a:pt x="0" y="102686"/>
                  <a:pt x="0" y="66167"/>
                </a:cubicBezTo>
                <a:cubicBezTo>
                  <a:pt x="0" y="29648"/>
                  <a:pt x="29648" y="0"/>
                  <a:pt x="66167" y="0"/>
                </a:cubicBezTo>
                <a:close/>
              </a:path>
            </a:pathLst>
          </a:custGeom>
          <a:solidFill>
            <a:srgbClr val="1E497B"/>
          </a:solidFill>
          <a:ln/>
        </p:spPr>
      </p:sp>
      <p:sp>
        <p:nvSpPr>
          <p:cNvPr id="8" name="Shape 6"/>
          <p:cNvSpPr/>
          <p:nvPr/>
        </p:nvSpPr>
        <p:spPr>
          <a:xfrm>
            <a:off x="738820" y="642793"/>
            <a:ext cx="198501" cy="198501"/>
          </a:xfrm>
          <a:custGeom>
            <a:avLst/>
            <a:gdLst/>
            <a:ahLst/>
            <a:cxnLst/>
            <a:rect l="l" t="t" r="r" b="b"/>
            <a:pathLst>
              <a:path w="198501" h="198501">
                <a:moveTo>
                  <a:pt x="99250" y="0"/>
                </a:moveTo>
                <a:cubicBezTo>
                  <a:pt x="154028" y="0"/>
                  <a:pt x="198501" y="44473"/>
                  <a:pt x="198501" y="99250"/>
                </a:cubicBezTo>
                <a:cubicBezTo>
                  <a:pt x="198501" y="154028"/>
                  <a:pt x="154028" y="198501"/>
                  <a:pt x="99250" y="198501"/>
                </a:cubicBezTo>
                <a:cubicBezTo>
                  <a:pt x="44473" y="198501"/>
                  <a:pt x="0" y="154028"/>
                  <a:pt x="0" y="99250"/>
                </a:cubicBezTo>
                <a:cubicBezTo>
                  <a:pt x="0" y="44473"/>
                  <a:pt x="44473" y="0"/>
                  <a:pt x="9925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1E49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3648" y="908293"/>
            <a:ext cx="7765837" cy="0"/>
          </a:xfrm>
          <a:custGeom>
            <a:avLst/>
            <a:gdLst/>
            <a:ahLst/>
            <a:cxnLst/>
            <a:rect l="l" t="t" r="r" b="b"/>
            <a:pathLst>
              <a:path w="7765837" h="0">
                <a:moveTo>
                  <a:pt x="0" y="0"/>
                </a:moveTo>
                <a:lnTo>
                  <a:pt x="7765837" y="0"/>
                </a:lnTo>
              </a:path>
            </a:pathLst>
          </a:custGeom>
          <a:noFill/>
          <a:ln w="9144">
            <a:solidFill>
              <a:srgbClr val="1E497B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27441" y="908293"/>
            <a:ext cx="2096411" cy="0"/>
          </a:xfrm>
          <a:custGeom>
            <a:avLst/>
            <a:gdLst/>
            <a:ahLst/>
            <a:cxnLst/>
            <a:rect l="l" t="t" r="r" b="b"/>
            <a:pathLst>
              <a:path w="2096411" h="0">
                <a:moveTo>
                  <a:pt x="0" y="0"/>
                </a:moveTo>
                <a:lnTo>
                  <a:pt x="2096411" y="0"/>
                </a:lnTo>
              </a:path>
            </a:pathLst>
          </a:custGeom>
          <a:noFill/>
          <a:ln w="36576">
            <a:solidFill>
              <a:srgbClr val="1E497B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027441" y="182880"/>
            <a:ext cx="73152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OpenAI's GPT series advancements</a:t>
            </a:r>
            <a:endParaRPr lang="en-US" sz="1152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8862" y="324612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34186" y="1221638"/>
            <a:ext cx="329184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People's interaction with GPT</a:t>
            </a:r>
            <a:endParaRPr lang="en-US" sz="1152" dirty="0"/>
          </a:p>
        </p:txBody>
      </p:sp>
      <p:sp>
        <p:nvSpPr>
          <p:cNvPr id="14" name="Text 11"/>
          <p:cNvSpPr/>
          <p:nvPr/>
        </p:nvSpPr>
        <p:spPr>
          <a:xfrm>
            <a:off x="1033838" y="1574597"/>
            <a:ext cx="3291840" cy="62164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models have transformed how people engage with AI, enabling new forms of creativity, productivity, and information access across diverse sectors.</a:t>
            </a:r>
            <a:endParaRPr lang="en-US" sz="1152" dirty="0"/>
          </a:p>
        </p:txBody>
      </p:sp>
      <p:sp>
        <p:nvSpPr>
          <p:cNvPr id="15" name="Shape 12"/>
          <p:cNvSpPr/>
          <p:nvPr/>
        </p:nvSpPr>
        <p:spPr>
          <a:xfrm>
            <a:off x="429202" y="1221638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274320" y="0"/>
                </a:moveTo>
                <a:cubicBezTo>
                  <a:pt x="425721" y="0"/>
                  <a:pt x="548640" y="122919"/>
                  <a:pt x="548640" y="274320"/>
                </a:cubicBezTo>
                <a:cubicBezTo>
                  <a:pt x="548640" y="425721"/>
                  <a:pt x="425721" y="548640"/>
                  <a:pt x="274320" y="548640"/>
                </a:cubicBezTo>
                <a:cubicBezTo>
                  <a:pt x="122919" y="548640"/>
                  <a:pt x="0" y="425721"/>
                  <a:pt x="0" y="274320"/>
                </a:cubicBezTo>
                <a:cubicBezTo>
                  <a:pt x="0" y="122919"/>
                  <a:pt x="122919" y="0"/>
                  <a:pt x="2743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8288" dist="38100" dir="2700000">
              <a:srgbClr val="334861">
                <a:alpha val="10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4922" y="126735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E497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30" y="1331366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22958" y="1221638"/>
            <a:ext cx="329184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LLMs: GPT series</a:t>
            </a:r>
            <a:endParaRPr lang="en-US" sz="1152" dirty="0"/>
          </a:p>
        </p:txBody>
      </p:sp>
      <p:sp>
        <p:nvSpPr>
          <p:cNvPr id="19" name="Text 15"/>
          <p:cNvSpPr/>
          <p:nvPr/>
        </p:nvSpPr>
        <p:spPr>
          <a:xfrm>
            <a:off x="5422958" y="1574381"/>
            <a:ext cx="3291840" cy="62164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OpenAI's GPT series stands as a leading example of proprietary large language models, driving innovation in AI research and commercial applications.</a:t>
            </a:r>
            <a:endParaRPr lang="en-US" sz="1152" dirty="0"/>
          </a:p>
        </p:txBody>
      </p:sp>
      <p:sp>
        <p:nvSpPr>
          <p:cNvPr id="20" name="Shape 16"/>
          <p:cNvSpPr/>
          <p:nvPr/>
        </p:nvSpPr>
        <p:spPr>
          <a:xfrm>
            <a:off x="4828598" y="1221638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274320" y="0"/>
                </a:moveTo>
                <a:cubicBezTo>
                  <a:pt x="425721" y="0"/>
                  <a:pt x="548640" y="122919"/>
                  <a:pt x="548640" y="274320"/>
                </a:cubicBezTo>
                <a:cubicBezTo>
                  <a:pt x="548640" y="425721"/>
                  <a:pt x="425721" y="548640"/>
                  <a:pt x="274320" y="548640"/>
                </a:cubicBezTo>
                <a:cubicBezTo>
                  <a:pt x="122919" y="548640"/>
                  <a:pt x="0" y="425721"/>
                  <a:pt x="0" y="274320"/>
                </a:cubicBezTo>
                <a:cubicBezTo>
                  <a:pt x="0" y="122919"/>
                  <a:pt x="122919" y="0"/>
                  <a:pt x="2743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8288" dist="38100" dir="2700000">
              <a:srgbClr val="334861">
                <a:alpha val="10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874318" y="126735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E497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326" y="1331366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29266" y="2926080"/>
            <a:ext cx="329184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GPT's impact on LLM landscape</a:t>
            </a:r>
            <a:endParaRPr lang="en-US" sz="1152" dirty="0"/>
          </a:p>
        </p:txBody>
      </p:sp>
      <p:sp>
        <p:nvSpPr>
          <p:cNvPr id="24" name="Text 19"/>
          <p:cNvSpPr/>
          <p:nvPr/>
        </p:nvSpPr>
        <p:spPr>
          <a:xfrm>
            <a:off x="1028920" y="3279038"/>
            <a:ext cx="3291840" cy="62164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GPT series from OpenAI has profoundly shaped the LLM landscape, setting benchmarks for generative AI and influencing subsequent model development.</a:t>
            </a:r>
            <a:endParaRPr lang="en-US" sz="1152" dirty="0"/>
          </a:p>
        </p:txBody>
      </p:sp>
      <p:sp>
        <p:nvSpPr>
          <p:cNvPr id="25" name="Shape 20"/>
          <p:cNvSpPr/>
          <p:nvPr/>
        </p:nvSpPr>
        <p:spPr>
          <a:xfrm>
            <a:off x="433963" y="292608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274320" y="0"/>
                </a:moveTo>
                <a:cubicBezTo>
                  <a:pt x="425721" y="0"/>
                  <a:pt x="548640" y="122919"/>
                  <a:pt x="548640" y="274320"/>
                </a:cubicBezTo>
                <a:cubicBezTo>
                  <a:pt x="548640" y="425721"/>
                  <a:pt x="425721" y="548640"/>
                  <a:pt x="274320" y="548640"/>
                </a:cubicBezTo>
                <a:cubicBezTo>
                  <a:pt x="122919" y="548640"/>
                  <a:pt x="0" y="425721"/>
                  <a:pt x="0" y="274320"/>
                </a:cubicBezTo>
                <a:cubicBezTo>
                  <a:pt x="0" y="122919"/>
                  <a:pt x="122919" y="0"/>
                  <a:pt x="2743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8288" dist="38100" dir="2700000">
              <a:srgbClr val="334861">
                <a:alpha val="10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79683" y="2971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E497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91" y="303580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18040" y="2926102"/>
            <a:ext cx="329184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series advancements</a:t>
            </a:r>
            <a:endParaRPr lang="en-US" sz="1152" dirty="0"/>
          </a:p>
        </p:txBody>
      </p:sp>
      <p:sp>
        <p:nvSpPr>
          <p:cNvPr id="29" name="Text 23"/>
          <p:cNvSpPr/>
          <p:nvPr/>
        </p:nvSpPr>
        <p:spPr>
          <a:xfrm>
            <a:off x="5418040" y="3278844"/>
            <a:ext cx="3291840" cy="62164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GPT series continues to see rapid advancements, pushing the boundaries of what large language models can achieve in various complex tasks.</a:t>
            </a:r>
            <a:endParaRPr lang="en-US" sz="1152" dirty="0"/>
          </a:p>
        </p:txBody>
      </p:sp>
      <p:sp>
        <p:nvSpPr>
          <p:cNvPr id="30" name="Shape 24"/>
          <p:cNvSpPr/>
          <p:nvPr/>
        </p:nvSpPr>
        <p:spPr>
          <a:xfrm>
            <a:off x="4874318" y="292608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274320" y="0"/>
                </a:moveTo>
                <a:cubicBezTo>
                  <a:pt x="425721" y="0"/>
                  <a:pt x="548640" y="122919"/>
                  <a:pt x="548640" y="274320"/>
                </a:cubicBezTo>
                <a:cubicBezTo>
                  <a:pt x="548640" y="425721"/>
                  <a:pt x="425721" y="548640"/>
                  <a:pt x="274320" y="548640"/>
                </a:cubicBezTo>
                <a:cubicBezTo>
                  <a:pt x="122919" y="548640"/>
                  <a:pt x="0" y="425721"/>
                  <a:pt x="0" y="274320"/>
                </a:cubicBezTo>
                <a:cubicBezTo>
                  <a:pt x="0" y="122919"/>
                  <a:pt x="122919" y="0"/>
                  <a:pt x="2743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8288" dist="38100" dir="2700000">
              <a:srgbClr val="334861">
                <a:alpha val="10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920038" y="2971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E497B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4046" y="3035808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2473" y="1395634"/>
            <a:ext cx="2187560" cy="3253995"/>
          </a:xfrm>
          <a:custGeom>
            <a:avLst/>
            <a:gdLst/>
            <a:ahLst/>
            <a:cxnLst/>
            <a:rect l="l" t="t" r="r" b="b"/>
            <a:pathLst>
              <a:path w="2187560" h="3253995">
                <a:moveTo>
                  <a:pt x="107889" y="0"/>
                </a:moveTo>
                <a:lnTo>
                  <a:pt x="2079671" y="0"/>
                </a:lnTo>
                <a:quadBezTo>
                  <a:pt x="2187560" y="0"/>
                  <a:pt x="2187560" y="107889"/>
                </a:quadBezTo>
                <a:lnTo>
                  <a:pt x="2187560" y="3146106"/>
                </a:lnTo>
                <a:quadBezTo>
                  <a:pt x="2187560" y="3253995"/>
                  <a:pt x="2079671" y="3253995"/>
                </a:quadBezTo>
                <a:lnTo>
                  <a:pt x="107889" y="3253995"/>
                </a:lnTo>
                <a:quadBezTo>
                  <a:pt x="0" y="3253995"/>
                  <a:pt x="0" y="3146106"/>
                </a:quadBezTo>
                <a:lnTo>
                  <a:pt x="0" y="107889"/>
                </a:lnTo>
                <a:quadBezTo>
                  <a:pt x="0" y="0"/>
                  <a:pt x="107889" y="0"/>
                </a:quadBezTo>
                <a:close/>
              </a:path>
            </a:pathLst>
          </a:custGeom>
          <a:solidFill>
            <a:srgbClr val="1E497B"/>
          </a:solidFill>
          <a:ln/>
          <a:effectLst>
            <a:outerShdw sx="100000" sy="100000" kx="0" ky="0" algn="bl" rotWithShape="0" blurRad="18288" dist="38100" dir="2700000">
              <a:srgbClr val="334861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76145" y="215715"/>
            <a:ext cx="526328" cy="526328"/>
          </a:xfrm>
          <a:custGeom>
            <a:avLst/>
            <a:gdLst/>
            <a:ahLst/>
            <a:cxnLst/>
            <a:rect l="l" t="t" r="r" b="b"/>
            <a:pathLst>
              <a:path w="526328" h="526328">
                <a:moveTo>
                  <a:pt x="263164" y="0"/>
                </a:moveTo>
                <a:cubicBezTo>
                  <a:pt x="408408" y="0"/>
                  <a:pt x="526328" y="117920"/>
                  <a:pt x="526328" y="263164"/>
                </a:cubicBezTo>
                <a:cubicBezTo>
                  <a:pt x="526328" y="408408"/>
                  <a:pt x="408408" y="526328"/>
                  <a:pt x="263164" y="526328"/>
                </a:cubicBezTo>
                <a:cubicBezTo>
                  <a:pt x="117920" y="526328"/>
                  <a:pt x="0" y="408408"/>
                  <a:pt x="0" y="263164"/>
                </a:cubicBezTo>
                <a:cubicBezTo>
                  <a:pt x="0" y="117920"/>
                  <a:pt x="117920" y="0"/>
                  <a:pt x="26316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8288">
            <a:solidFill>
              <a:srgbClr val="1E4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9798" y="279368"/>
            <a:ext cx="399022" cy="399022"/>
          </a:xfrm>
          <a:custGeom>
            <a:avLst/>
            <a:gdLst/>
            <a:ahLst/>
            <a:cxnLst/>
            <a:rect l="l" t="t" r="r" b="b"/>
            <a:pathLst>
              <a:path w="399022" h="399022">
                <a:moveTo>
                  <a:pt x="199511" y="0"/>
                </a:moveTo>
                <a:cubicBezTo>
                  <a:pt x="309624" y="0"/>
                  <a:pt x="399022" y="89398"/>
                  <a:pt x="399022" y="199511"/>
                </a:cubicBezTo>
                <a:cubicBezTo>
                  <a:pt x="399022" y="309624"/>
                  <a:pt x="309624" y="399022"/>
                  <a:pt x="199511" y="399022"/>
                </a:cubicBezTo>
                <a:cubicBezTo>
                  <a:pt x="89398" y="399022"/>
                  <a:pt x="0" y="309624"/>
                  <a:pt x="0" y="199511"/>
                </a:cubicBezTo>
                <a:cubicBezTo>
                  <a:pt x="0" y="89398"/>
                  <a:pt x="89398" y="0"/>
                  <a:pt x="199511" y="0"/>
                </a:cubicBezTo>
                <a:close/>
              </a:path>
            </a:pathLst>
          </a:custGeom>
          <a:solidFill>
            <a:srgbClr val="1E497B"/>
          </a:solidFill>
          <a:ln/>
          <a:effectLst>
            <a:outerShdw sx="100000" sy="100000" kx="0" ky="0" algn="bl" rotWithShape="0" blurRad="18288" dist="38100" dir="2700000">
              <a:srgbClr val="525252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7314" y="103231"/>
            <a:ext cx="224968" cy="224968"/>
          </a:xfrm>
          <a:custGeom>
            <a:avLst/>
            <a:gdLst/>
            <a:ahLst/>
            <a:cxnLst/>
            <a:rect l="l" t="t" r="r" b="b"/>
            <a:pathLst>
              <a:path w="224968" h="224968">
                <a:moveTo>
                  <a:pt x="112484" y="0"/>
                </a:moveTo>
                <a:cubicBezTo>
                  <a:pt x="174565" y="0"/>
                  <a:pt x="224968" y="50402"/>
                  <a:pt x="224968" y="112484"/>
                </a:cubicBezTo>
                <a:cubicBezTo>
                  <a:pt x="224968" y="174565"/>
                  <a:pt x="174565" y="224968"/>
                  <a:pt x="112484" y="224968"/>
                </a:cubicBezTo>
                <a:cubicBezTo>
                  <a:pt x="50402" y="224968"/>
                  <a:pt x="0" y="174565"/>
                  <a:pt x="0" y="112484"/>
                </a:cubicBezTo>
                <a:cubicBezTo>
                  <a:pt x="0" y="50402"/>
                  <a:pt x="50402" y="0"/>
                  <a:pt x="11248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1E497B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3631" y="131260"/>
            <a:ext cx="132334" cy="132334"/>
          </a:xfrm>
          <a:custGeom>
            <a:avLst/>
            <a:gdLst/>
            <a:ahLst/>
            <a:cxnLst/>
            <a:rect l="l" t="t" r="r" b="b"/>
            <a:pathLst>
              <a:path w="132334" h="132334">
                <a:moveTo>
                  <a:pt x="66167" y="0"/>
                </a:moveTo>
                <a:cubicBezTo>
                  <a:pt x="102686" y="0"/>
                  <a:pt x="132334" y="29648"/>
                  <a:pt x="132334" y="66167"/>
                </a:cubicBezTo>
                <a:cubicBezTo>
                  <a:pt x="132334" y="102686"/>
                  <a:pt x="102686" y="132334"/>
                  <a:pt x="66167" y="132334"/>
                </a:cubicBezTo>
                <a:cubicBezTo>
                  <a:pt x="29648" y="132334"/>
                  <a:pt x="0" y="102686"/>
                  <a:pt x="0" y="66167"/>
                </a:cubicBezTo>
                <a:cubicBezTo>
                  <a:pt x="0" y="29648"/>
                  <a:pt x="29648" y="0"/>
                  <a:pt x="66167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525252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2473" y="103231"/>
            <a:ext cx="224968" cy="224968"/>
          </a:xfrm>
          <a:custGeom>
            <a:avLst/>
            <a:gdLst/>
            <a:ahLst/>
            <a:cxnLst/>
            <a:rect l="l" t="t" r="r" b="b"/>
            <a:pathLst>
              <a:path w="224968" h="224968">
                <a:moveTo>
                  <a:pt x="112484" y="0"/>
                </a:moveTo>
                <a:cubicBezTo>
                  <a:pt x="174565" y="0"/>
                  <a:pt x="224968" y="50402"/>
                  <a:pt x="224968" y="112484"/>
                </a:cubicBezTo>
                <a:cubicBezTo>
                  <a:pt x="224968" y="174565"/>
                  <a:pt x="174565" y="224968"/>
                  <a:pt x="112484" y="224968"/>
                </a:cubicBezTo>
                <a:cubicBezTo>
                  <a:pt x="50402" y="224968"/>
                  <a:pt x="0" y="174565"/>
                  <a:pt x="0" y="112484"/>
                </a:cubicBezTo>
                <a:cubicBezTo>
                  <a:pt x="0" y="50402"/>
                  <a:pt x="50402" y="0"/>
                  <a:pt x="11248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1E49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8790" y="131260"/>
            <a:ext cx="132334" cy="132334"/>
          </a:xfrm>
          <a:custGeom>
            <a:avLst/>
            <a:gdLst/>
            <a:ahLst/>
            <a:cxnLst/>
            <a:rect l="l" t="t" r="r" b="b"/>
            <a:pathLst>
              <a:path w="132334" h="132334">
                <a:moveTo>
                  <a:pt x="66167" y="0"/>
                </a:moveTo>
                <a:cubicBezTo>
                  <a:pt x="102686" y="0"/>
                  <a:pt x="132334" y="29648"/>
                  <a:pt x="132334" y="66167"/>
                </a:cubicBezTo>
                <a:cubicBezTo>
                  <a:pt x="132334" y="102686"/>
                  <a:pt x="102686" y="132334"/>
                  <a:pt x="66167" y="132334"/>
                </a:cubicBezTo>
                <a:cubicBezTo>
                  <a:pt x="29648" y="132334"/>
                  <a:pt x="0" y="102686"/>
                  <a:pt x="0" y="66167"/>
                </a:cubicBezTo>
                <a:cubicBezTo>
                  <a:pt x="0" y="29648"/>
                  <a:pt x="29648" y="0"/>
                  <a:pt x="66167" y="0"/>
                </a:cubicBezTo>
                <a:close/>
              </a:path>
            </a:pathLst>
          </a:custGeom>
          <a:solidFill>
            <a:srgbClr val="1E497B"/>
          </a:solidFill>
          <a:ln/>
        </p:spPr>
      </p:sp>
      <p:sp>
        <p:nvSpPr>
          <p:cNvPr id="9" name="Shape 7"/>
          <p:cNvSpPr/>
          <p:nvPr/>
        </p:nvSpPr>
        <p:spPr>
          <a:xfrm>
            <a:off x="738820" y="642793"/>
            <a:ext cx="198501" cy="198501"/>
          </a:xfrm>
          <a:custGeom>
            <a:avLst/>
            <a:gdLst/>
            <a:ahLst/>
            <a:cxnLst/>
            <a:rect l="l" t="t" r="r" b="b"/>
            <a:pathLst>
              <a:path w="198501" h="198501">
                <a:moveTo>
                  <a:pt x="99250" y="0"/>
                </a:moveTo>
                <a:cubicBezTo>
                  <a:pt x="154028" y="0"/>
                  <a:pt x="198501" y="44473"/>
                  <a:pt x="198501" y="99250"/>
                </a:cubicBezTo>
                <a:cubicBezTo>
                  <a:pt x="198501" y="154028"/>
                  <a:pt x="154028" y="198501"/>
                  <a:pt x="99250" y="198501"/>
                </a:cubicBezTo>
                <a:cubicBezTo>
                  <a:pt x="44473" y="198501"/>
                  <a:pt x="0" y="154028"/>
                  <a:pt x="0" y="99250"/>
                </a:cubicBezTo>
                <a:cubicBezTo>
                  <a:pt x="0" y="44473"/>
                  <a:pt x="44473" y="0"/>
                  <a:pt x="9925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1E49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3648" y="908293"/>
            <a:ext cx="7765837" cy="0"/>
          </a:xfrm>
          <a:custGeom>
            <a:avLst/>
            <a:gdLst/>
            <a:ahLst/>
            <a:cxnLst/>
            <a:rect l="l" t="t" r="r" b="b"/>
            <a:pathLst>
              <a:path w="7765837" h="0">
                <a:moveTo>
                  <a:pt x="0" y="0"/>
                </a:moveTo>
                <a:lnTo>
                  <a:pt x="7765837" y="0"/>
                </a:lnTo>
              </a:path>
            </a:pathLst>
          </a:custGeom>
          <a:noFill/>
          <a:ln w="9144">
            <a:solidFill>
              <a:srgbClr val="1E497B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27441" y="908293"/>
            <a:ext cx="2096411" cy="0"/>
          </a:xfrm>
          <a:custGeom>
            <a:avLst/>
            <a:gdLst/>
            <a:ahLst/>
            <a:cxnLst/>
            <a:rect l="l" t="t" r="r" b="b"/>
            <a:pathLst>
              <a:path w="2096411" h="0">
                <a:moveTo>
                  <a:pt x="0" y="0"/>
                </a:moveTo>
                <a:lnTo>
                  <a:pt x="2096411" y="0"/>
                </a:lnTo>
              </a:path>
            </a:pathLst>
          </a:custGeom>
          <a:noFill/>
          <a:ln w="36576">
            <a:solidFill>
              <a:srgbClr val="1E497B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027441" y="182880"/>
            <a:ext cx="73152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Google's Gemini multimodal capabilities</a:t>
            </a:r>
            <a:endParaRPr lang="en-US" sz="1152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8862" y="324612"/>
            <a:ext cx="457200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932" y="1481908"/>
            <a:ext cx="1988642" cy="30814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1645920"/>
            <a:ext cx="530352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Gemini's role in LLM landscape</a:t>
            </a:r>
            <a:endParaRPr lang="en-US" sz="1152" dirty="0"/>
          </a:p>
        </p:txBody>
      </p:sp>
      <p:sp>
        <p:nvSpPr>
          <p:cNvPr id="16" name="Text 12"/>
          <p:cNvSpPr/>
          <p:nvPr/>
        </p:nvSpPr>
        <p:spPr>
          <a:xfrm>
            <a:off x="3383280" y="1874520"/>
            <a:ext cx="530352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Google's Gemini model, with its multimodal capabilities, is a significant player in the LLM landscape, integrating diverse data types for comprehensive understanding.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42069" cy="5143500"/>
          </a:xfrm>
          <a:custGeom>
            <a:avLst/>
            <a:gdLst/>
            <a:ahLst/>
            <a:cxnLst/>
            <a:rect l="l" t="t" r="r" b="b"/>
            <a:pathLst>
              <a:path w="2842069" h="5143500">
                <a:moveTo>
                  <a:pt x="0" y="0"/>
                </a:moveTo>
                <a:lnTo>
                  <a:pt x="2842069" y="0"/>
                </a:lnTo>
                <a:lnTo>
                  <a:pt x="2842069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1E497B"/>
          </a:solidFill>
          <a:ln/>
        </p:spPr>
      </p:sp>
      <p:sp>
        <p:nvSpPr>
          <p:cNvPr id="3" name="Shape 1"/>
          <p:cNvSpPr/>
          <p:nvPr/>
        </p:nvSpPr>
        <p:spPr>
          <a:xfrm>
            <a:off x="1605490" y="1255062"/>
            <a:ext cx="727364" cy="727364"/>
          </a:xfrm>
          <a:custGeom>
            <a:avLst/>
            <a:gdLst/>
            <a:ahLst/>
            <a:cxnLst/>
            <a:rect l="l" t="t" r="r" b="b"/>
            <a:pathLst>
              <a:path w="727364" h="727364">
                <a:moveTo>
                  <a:pt x="363682" y="0"/>
                </a:moveTo>
                <a:cubicBezTo>
                  <a:pt x="564403" y="0"/>
                  <a:pt x="727364" y="162960"/>
                  <a:pt x="727364" y="363682"/>
                </a:cubicBezTo>
                <a:cubicBezTo>
                  <a:pt x="727364" y="564403"/>
                  <a:pt x="564403" y="727364"/>
                  <a:pt x="363682" y="727364"/>
                </a:cubicBezTo>
                <a:cubicBezTo>
                  <a:pt x="162960" y="727364"/>
                  <a:pt x="0" y="564403"/>
                  <a:pt x="0" y="363682"/>
                </a:cubicBezTo>
                <a:cubicBezTo>
                  <a:pt x="0" y="162960"/>
                  <a:pt x="162960" y="0"/>
                  <a:pt x="36368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83299" y="1437865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1143000" y="0"/>
                </a:moveTo>
                <a:cubicBezTo>
                  <a:pt x="1773839" y="0"/>
                  <a:pt x="2286000" y="512161"/>
                  <a:pt x="2286000" y="1143000"/>
                </a:cubicBezTo>
                <a:cubicBezTo>
                  <a:pt x="2286000" y="1773839"/>
                  <a:pt x="1773839" y="2286000"/>
                  <a:pt x="1143000" y="2286000"/>
                </a:cubicBezTo>
                <a:cubicBezTo>
                  <a:pt x="512161" y="2286000"/>
                  <a:pt x="0" y="1773839"/>
                  <a:pt x="0" y="1143000"/>
                </a:cubicBezTo>
                <a:cubicBezTo>
                  <a:pt x="0" y="512161"/>
                  <a:pt x="512161" y="0"/>
                  <a:pt x="11430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4E81BB"/>
            </a:solidFill>
            <a:prstDash val="solid"/>
          </a:ln>
          <a:effectLst>
            <a:outerShdw sx="100000" sy="100000" kx="0" ky="0" algn="bl" rotWithShape="0" blurRad="18288" dist="38100" dir="2700000">
              <a:srgbClr val="242424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64177" y="1618744"/>
            <a:ext cx="1924242" cy="1924242"/>
          </a:xfrm>
          <a:custGeom>
            <a:avLst/>
            <a:gdLst/>
            <a:ahLst/>
            <a:cxnLst/>
            <a:rect l="l" t="t" r="r" b="b"/>
            <a:pathLst>
              <a:path w="1924242" h="1924242">
                <a:moveTo>
                  <a:pt x="962121" y="0"/>
                </a:moveTo>
                <a:cubicBezTo>
                  <a:pt x="1493130" y="0"/>
                  <a:pt x="1924242" y="431112"/>
                  <a:pt x="1924242" y="962121"/>
                </a:cubicBezTo>
                <a:cubicBezTo>
                  <a:pt x="1924242" y="1493130"/>
                  <a:pt x="1493130" y="1924242"/>
                  <a:pt x="962121" y="1924242"/>
                </a:cubicBezTo>
                <a:cubicBezTo>
                  <a:pt x="431112" y="1924242"/>
                  <a:pt x="0" y="1493130"/>
                  <a:pt x="0" y="962121"/>
                </a:cubicBezTo>
                <a:cubicBezTo>
                  <a:pt x="0" y="431112"/>
                  <a:pt x="431112" y="0"/>
                  <a:pt x="962121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03339" y="1757905"/>
            <a:ext cx="1645920" cy="1645920"/>
          </a:xfrm>
          <a:custGeom>
            <a:avLst/>
            <a:gdLst/>
            <a:ahLst/>
            <a:cxnLst/>
            <a:rect l="l" t="t" r="r" b="b"/>
            <a:pathLst>
              <a:path w="1645920" h="1645920">
                <a:moveTo>
                  <a:pt x="822960" y="0"/>
                </a:moveTo>
                <a:cubicBezTo>
                  <a:pt x="1277164" y="0"/>
                  <a:pt x="1645920" y="368756"/>
                  <a:pt x="1645920" y="822960"/>
                </a:cubicBezTo>
                <a:cubicBezTo>
                  <a:pt x="1645920" y="1277164"/>
                  <a:pt x="1277164" y="1645920"/>
                  <a:pt x="822960" y="1645920"/>
                </a:cubicBezTo>
                <a:cubicBezTo>
                  <a:pt x="368756" y="1645920"/>
                  <a:pt x="0" y="1277164"/>
                  <a:pt x="0" y="822960"/>
                </a:cubicBezTo>
                <a:cubicBezTo>
                  <a:pt x="0" y="368756"/>
                  <a:pt x="368756" y="0"/>
                  <a:pt x="822960" y="0"/>
                </a:cubicBezTo>
                <a:close/>
              </a:path>
            </a:pathLst>
          </a:custGeom>
          <a:solidFill>
            <a:srgbClr val="1E497B"/>
          </a:solidFill>
          <a:ln/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93456" y="1343028"/>
            <a:ext cx="551432" cy="551432"/>
          </a:xfrm>
          <a:custGeom>
            <a:avLst/>
            <a:gdLst/>
            <a:ahLst/>
            <a:cxnLst/>
            <a:rect l="l" t="t" r="r" b="b"/>
            <a:pathLst>
              <a:path w="551432" h="551432">
                <a:moveTo>
                  <a:pt x="275716" y="0"/>
                </a:moveTo>
                <a:cubicBezTo>
                  <a:pt x="427888" y="0"/>
                  <a:pt x="551432" y="123544"/>
                  <a:pt x="551432" y="275716"/>
                </a:cubicBezTo>
                <a:cubicBezTo>
                  <a:pt x="551432" y="427888"/>
                  <a:pt x="427888" y="551432"/>
                  <a:pt x="275716" y="551432"/>
                </a:cubicBezTo>
                <a:cubicBezTo>
                  <a:pt x="123544" y="551432"/>
                  <a:pt x="0" y="427888"/>
                  <a:pt x="0" y="275716"/>
                </a:cubicBezTo>
                <a:cubicBezTo>
                  <a:pt x="0" y="123544"/>
                  <a:pt x="123544" y="0"/>
                  <a:pt x="275716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44887" y="3619372"/>
            <a:ext cx="635679" cy="635679"/>
          </a:xfrm>
          <a:custGeom>
            <a:avLst/>
            <a:gdLst/>
            <a:ahLst/>
            <a:cxnLst/>
            <a:rect l="l" t="t" r="r" b="b"/>
            <a:pathLst>
              <a:path w="635679" h="635679">
                <a:moveTo>
                  <a:pt x="317840" y="0"/>
                </a:moveTo>
                <a:cubicBezTo>
                  <a:pt x="493260" y="0"/>
                  <a:pt x="635679" y="142419"/>
                  <a:pt x="635679" y="317840"/>
                </a:cubicBezTo>
                <a:cubicBezTo>
                  <a:pt x="635679" y="493260"/>
                  <a:pt x="493260" y="635679"/>
                  <a:pt x="317840" y="635679"/>
                </a:cubicBezTo>
                <a:cubicBezTo>
                  <a:pt x="142419" y="635679"/>
                  <a:pt x="0" y="493260"/>
                  <a:pt x="0" y="317840"/>
                </a:cubicBezTo>
                <a:cubicBezTo>
                  <a:pt x="0" y="142419"/>
                  <a:pt x="142419" y="0"/>
                  <a:pt x="31784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4E81BB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43271" y="3717755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438912" h="438912">
                <a:moveTo>
                  <a:pt x="219456" y="0"/>
                </a:moveTo>
                <a:cubicBezTo>
                  <a:pt x="340577" y="0"/>
                  <a:pt x="438912" y="98335"/>
                  <a:pt x="438912" y="219456"/>
                </a:cubicBezTo>
                <a:cubicBezTo>
                  <a:pt x="438912" y="340577"/>
                  <a:pt x="340577" y="438912"/>
                  <a:pt x="219456" y="438912"/>
                </a:cubicBezTo>
                <a:cubicBezTo>
                  <a:pt x="98335" y="438912"/>
                  <a:pt x="0" y="340577"/>
                  <a:pt x="0" y="219456"/>
                </a:cubicBezTo>
                <a:cubicBezTo>
                  <a:pt x="0" y="98335"/>
                  <a:pt x="98335" y="0"/>
                  <a:pt x="219456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525252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6845" y="2100105"/>
            <a:ext cx="543995" cy="543995"/>
          </a:xfrm>
          <a:custGeom>
            <a:avLst/>
            <a:gdLst/>
            <a:ahLst/>
            <a:cxnLst/>
            <a:rect l="l" t="t" r="r" b="b"/>
            <a:pathLst>
              <a:path w="543995" h="543995">
                <a:moveTo>
                  <a:pt x="271997" y="0"/>
                </a:moveTo>
                <a:cubicBezTo>
                  <a:pt x="422117" y="0"/>
                  <a:pt x="543995" y="121878"/>
                  <a:pt x="543995" y="271997"/>
                </a:cubicBezTo>
                <a:cubicBezTo>
                  <a:pt x="543995" y="422117"/>
                  <a:pt x="422117" y="543995"/>
                  <a:pt x="271997" y="543995"/>
                </a:cubicBezTo>
                <a:cubicBezTo>
                  <a:pt x="121878" y="543995"/>
                  <a:pt x="0" y="422117"/>
                  <a:pt x="0" y="271997"/>
                </a:cubicBezTo>
                <a:cubicBezTo>
                  <a:pt x="0" y="121878"/>
                  <a:pt x="121878" y="0"/>
                  <a:pt x="27199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4864">
            <a:solidFill>
              <a:srgbClr val="1E497B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1683" y="2240429"/>
            <a:ext cx="274320" cy="263347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92117" y="1188720"/>
            <a:ext cx="4094683" cy="3017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2117" y="4255051"/>
            <a:ext cx="4094326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LLM Models and Families(Impact Score (out of 100))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3200400" y="274320"/>
            <a:ext cx="54864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Landscape Overview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81122" y="1245947"/>
            <a:ext cx="727364" cy="727364"/>
          </a:xfrm>
          <a:custGeom>
            <a:avLst/>
            <a:gdLst/>
            <a:ahLst/>
            <a:cxnLst/>
            <a:rect l="l" t="t" r="r" b="b"/>
            <a:pathLst>
              <a:path w="727364" h="727364">
                <a:moveTo>
                  <a:pt x="363682" y="0"/>
                </a:moveTo>
                <a:cubicBezTo>
                  <a:pt x="564403" y="0"/>
                  <a:pt x="727364" y="162960"/>
                  <a:pt x="727364" y="363682"/>
                </a:cubicBezTo>
                <a:cubicBezTo>
                  <a:pt x="727364" y="564403"/>
                  <a:pt x="564403" y="727364"/>
                  <a:pt x="363682" y="727364"/>
                </a:cubicBezTo>
                <a:cubicBezTo>
                  <a:pt x="162960" y="727364"/>
                  <a:pt x="0" y="564403"/>
                  <a:pt x="0" y="363682"/>
                </a:cubicBezTo>
                <a:cubicBezTo>
                  <a:pt x="0" y="162960"/>
                  <a:pt x="162960" y="0"/>
                  <a:pt x="36368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4E81BB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301931" y="0"/>
            <a:ext cx="2842069" cy="5143500"/>
          </a:xfrm>
          <a:custGeom>
            <a:avLst/>
            <a:gdLst/>
            <a:ahLst/>
            <a:cxnLst/>
            <a:rect l="l" t="t" r="r" b="b"/>
            <a:pathLst>
              <a:path w="2842069" h="5143500">
                <a:moveTo>
                  <a:pt x="0" y="0"/>
                </a:moveTo>
                <a:lnTo>
                  <a:pt x="2842069" y="0"/>
                </a:lnTo>
                <a:lnTo>
                  <a:pt x="2842069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1E497B"/>
          </a:solidFill>
          <a:ln/>
        </p:spPr>
      </p:sp>
      <p:sp>
        <p:nvSpPr>
          <p:cNvPr id="4" name="Shape 2"/>
          <p:cNvSpPr/>
          <p:nvPr/>
        </p:nvSpPr>
        <p:spPr>
          <a:xfrm>
            <a:off x="5158931" y="1428750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1143000" y="0"/>
                </a:moveTo>
                <a:cubicBezTo>
                  <a:pt x="1773839" y="0"/>
                  <a:pt x="2286000" y="512161"/>
                  <a:pt x="2286000" y="1143000"/>
                </a:cubicBezTo>
                <a:cubicBezTo>
                  <a:pt x="2286000" y="1773839"/>
                  <a:pt x="1773839" y="2286000"/>
                  <a:pt x="1143000" y="2286000"/>
                </a:cubicBezTo>
                <a:cubicBezTo>
                  <a:pt x="512161" y="2286000"/>
                  <a:pt x="0" y="1773839"/>
                  <a:pt x="0" y="1143000"/>
                </a:cubicBezTo>
                <a:cubicBezTo>
                  <a:pt x="0" y="512161"/>
                  <a:pt x="512161" y="0"/>
                  <a:pt x="11430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4E81BB"/>
            </a:solidFill>
            <a:prstDash val="solid"/>
          </a:ln>
          <a:effectLst>
            <a:outerShdw sx="100000" sy="100000" kx="0" ky="0" algn="bl" rotWithShape="0" blurRad="18288" dist="38100" dir="2700000">
              <a:srgbClr val="242424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39809" y="1609629"/>
            <a:ext cx="1924242" cy="1924242"/>
          </a:xfrm>
          <a:custGeom>
            <a:avLst/>
            <a:gdLst/>
            <a:ahLst/>
            <a:cxnLst/>
            <a:rect l="l" t="t" r="r" b="b"/>
            <a:pathLst>
              <a:path w="1924242" h="1924242">
                <a:moveTo>
                  <a:pt x="962121" y="0"/>
                </a:moveTo>
                <a:cubicBezTo>
                  <a:pt x="1493130" y="0"/>
                  <a:pt x="1924242" y="431112"/>
                  <a:pt x="1924242" y="962121"/>
                </a:cubicBezTo>
                <a:cubicBezTo>
                  <a:pt x="1924242" y="1493130"/>
                  <a:pt x="1493130" y="1924242"/>
                  <a:pt x="962121" y="1924242"/>
                </a:cubicBezTo>
                <a:cubicBezTo>
                  <a:pt x="431112" y="1924242"/>
                  <a:pt x="0" y="1493130"/>
                  <a:pt x="0" y="962121"/>
                </a:cubicBezTo>
                <a:cubicBezTo>
                  <a:pt x="0" y="431112"/>
                  <a:pt x="431112" y="0"/>
                  <a:pt x="962121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78971" y="1748790"/>
            <a:ext cx="1645920" cy="1645920"/>
          </a:xfrm>
          <a:custGeom>
            <a:avLst/>
            <a:gdLst/>
            <a:ahLst/>
            <a:cxnLst/>
            <a:rect l="l" t="t" r="r" b="b"/>
            <a:pathLst>
              <a:path w="1645920" h="1645920">
                <a:moveTo>
                  <a:pt x="822960" y="0"/>
                </a:moveTo>
                <a:cubicBezTo>
                  <a:pt x="1277164" y="0"/>
                  <a:pt x="1645920" y="368756"/>
                  <a:pt x="1645920" y="822960"/>
                </a:cubicBezTo>
                <a:cubicBezTo>
                  <a:pt x="1645920" y="1277164"/>
                  <a:pt x="1277164" y="1645920"/>
                  <a:pt x="822960" y="1645920"/>
                </a:cubicBezTo>
                <a:cubicBezTo>
                  <a:pt x="368756" y="1645920"/>
                  <a:pt x="0" y="1277164"/>
                  <a:pt x="0" y="822960"/>
                </a:cubicBezTo>
                <a:cubicBezTo>
                  <a:pt x="0" y="368756"/>
                  <a:pt x="368756" y="0"/>
                  <a:pt x="822960" y="0"/>
                </a:cubicBezTo>
                <a:close/>
              </a:path>
            </a:pathLst>
          </a:custGeom>
          <a:solidFill>
            <a:srgbClr val="1E497B"/>
          </a:solidFill>
          <a:ln/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69088" y="1333913"/>
            <a:ext cx="551432" cy="551432"/>
          </a:xfrm>
          <a:custGeom>
            <a:avLst/>
            <a:gdLst/>
            <a:ahLst/>
            <a:cxnLst/>
            <a:rect l="l" t="t" r="r" b="b"/>
            <a:pathLst>
              <a:path w="551432" h="551432">
                <a:moveTo>
                  <a:pt x="275716" y="0"/>
                </a:moveTo>
                <a:cubicBezTo>
                  <a:pt x="427888" y="0"/>
                  <a:pt x="551432" y="123544"/>
                  <a:pt x="551432" y="275716"/>
                </a:cubicBezTo>
                <a:cubicBezTo>
                  <a:pt x="551432" y="427888"/>
                  <a:pt x="427888" y="551432"/>
                  <a:pt x="275716" y="551432"/>
                </a:cubicBezTo>
                <a:cubicBezTo>
                  <a:pt x="123544" y="551432"/>
                  <a:pt x="0" y="427888"/>
                  <a:pt x="0" y="275716"/>
                </a:cubicBezTo>
                <a:cubicBezTo>
                  <a:pt x="0" y="123544"/>
                  <a:pt x="123544" y="0"/>
                  <a:pt x="275716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20520" y="3610257"/>
            <a:ext cx="635679" cy="635679"/>
          </a:xfrm>
          <a:custGeom>
            <a:avLst/>
            <a:gdLst/>
            <a:ahLst/>
            <a:cxnLst/>
            <a:rect l="l" t="t" r="r" b="b"/>
            <a:pathLst>
              <a:path w="635679" h="635679">
                <a:moveTo>
                  <a:pt x="317840" y="0"/>
                </a:moveTo>
                <a:cubicBezTo>
                  <a:pt x="493260" y="0"/>
                  <a:pt x="635679" y="142419"/>
                  <a:pt x="635679" y="317840"/>
                </a:cubicBezTo>
                <a:cubicBezTo>
                  <a:pt x="635679" y="493260"/>
                  <a:pt x="493260" y="635679"/>
                  <a:pt x="317840" y="635679"/>
                </a:cubicBezTo>
                <a:cubicBezTo>
                  <a:pt x="142419" y="635679"/>
                  <a:pt x="0" y="493260"/>
                  <a:pt x="0" y="317840"/>
                </a:cubicBezTo>
                <a:cubicBezTo>
                  <a:pt x="0" y="142419"/>
                  <a:pt x="142419" y="0"/>
                  <a:pt x="31784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4E81BB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18903" y="3708640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438912" h="438912">
                <a:moveTo>
                  <a:pt x="219456" y="0"/>
                </a:moveTo>
                <a:cubicBezTo>
                  <a:pt x="340577" y="0"/>
                  <a:pt x="438912" y="98335"/>
                  <a:pt x="438912" y="219456"/>
                </a:cubicBezTo>
                <a:cubicBezTo>
                  <a:pt x="438912" y="340577"/>
                  <a:pt x="340577" y="438912"/>
                  <a:pt x="219456" y="438912"/>
                </a:cubicBezTo>
                <a:cubicBezTo>
                  <a:pt x="98335" y="438912"/>
                  <a:pt x="0" y="340577"/>
                  <a:pt x="0" y="219456"/>
                </a:cubicBezTo>
                <a:cubicBezTo>
                  <a:pt x="0" y="98335"/>
                  <a:pt x="98335" y="0"/>
                  <a:pt x="219456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525252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634470"/>
            <a:ext cx="543995" cy="543995"/>
          </a:xfrm>
          <a:custGeom>
            <a:avLst/>
            <a:gdLst/>
            <a:ahLst/>
            <a:cxnLst/>
            <a:rect l="l" t="t" r="r" b="b"/>
            <a:pathLst>
              <a:path w="543995" h="543995">
                <a:moveTo>
                  <a:pt x="271997" y="0"/>
                </a:moveTo>
                <a:cubicBezTo>
                  <a:pt x="422117" y="0"/>
                  <a:pt x="543995" y="121878"/>
                  <a:pt x="543995" y="271997"/>
                </a:cubicBezTo>
                <a:cubicBezTo>
                  <a:pt x="543995" y="422117"/>
                  <a:pt x="422117" y="543995"/>
                  <a:pt x="271997" y="543995"/>
                </a:cubicBezTo>
                <a:cubicBezTo>
                  <a:pt x="121878" y="543995"/>
                  <a:pt x="0" y="422117"/>
                  <a:pt x="0" y="271997"/>
                </a:cubicBezTo>
                <a:cubicBezTo>
                  <a:pt x="0" y="121878"/>
                  <a:pt x="121878" y="0"/>
                  <a:pt x="27199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4E81BB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6194" y="718664"/>
            <a:ext cx="375607" cy="375607"/>
          </a:xfrm>
          <a:custGeom>
            <a:avLst/>
            <a:gdLst/>
            <a:ahLst/>
            <a:cxnLst/>
            <a:rect l="l" t="t" r="r" b="b"/>
            <a:pathLst>
              <a:path w="375607" h="375607">
                <a:moveTo>
                  <a:pt x="187804" y="0"/>
                </a:moveTo>
                <a:cubicBezTo>
                  <a:pt x="291455" y="0"/>
                  <a:pt x="375607" y="84152"/>
                  <a:pt x="375607" y="187804"/>
                </a:cubicBezTo>
                <a:cubicBezTo>
                  <a:pt x="375607" y="291455"/>
                  <a:pt x="291455" y="375607"/>
                  <a:pt x="187804" y="375607"/>
                </a:cubicBezTo>
                <a:cubicBezTo>
                  <a:pt x="84152" y="375607"/>
                  <a:pt x="0" y="291455"/>
                  <a:pt x="0" y="187804"/>
                </a:cubicBezTo>
                <a:cubicBezTo>
                  <a:pt x="0" y="84152"/>
                  <a:pt x="84152" y="0"/>
                  <a:pt x="187804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525252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82597" y="783375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0"/>
                </a:moveTo>
                <a:cubicBezTo>
                  <a:pt x="241242" y="0"/>
                  <a:pt x="310896" y="69654"/>
                  <a:pt x="310896" y="155448"/>
                </a:cubicBezTo>
                <a:cubicBezTo>
                  <a:pt x="310896" y="241242"/>
                  <a:pt x="241242" y="310896"/>
                  <a:pt x="155448" y="310896"/>
                </a:cubicBezTo>
                <a:cubicBezTo>
                  <a:pt x="69654" y="310896"/>
                  <a:pt x="0" y="241242"/>
                  <a:pt x="0" y="155448"/>
                </a:cubicBezTo>
                <a:cubicBezTo>
                  <a:pt x="0" y="69654"/>
                  <a:pt x="69654" y="0"/>
                  <a:pt x="15544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4E81BB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946605" y="847383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525252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32477" y="2090990"/>
            <a:ext cx="543995" cy="543995"/>
          </a:xfrm>
          <a:custGeom>
            <a:avLst/>
            <a:gdLst/>
            <a:ahLst/>
            <a:cxnLst/>
            <a:rect l="l" t="t" r="r" b="b"/>
            <a:pathLst>
              <a:path w="543995" h="543995">
                <a:moveTo>
                  <a:pt x="271997" y="0"/>
                </a:moveTo>
                <a:cubicBezTo>
                  <a:pt x="422117" y="0"/>
                  <a:pt x="543995" y="121878"/>
                  <a:pt x="543995" y="271997"/>
                </a:cubicBezTo>
                <a:cubicBezTo>
                  <a:pt x="543995" y="422117"/>
                  <a:pt x="422117" y="543995"/>
                  <a:pt x="271997" y="543995"/>
                </a:cubicBezTo>
                <a:cubicBezTo>
                  <a:pt x="121878" y="543995"/>
                  <a:pt x="0" y="422117"/>
                  <a:pt x="0" y="271997"/>
                </a:cubicBezTo>
                <a:cubicBezTo>
                  <a:pt x="0" y="121878"/>
                  <a:pt x="121878" y="0"/>
                  <a:pt x="27199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4864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315" y="2231314"/>
            <a:ext cx="274320" cy="26334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" y="2011680"/>
            <a:ext cx="438912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4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Open-Source LLM Ecosystem and Innovations</a:t>
            </a:r>
            <a:endParaRPr lang="en-US" sz="115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_W-o99OBzHl" descr="https://osspub.smallppt.com/uploadFile/template/Learning_20240705172218A292.gif">    </p:cNvPr>
          <p:cNvPicPr>
            <a:picLocks noChangeAspect="1"/>
          </p:cNvPicPr>
          <p:nvPr/>
        </p:nvPicPr>
        <p:blipFill>
          <a:blip r:embed="rId1"/>
          <a:srcRect l="0" t="0" r="0" b="20000"/>
          <a:stretch>
            <a:fillRect/>
          </a:stretch>
        </p:blipFill>
        <p:spPr>
          <a:xfrm rot="5400000">
            <a:off x="311484" y="1662325"/>
            <a:ext cx="2922215" cy="2336936"/>
          </a:xfrm>
          <a:prstGeom prst="roundRect">
            <a:avLst>
              <a:gd name="adj" fmla="val 5000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276145" y="215715"/>
            <a:ext cx="526328" cy="526328"/>
          </a:xfrm>
          <a:custGeom>
            <a:avLst/>
            <a:gdLst/>
            <a:ahLst/>
            <a:cxnLst/>
            <a:rect l="l" t="t" r="r" b="b"/>
            <a:pathLst>
              <a:path w="526328" h="526328">
                <a:moveTo>
                  <a:pt x="263164" y="0"/>
                </a:moveTo>
                <a:cubicBezTo>
                  <a:pt x="408408" y="0"/>
                  <a:pt x="526328" y="117920"/>
                  <a:pt x="526328" y="263164"/>
                </a:cubicBezTo>
                <a:cubicBezTo>
                  <a:pt x="526328" y="408408"/>
                  <a:pt x="408408" y="526328"/>
                  <a:pt x="263164" y="526328"/>
                </a:cubicBezTo>
                <a:cubicBezTo>
                  <a:pt x="117920" y="526328"/>
                  <a:pt x="0" y="408408"/>
                  <a:pt x="0" y="263164"/>
                </a:cubicBezTo>
                <a:cubicBezTo>
                  <a:pt x="0" y="117920"/>
                  <a:pt x="117920" y="0"/>
                  <a:pt x="26316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8288">
            <a:solidFill>
              <a:srgbClr val="1E497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39798" y="279368"/>
            <a:ext cx="399022" cy="399022"/>
          </a:xfrm>
          <a:custGeom>
            <a:avLst/>
            <a:gdLst/>
            <a:ahLst/>
            <a:cxnLst/>
            <a:rect l="l" t="t" r="r" b="b"/>
            <a:pathLst>
              <a:path w="399022" h="399022">
                <a:moveTo>
                  <a:pt x="199511" y="0"/>
                </a:moveTo>
                <a:cubicBezTo>
                  <a:pt x="309624" y="0"/>
                  <a:pt x="399022" y="89398"/>
                  <a:pt x="399022" y="199511"/>
                </a:cubicBezTo>
                <a:cubicBezTo>
                  <a:pt x="399022" y="309624"/>
                  <a:pt x="309624" y="399022"/>
                  <a:pt x="199511" y="399022"/>
                </a:cubicBezTo>
                <a:cubicBezTo>
                  <a:pt x="89398" y="399022"/>
                  <a:pt x="0" y="309624"/>
                  <a:pt x="0" y="199511"/>
                </a:cubicBezTo>
                <a:cubicBezTo>
                  <a:pt x="0" y="89398"/>
                  <a:pt x="89398" y="0"/>
                  <a:pt x="199511" y="0"/>
                </a:cubicBezTo>
                <a:close/>
              </a:path>
            </a:pathLst>
          </a:custGeom>
          <a:solidFill>
            <a:srgbClr val="1E497B"/>
          </a:solidFill>
          <a:ln/>
          <a:effectLst>
            <a:outerShdw sx="100000" sy="100000" kx="0" ky="0" algn="bl" rotWithShape="0" blurRad="18288" dist="38100" dir="2700000">
              <a:srgbClr val="525252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227314" y="103231"/>
            <a:ext cx="224968" cy="224968"/>
          </a:xfrm>
          <a:custGeom>
            <a:avLst/>
            <a:gdLst/>
            <a:ahLst/>
            <a:cxnLst/>
            <a:rect l="l" t="t" r="r" b="b"/>
            <a:pathLst>
              <a:path w="224968" h="224968">
                <a:moveTo>
                  <a:pt x="112484" y="0"/>
                </a:moveTo>
                <a:cubicBezTo>
                  <a:pt x="174565" y="0"/>
                  <a:pt x="224968" y="50402"/>
                  <a:pt x="224968" y="112484"/>
                </a:cubicBezTo>
                <a:cubicBezTo>
                  <a:pt x="224968" y="174565"/>
                  <a:pt x="174565" y="224968"/>
                  <a:pt x="112484" y="224968"/>
                </a:cubicBezTo>
                <a:cubicBezTo>
                  <a:pt x="50402" y="224968"/>
                  <a:pt x="0" y="174565"/>
                  <a:pt x="0" y="112484"/>
                </a:cubicBezTo>
                <a:cubicBezTo>
                  <a:pt x="0" y="50402"/>
                  <a:pt x="50402" y="0"/>
                  <a:pt x="11248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1E497B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3631" y="131260"/>
            <a:ext cx="132334" cy="132334"/>
          </a:xfrm>
          <a:custGeom>
            <a:avLst/>
            <a:gdLst/>
            <a:ahLst/>
            <a:cxnLst/>
            <a:rect l="l" t="t" r="r" b="b"/>
            <a:pathLst>
              <a:path w="132334" h="132334">
                <a:moveTo>
                  <a:pt x="66167" y="0"/>
                </a:moveTo>
                <a:cubicBezTo>
                  <a:pt x="102686" y="0"/>
                  <a:pt x="132334" y="29648"/>
                  <a:pt x="132334" y="66167"/>
                </a:cubicBezTo>
                <a:cubicBezTo>
                  <a:pt x="132334" y="102686"/>
                  <a:pt x="102686" y="132334"/>
                  <a:pt x="66167" y="132334"/>
                </a:cubicBezTo>
                <a:cubicBezTo>
                  <a:pt x="29648" y="132334"/>
                  <a:pt x="0" y="102686"/>
                  <a:pt x="0" y="66167"/>
                </a:cubicBezTo>
                <a:cubicBezTo>
                  <a:pt x="0" y="29648"/>
                  <a:pt x="29648" y="0"/>
                  <a:pt x="66167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525252">
                <a:alpha val="10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2473" y="103231"/>
            <a:ext cx="224968" cy="224968"/>
          </a:xfrm>
          <a:custGeom>
            <a:avLst/>
            <a:gdLst/>
            <a:ahLst/>
            <a:cxnLst/>
            <a:rect l="l" t="t" r="r" b="b"/>
            <a:pathLst>
              <a:path w="224968" h="224968">
                <a:moveTo>
                  <a:pt x="112484" y="0"/>
                </a:moveTo>
                <a:cubicBezTo>
                  <a:pt x="174565" y="0"/>
                  <a:pt x="224968" y="50402"/>
                  <a:pt x="224968" y="112484"/>
                </a:cubicBezTo>
                <a:cubicBezTo>
                  <a:pt x="224968" y="174565"/>
                  <a:pt x="174565" y="224968"/>
                  <a:pt x="112484" y="224968"/>
                </a:cubicBezTo>
                <a:cubicBezTo>
                  <a:pt x="50402" y="224968"/>
                  <a:pt x="0" y="174565"/>
                  <a:pt x="0" y="112484"/>
                </a:cubicBezTo>
                <a:cubicBezTo>
                  <a:pt x="0" y="50402"/>
                  <a:pt x="50402" y="0"/>
                  <a:pt x="11248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1E497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8790" y="131260"/>
            <a:ext cx="132334" cy="132334"/>
          </a:xfrm>
          <a:custGeom>
            <a:avLst/>
            <a:gdLst/>
            <a:ahLst/>
            <a:cxnLst/>
            <a:rect l="l" t="t" r="r" b="b"/>
            <a:pathLst>
              <a:path w="132334" h="132334">
                <a:moveTo>
                  <a:pt x="66167" y="0"/>
                </a:moveTo>
                <a:cubicBezTo>
                  <a:pt x="102686" y="0"/>
                  <a:pt x="132334" y="29648"/>
                  <a:pt x="132334" y="66167"/>
                </a:cubicBezTo>
                <a:cubicBezTo>
                  <a:pt x="132334" y="102686"/>
                  <a:pt x="102686" y="132334"/>
                  <a:pt x="66167" y="132334"/>
                </a:cubicBezTo>
                <a:cubicBezTo>
                  <a:pt x="29648" y="132334"/>
                  <a:pt x="0" y="102686"/>
                  <a:pt x="0" y="66167"/>
                </a:cubicBezTo>
                <a:cubicBezTo>
                  <a:pt x="0" y="29648"/>
                  <a:pt x="29648" y="0"/>
                  <a:pt x="66167" y="0"/>
                </a:cubicBezTo>
                <a:close/>
              </a:path>
            </a:pathLst>
          </a:custGeom>
          <a:solidFill>
            <a:srgbClr val="1E497B"/>
          </a:solidFill>
          <a:ln/>
        </p:spPr>
      </p:sp>
      <p:sp>
        <p:nvSpPr>
          <p:cNvPr id="9" name="Shape 6"/>
          <p:cNvSpPr/>
          <p:nvPr/>
        </p:nvSpPr>
        <p:spPr>
          <a:xfrm>
            <a:off x="738820" y="642793"/>
            <a:ext cx="198501" cy="198501"/>
          </a:xfrm>
          <a:custGeom>
            <a:avLst/>
            <a:gdLst/>
            <a:ahLst/>
            <a:cxnLst/>
            <a:rect l="l" t="t" r="r" b="b"/>
            <a:pathLst>
              <a:path w="198501" h="198501">
                <a:moveTo>
                  <a:pt x="99250" y="0"/>
                </a:moveTo>
                <a:cubicBezTo>
                  <a:pt x="154028" y="0"/>
                  <a:pt x="198501" y="44473"/>
                  <a:pt x="198501" y="99250"/>
                </a:cubicBezTo>
                <a:cubicBezTo>
                  <a:pt x="198501" y="154028"/>
                  <a:pt x="154028" y="198501"/>
                  <a:pt x="99250" y="198501"/>
                </a:cubicBezTo>
                <a:cubicBezTo>
                  <a:pt x="44473" y="198501"/>
                  <a:pt x="0" y="154028"/>
                  <a:pt x="0" y="99250"/>
                </a:cubicBezTo>
                <a:cubicBezTo>
                  <a:pt x="0" y="44473"/>
                  <a:pt x="44473" y="0"/>
                  <a:pt x="9925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1E497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3648" y="908293"/>
            <a:ext cx="7765837" cy="0"/>
          </a:xfrm>
          <a:custGeom>
            <a:avLst/>
            <a:gdLst/>
            <a:ahLst/>
            <a:cxnLst/>
            <a:rect l="l" t="t" r="r" b="b"/>
            <a:pathLst>
              <a:path w="7765837" h="0">
                <a:moveTo>
                  <a:pt x="0" y="0"/>
                </a:moveTo>
                <a:lnTo>
                  <a:pt x="7765837" y="0"/>
                </a:lnTo>
              </a:path>
            </a:pathLst>
          </a:custGeom>
          <a:noFill/>
          <a:ln w="9144">
            <a:solidFill>
              <a:srgbClr val="1E497B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1027441" y="908293"/>
            <a:ext cx="2096411" cy="0"/>
          </a:xfrm>
          <a:custGeom>
            <a:avLst/>
            <a:gdLst/>
            <a:ahLst/>
            <a:cxnLst/>
            <a:rect l="l" t="t" r="r" b="b"/>
            <a:pathLst>
              <a:path w="2096411" h="0">
                <a:moveTo>
                  <a:pt x="0" y="0"/>
                </a:moveTo>
                <a:lnTo>
                  <a:pt x="2096411" y="0"/>
                </a:lnTo>
              </a:path>
            </a:pathLst>
          </a:custGeom>
          <a:noFill/>
          <a:ln w="36576">
            <a:solidFill>
              <a:srgbClr val="1E497B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/>
          <p:nvPr/>
        </p:nvSpPr>
        <p:spPr>
          <a:xfrm>
            <a:off x="1027441" y="182880"/>
            <a:ext cx="73152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Meta's Llama foundational model contributions</a:t>
            </a:r>
            <a:endParaRPr lang="en-US" sz="1152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862" y="32461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1000354"/>
            <a:ext cx="512064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in Open-Source Ecosystem</a:t>
            </a:r>
            <a:endParaRPr lang="en-US" sz="1152" dirty="0"/>
          </a:p>
        </p:txBody>
      </p:sp>
      <p:sp>
        <p:nvSpPr>
          <p:cNvPr id="15" name="Text 11"/>
          <p:cNvSpPr/>
          <p:nvPr/>
        </p:nvSpPr>
        <p:spPr>
          <a:xfrm>
            <a:off x="3566160" y="1186891"/>
            <a:ext cx="512064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Meta's Llama models are cornerstones of the open-source LLM ecosystem, driving innovation and collaborative development within the AI community.</a:t>
            </a:r>
            <a:endParaRPr lang="en-US" sz="1152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283" y="1168603"/>
            <a:ext cx="365760" cy="2706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66160" y="1996135"/>
            <a:ext cx="512064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Llama's Impact on LLMs</a:t>
            </a:r>
            <a:endParaRPr lang="en-US" sz="1152" dirty="0"/>
          </a:p>
        </p:txBody>
      </p:sp>
      <p:sp>
        <p:nvSpPr>
          <p:cNvPr id="18" name="Text 13"/>
          <p:cNvSpPr/>
          <p:nvPr/>
        </p:nvSpPr>
        <p:spPr>
          <a:xfrm>
            <a:off x="3566160" y="2182673"/>
            <a:ext cx="512064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Meta's Llama models have significantly advanced the open-source LLM landscape, fostering innovation and accessibility for researchers and developers globally.</a:t>
            </a:r>
            <a:endParaRPr lang="en-US" sz="1152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0283" y="211353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566160" y="2992831"/>
            <a:ext cx="512064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and Llama's Influence</a:t>
            </a:r>
            <a:endParaRPr lang="en-US" sz="1152" dirty="0"/>
          </a:p>
        </p:txBody>
      </p:sp>
      <p:sp>
        <p:nvSpPr>
          <p:cNvPr id="21" name="Text 15"/>
          <p:cNvSpPr/>
          <p:nvPr/>
        </p:nvSpPr>
        <p:spPr>
          <a:xfrm>
            <a:off x="3566160" y="3179369"/>
            <a:ext cx="512064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Llama's contributions are shaping how people interact with and develop AI, democratizing access to powerful foundational models for diverse applications.</a:t>
            </a:r>
            <a:endParaRPr lang="en-US" sz="1152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0283" y="3153555"/>
            <a:ext cx="365760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566160" y="3988613"/>
            <a:ext cx="512064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Model Development</a:t>
            </a:r>
            <a:endParaRPr lang="en-US" sz="1152" dirty="0"/>
          </a:p>
        </p:txBody>
      </p:sp>
      <p:sp>
        <p:nvSpPr>
          <p:cNvPr id="24" name="Text 17"/>
          <p:cNvSpPr/>
          <p:nvPr/>
        </p:nvSpPr>
        <p:spPr>
          <a:xfrm>
            <a:off x="3566160" y="4175150"/>
            <a:ext cx="512064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development practices are crucial for ensuring the stability and reliability of large language models across various applications and user scenarios.</a:t>
            </a:r>
            <a:endParaRPr lang="en-US" sz="1152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0283" y="4157003"/>
            <a:ext cx="36576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6145" y="215715"/>
            <a:ext cx="526328" cy="526328"/>
          </a:xfrm>
          <a:custGeom>
            <a:avLst/>
            <a:gdLst/>
            <a:ahLst/>
            <a:cxnLst/>
            <a:rect l="l" t="t" r="r" b="b"/>
            <a:pathLst>
              <a:path w="526328" h="526328">
                <a:moveTo>
                  <a:pt x="263164" y="0"/>
                </a:moveTo>
                <a:cubicBezTo>
                  <a:pt x="408408" y="0"/>
                  <a:pt x="526328" y="117920"/>
                  <a:pt x="526328" y="263164"/>
                </a:cubicBezTo>
                <a:cubicBezTo>
                  <a:pt x="526328" y="408408"/>
                  <a:pt x="408408" y="526328"/>
                  <a:pt x="263164" y="526328"/>
                </a:cubicBezTo>
                <a:cubicBezTo>
                  <a:pt x="117920" y="526328"/>
                  <a:pt x="0" y="408408"/>
                  <a:pt x="0" y="263164"/>
                </a:cubicBezTo>
                <a:cubicBezTo>
                  <a:pt x="0" y="117920"/>
                  <a:pt x="117920" y="0"/>
                  <a:pt x="26316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8288">
            <a:solidFill>
              <a:srgbClr val="1E4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9798" y="279368"/>
            <a:ext cx="399022" cy="399022"/>
          </a:xfrm>
          <a:custGeom>
            <a:avLst/>
            <a:gdLst/>
            <a:ahLst/>
            <a:cxnLst/>
            <a:rect l="l" t="t" r="r" b="b"/>
            <a:pathLst>
              <a:path w="399022" h="399022">
                <a:moveTo>
                  <a:pt x="199511" y="0"/>
                </a:moveTo>
                <a:cubicBezTo>
                  <a:pt x="309624" y="0"/>
                  <a:pt x="399022" y="89398"/>
                  <a:pt x="399022" y="199511"/>
                </a:cubicBezTo>
                <a:cubicBezTo>
                  <a:pt x="399022" y="309624"/>
                  <a:pt x="309624" y="399022"/>
                  <a:pt x="199511" y="399022"/>
                </a:cubicBezTo>
                <a:cubicBezTo>
                  <a:pt x="89398" y="399022"/>
                  <a:pt x="0" y="309624"/>
                  <a:pt x="0" y="199511"/>
                </a:cubicBezTo>
                <a:cubicBezTo>
                  <a:pt x="0" y="89398"/>
                  <a:pt x="89398" y="0"/>
                  <a:pt x="199511" y="0"/>
                </a:cubicBezTo>
                <a:close/>
              </a:path>
            </a:pathLst>
          </a:custGeom>
          <a:solidFill>
            <a:srgbClr val="1E497B"/>
          </a:solidFill>
          <a:ln/>
          <a:effectLst>
            <a:outerShdw sx="100000" sy="100000" kx="0" ky="0" algn="bl" rotWithShape="0" blurRad="18288" dist="38100" dir="2700000">
              <a:srgbClr val="525252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7314" y="103231"/>
            <a:ext cx="224968" cy="224968"/>
          </a:xfrm>
          <a:custGeom>
            <a:avLst/>
            <a:gdLst/>
            <a:ahLst/>
            <a:cxnLst/>
            <a:rect l="l" t="t" r="r" b="b"/>
            <a:pathLst>
              <a:path w="224968" h="224968">
                <a:moveTo>
                  <a:pt x="112484" y="0"/>
                </a:moveTo>
                <a:cubicBezTo>
                  <a:pt x="174565" y="0"/>
                  <a:pt x="224968" y="50402"/>
                  <a:pt x="224968" y="112484"/>
                </a:cubicBezTo>
                <a:cubicBezTo>
                  <a:pt x="224968" y="174565"/>
                  <a:pt x="174565" y="224968"/>
                  <a:pt x="112484" y="224968"/>
                </a:cubicBezTo>
                <a:cubicBezTo>
                  <a:pt x="50402" y="224968"/>
                  <a:pt x="0" y="174565"/>
                  <a:pt x="0" y="112484"/>
                </a:cubicBezTo>
                <a:cubicBezTo>
                  <a:pt x="0" y="50402"/>
                  <a:pt x="50402" y="0"/>
                  <a:pt x="11248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1E497B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3631" y="131260"/>
            <a:ext cx="132334" cy="132334"/>
          </a:xfrm>
          <a:custGeom>
            <a:avLst/>
            <a:gdLst/>
            <a:ahLst/>
            <a:cxnLst/>
            <a:rect l="l" t="t" r="r" b="b"/>
            <a:pathLst>
              <a:path w="132334" h="132334">
                <a:moveTo>
                  <a:pt x="66167" y="0"/>
                </a:moveTo>
                <a:cubicBezTo>
                  <a:pt x="102686" y="0"/>
                  <a:pt x="132334" y="29648"/>
                  <a:pt x="132334" y="66167"/>
                </a:cubicBezTo>
                <a:cubicBezTo>
                  <a:pt x="132334" y="102686"/>
                  <a:pt x="102686" y="132334"/>
                  <a:pt x="66167" y="132334"/>
                </a:cubicBezTo>
                <a:cubicBezTo>
                  <a:pt x="29648" y="132334"/>
                  <a:pt x="0" y="102686"/>
                  <a:pt x="0" y="66167"/>
                </a:cubicBezTo>
                <a:cubicBezTo>
                  <a:pt x="0" y="29648"/>
                  <a:pt x="29648" y="0"/>
                  <a:pt x="66167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525252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2473" y="103231"/>
            <a:ext cx="224968" cy="224968"/>
          </a:xfrm>
          <a:custGeom>
            <a:avLst/>
            <a:gdLst/>
            <a:ahLst/>
            <a:cxnLst/>
            <a:rect l="l" t="t" r="r" b="b"/>
            <a:pathLst>
              <a:path w="224968" h="224968">
                <a:moveTo>
                  <a:pt x="112484" y="0"/>
                </a:moveTo>
                <a:cubicBezTo>
                  <a:pt x="174565" y="0"/>
                  <a:pt x="224968" y="50402"/>
                  <a:pt x="224968" y="112484"/>
                </a:cubicBezTo>
                <a:cubicBezTo>
                  <a:pt x="224968" y="174565"/>
                  <a:pt x="174565" y="224968"/>
                  <a:pt x="112484" y="224968"/>
                </a:cubicBezTo>
                <a:cubicBezTo>
                  <a:pt x="50402" y="224968"/>
                  <a:pt x="0" y="174565"/>
                  <a:pt x="0" y="112484"/>
                </a:cubicBezTo>
                <a:cubicBezTo>
                  <a:pt x="0" y="50402"/>
                  <a:pt x="50402" y="0"/>
                  <a:pt x="11248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1E49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790" y="131260"/>
            <a:ext cx="132334" cy="132334"/>
          </a:xfrm>
          <a:custGeom>
            <a:avLst/>
            <a:gdLst/>
            <a:ahLst/>
            <a:cxnLst/>
            <a:rect l="l" t="t" r="r" b="b"/>
            <a:pathLst>
              <a:path w="132334" h="132334">
                <a:moveTo>
                  <a:pt x="66167" y="0"/>
                </a:moveTo>
                <a:cubicBezTo>
                  <a:pt x="102686" y="0"/>
                  <a:pt x="132334" y="29648"/>
                  <a:pt x="132334" y="66167"/>
                </a:cubicBezTo>
                <a:cubicBezTo>
                  <a:pt x="132334" y="102686"/>
                  <a:pt x="102686" y="132334"/>
                  <a:pt x="66167" y="132334"/>
                </a:cubicBezTo>
                <a:cubicBezTo>
                  <a:pt x="29648" y="132334"/>
                  <a:pt x="0" y="102686"/>
                  <a:pt x="0" y="66167"/>
                </a:cubicBezTo>
                <a:cubicBezTo>
                  <a:pt x="0" y="29648"/>
                  <a:pt x="29648" y="0"/>
                  <a:pt x="66167" y="0"/>
                </a:cubicBezTo>
                <a:close/>
              </a:path>
            </a:pathLst>
          </a:custGeom>
          <a:solidFill>
            <a:srgbClr val="1E497B"/>
          </a:solidFill>
          <a:ln/>
        </p:spPr>
      </p:sp>
      <p:sp>
        <p:nvSpPr>
          <p:cNvPr id="8" name="Shape 6"/>
          <p:cNvSpPr/>
          <p:nvPr/>
        </p:nvSpPr>
        <p:spPr>
          <a:xfrm>
            <a:off x="738820" y="642793"/>
            <a:ext cx="198501" cy="198501"/>
          </a:xfrm>
          <a:custGeom>
            <a:avLst/>
            <a:gdLst/>
            <a:ahLst/>
            <a:cxnLst/>
            <a:rect l="l" t="t" r="r" b="b"/>
            <a:pathLst>
              <a:path w="198501" h="198501">
                <a:moveTo>
                  <a:pt x="99250" y="0"/>
                </a:moveTo>
                <a:cubicBezTo>
                  <a:pt x="154028" y="0"/>
                  <a:pt x="198501" y="44473"/>
                  <a:pt x="198501" y="99250"/>
                </a:cubicBezTo>
                <a:cubicBezTo>
                  <a:pt x="198501" y="154028"/>
                  <a:pt x="154028" y="198501"/>
                  <a:pt x="99250" y="198501"/>
                </a:cubicBezTo>
                <a:cubicBezTo>
                  <a:pt x="44473" y="198501"/>
                  <a:pt x="0" y="154028"/>
                  <a:pt x="0" y="99250"/>
                </a:cubicBezTo>
                <a:cubicBezTo>
                  <a:pt x="0" y="44473"/>
                  <a:pt x="44473" y="0"/>
                  <a:pt x="9925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1E49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3648" y="908293"/>
            <a:ext cx="7765837" cy="0"/>
          </a:xfrm>
          <a:custGeom>
            <a:avLst/>
            <a:gdLst/>
            <a:ahLst/>
            <a:cxnLst/>
            <a:rect l="l" t="t" r="r" b="b"/>
            <a:pathLst>
              <a:path w="7765837" h="0">
                <a:moveTo>
                  <a:pt x="0" y="0"/>
                </a:moveTo>
                <a:lnTo>
                  <a:pt x="7765837" y="0"/>
                </a:lnTo>
              </a:path>
            </a:pathLst>
          </a:custGeom>
          <a:noFill/>
          <a:ln w="9144">
            <a:solidFill>
              <a:srgbClr val="1E497B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27441" y="908293"/>
            <a:ext cx="2096411" cy="0"/>
          </a:xfrm>
          <a:custGeom>
            <a:avLst/>
            <a:gdLst/>
            <a:ahLst/>
            <a:cxnLst/>
            <a:rect l="l" t="t" r="r" b="b"/>
            <a:pathLst>
              <a:path w="2096411" h="0">
                <a:moveTo>
                  <a:pt x="0" y="0"/>
                </a:moveTo>
                <a:lnTo>
                  <a:pt x="2096411" y="0"/>
                </a:lnTo>
              </a:path>
            </a:pathLst>
          </a:custGeom>
          <a:noFill/>
          <a:ln w="36576">
            <a:solidFill>
              <a:srgbClr val="1E497B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027441" y="182880"/>
            <a:ext cx="73152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and DeepSeek's emerging capabilities</a:t>
            </a:r>
            <a:endParaRPr lang="en-US" sz="1152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8862" y="324612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34186" y="1221638"/>
            <a:ext cx="329184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Human-AI Interaction with Qwen</a:t>
            </a:r>
            <a:endParaRPr lang="en-US" sz="1152" dirty="0"/>
          </a:p>
        </p:txBody>
      </p:sp>
      <p:sp>
        <p:nvSpPr>
          <p:cNvPr id="14" name="Text 11"/>
          <p:cNvSpPr/>
          <p:nvPr/>
        </p:nvSpPr>
        <p:spPr>
          <a:xfrm>
            <a:off x="1033838" y="1574597"/>
            <a:ext cx="3291840" cy="62164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evolution of Qwen and DeepSeek is enhancing human-AI interaction, offering more sophisticated and nuanced conversational experiences for users.</a:t>
            </a:r>
            <a:endParaRPr lang="en-US" sz="1152" dirty="0"/>
          </a:p>
        </p:txBody>
      </p:sp>
      <p:sp>
        <p:nvSpPr>
          <p:cNvPr id="15" name="Shape 12"/>
          <p:cNvSpPr/>
          <p:nvPr/>
        </p:nvSpPr>
        <p:spPr>
          <a:xfrm>
            <a:off x="429202" y="1221638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274320" y="0"/>
                </a:moveTo>
                <a:cubicBezTo>
                  <a:pt x="425721" y="0"/>
                  <a:pt x="548640" y="122919"/>
                  <a:pt x="548640" y="274320"/>
                </a:cubicBezTo>
                <a:cubicBezTo>
                  <a:pt x="548640" y="425721"/>
                  <a:pt x="425721" y="548640"/>
                  <a:pt x="274320" y="548640"/>
                </a:cubicBezTo>
                <a:cubicBezTo>
                  <a:pt x="122919" y="548640"/>
                  <a:pt x="0" y="425721"/>
                  <a:pt x="0" y="274320"/>
                </a:cubicBezTo>
                <a:cubicBezTo>
                  <a:pt x="0" y="122919"/>
                  <a:pt x="122919" y="0"/>
                  <a:pt x="2743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8288" dist="38100" dir="2700000">
              <a:srgbClr val="334861">
                <a:alpha val="10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4922" y="126735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E497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30" y="1331366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22958" y="1221638"/>
            <a:ext cx="329184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Innovations in Open-Source LLMs</a:t>
            </a:r>
            <a:endParaRPr lang="en-US" sz="1152" dirty="0"/>
          </a:p>
        </p:txBody>
      </p:sp>
      <p:sp>
        <p:nvSpPr>
          <p:cNvPr id="19" name="Text 15"/>
          <p:cNvSpPr/>
          <p:nvPr/>
        </p:nvSpPr>
        <p:spPr>
          <a:xfrm>
            <a:off x="5422958" y="1574381"/>
            <a:ext cx="3291840" cy="62164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and DeepSeek represent key innovations within the open-source LLM ecosystem, contributing to its diversity and competitive landscape.</a:t>
            </a:r>
            <a:endParaRPr lang="en-US" sz="1152" dirty="0"/>
          </a:p>
        </p:txBody>
      </p:sp>
      <p:sp>
        <p:nvSpPr>
          <p:cNvPr id="20" name="Shape 16"/>
          <p:cNvSpPr/>
          <p:nvPr/>
        </p:nvSpPr>
        <p:spPr>
          <a:xfrm>
            <a:off x="4828598" y="1221638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274320" y="0"/>
                </a:moveTo>
                <a:cubicBezTo>
                  <a:pt x="425721" y="0"/>
                  <a:pt x="548640" y="122919"/>
                  <a:pt x="548640" y="274320"/>
                </a:cubicBezTo>
                <a:cubicBezTo>
                  <a:pt x="548640" y="425721"/>
                  <a:pt x="425721" y="548640"/>
                  <a:pt x="274320" y="548640"/>
                </a:cubicBezTo>
                <a:cubicBezTo>
                  <a:pt x="122919" y="548640"/>
                  <a:pt x="0" y="425721"/>
                  <a:pt x="0" y="274320"/>
                </a:cubicBezTo>
                <a:cubicBezTo>
                  <a:pt x="0" y="122919"/>
                  <a:pt x="122919" y="0"/>
                  <a:pt x="2743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8288" dist="38100" dir="2700000">
              <a:srgbClr val="334861">
                <a:alpha val="10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874318" y="126735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E497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326" y="1331366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29266" y="2926080"/>
            <a:ext cx="329184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and DeepSeek's Advancements</a:t>
            </a:r>
            <a:endParaRPr lang="en-US" sz="1152" dirty="0"/>
          </a:p>
        </p:txBody>
      </p:sp>
      <p:sp>
        <p:nvSpPr>
          <p:cNvPr id="24" name="Text 19"/>
          <p:cNvSpPr/>
          <p:nvPr/>
        </p:nvSpPr>
        <p:spPr>
          <a:xfrm>
            <a:off x="1028920" y="3279038"/>
            <a:ext cx="329184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and DeepSeek are demonstrating impressive emerging capabilities, pushing the boundaries of what's possible in the open-source LLM space with their unique architectures.</a:t>
            </a:r>
            <a:endParaRPr lang="en-US" sz="1152" dirty="0"/>
          </a:p>
        </p:txBody>
      </p:sp>
      <p:sp>
        <p:nvSpPr>
          <p:cNvPr id="25" name="Shape 20"/>
          <p:cNvSpPr/>
          <p:nvPr/>
        </p:nvSpPr>
        <p:spPr>
          <a:xfrm>
            <a:off x="433963" y="292608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274320" y="0"/>
                </a:moveTo>
                <a:cubicBezTo>
                  <a:pt x="425721" y="0"/>
                  <a:pt x="548640" y="122919"/>
                  <a:pt x="548640" y="274320"/>
                </a:cubicBezTo>
                <a:cubicBezTo>
                  <a:pt x="548640" y="425721"/>
                  <a:pt x="425721" y="548640"/>
                  <a:pt x="274320" y="548640"/>
                </a:cubicBezTo>
                <a:cubicBezTo>
                  <a:pt x="122919" y="548640"/>
                  <a:pt x="0" y="425721"/>
                  <a:pt x="0" y="274320"/>
                </a:cubicBezTo>
                <a:cubicBezTo>
                  <a:pt x="0" y="122919"/>
                  <a:pt x="122919" y="0"/>
                  <a:pt x="2743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8288" dist="38100" dir="2700000">
              <a:srgbClr val="334861">
                <a:alpha val="10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79683" y="2971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E497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91" y="303580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18040" y="2926102"/>
            <a:ext cx="329184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Model Performance</a:t>
            </a:r>
            <a:endParaRPr lang="en-US" sz="1152" dirty="0"/>
          </a:p>
        </p:txBody>
      </p:sp>
      <p:sp>
        <p:nvSpPr>
          <p:cNvPr id="29" name="Text 23"/>
          <p:cNvSpPr/>
          <p:nvPr/>
        </p:nvSpPr>
        <p:spPr>
          <a:xfrm>
            <a:off x="5418040" y="3278844"/>
            <a:ext cx="329184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model performance metrics are essential for evaluating the effectiveness and efficiency of new LLM architectures in real-world applications and benchmarks.</a:t>
            </a:r>
            <a:endParaRPr lang="en-US" sz="1152" dirty="0"/>
          </a:p>
        </p:txBody>
      </p:sp>
      <p:sp>
        <p:nvSpPr>
          <p:cNvPr id="30" name="Shape 24"/>
          <p:cNvSpPr/>
          <p:nvPr/>
        </p:nvSpPr>
        <p:spPr>
          <a:xfrm>
            <a:off x="4874318" y="292608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274320" y="0"/>
                </a:moveTo>
                <a:cubicBezTo>
                  <a:pt x="425721" y="0"/>
                  <a:pt x="548640" y="122919"/>
                  <a:pt x="548640" y="274320"/>
                </a:cubicBezTo>
                <a:cubicBezTo>
                  <a:pt x="548640" y="425721"/>
                  <a:pt x="425721" y="548640"/>
                  <a:pt x="274320" y="548640"/>
                </a:cubicBezTo>
                <a:cubicBezTo>
                  <a:pt x="122919" y="548640"/>
                  <a:pt x="0" y="425721"/>
                  <a:pt x="0" y="274320"/>
                </a:cubicBezTo>
                <a:cubicBezTo>
                  <a:pt x="0" y="122919"/>
                  <a:pt x="122919" y="0"/>
                  <a:pt x="2743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8288" dist="38100" dir="2700000">
              <a:srgbClr val="334861">
                <a:alpha val="10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920038" y="2971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E497B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4046" y="3035808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6145" y="215715"/>
            <a:ext cx="526328" cy="526328"/>
          </a:xfrm>
          <a:custGeom>
            <a:avLst/>
            <a:gdLst/>
            <a:ahLst/>
            <a:cxnLst/>
            <a:rect l="l" t="t" r="r" b="b"/>
            <a:pathLst>
              <a:path w="526328" h="526328">
                <a:moveTo>
                  <a:pt x="263164" y="0"/>
                </a:moveTo>
                <a:cubicBezTo>
                  <a:pt x="408408" y="0"/>
                  <a:pt x="526328" y="117920"/>
                  <a:pt x="526328" y="263164"/>
                </a:cubicBezTo>
                <a:cubicBezTo>
                  <a:pt x="526328" y="408408"/>
                  <a:pt x="408408" y="526328"/>
                  <a:pt x="263164" y="526328"/>
                </a:cubicBezTo>
                <a:cubicBezTo>
                  <a:pt x="117920" y="526328"/>
                  <a:pt x="0" y="408408"/>
                  <a:pt x="0" y="263164"/>
                </a:cubicBezTo>
                <a:cubicBezTo>
                  <a:pt x="0" y="117920"/>
                  <a:pt x="117920" y="0"/>
                  <a:pt x="26316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8288">
            <a:solidFill>
              <a:srgbClr val="1E4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9798" y="279368"/>
            <a:ext cx="399022" cy="399022"/>
          </a:xfrm>
          <a:custGeom>
            <a:avLst/>
            <a:gdLst/>
            <a:ahLst/>
            <a:cxnLst/>
            <a:rect l="l" t="t" r="r" b="b"/>
            <a:pathLst>
              <a:path w="399022" h="399022">
                <a:moveTo>
                  <a:pt x="199511" y="0"/>
                </a:moveTo>
                <a:cubicBezTo>
                  <a:pt x="309624" y="0"/>
                  <a:pt x="399022" y="89398"/>
                  <a:pt x="399022" y="199511"/>
                </a:cubicBezTo>
                <a:cubicBezTo>
                  <a:pt x="399022" y="309624"/>
                  <a:pt x="309624" y="399022"/>
                  <a:pt x="199511" y="399022"/>
                </a:cubicBezTo>
                <a:cubicBezTo>
                  <a:pt x="89398" y="399022"/>
                  <a:pt x="0" y="309624"/>
                  <a:pt x="0" y="199511"/>
                </a:cubicBezTo>
                <a:cubicBezTo>
                  <a:pt x="0" y="89398"/>
                  <a:pt x="89398" y="0"/>
                  <a:pt x="199511" y="0"/>
                </a:cubicBezTo>
                <a:close/>
              </a:path>
            </a:pathLst>
          </a:custGeom>
          <a:solidFill>
            <a:srgbClr val="1E497B"/>
          </a:solidFill>
          <a:ln/>
          <a:effectLst>
            <a:outerShdw sx="100000" sy="100000" kx="0" ky="0" algn="bl" rotWithShape="0" blurRad="18288" dist="38100" dir="2700000">
              <a:srgbClr val="525252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7314" y="103231"/>
            <a:ext cx="224968" cy="224968"/>
          </a:xfrm>
          <a:custGeom>
            <a:avLst/>
            <a:gdLst/>
            <a:ahLst/>
            <a:cxnLst/>
            <a:rect l="l" t="t" r="r" b="b"/>
            <a:pathLst>
              <a:path w="224968" h="224968">
                <a:moveTo>
                  <a:pt x="112484" y="0"/>
                </a:moveTo>
                <a:cubicBezTo>
                  <a:pt x="174565" y="0"/>
                  <a:pt x="224968" y="50402"/>
                  <a:pt x="224968" y="112484"/>
                </a:cubicBezTo>
                <a:cubicBezTo>
                  <a:pt x="224968" y="174565"/>
                  <a:pt x="174565" y="224968"/>
                  <a:pt x="112484" y="224968"/>
                </a:cubicBezTo>
                <a:cubicBezTo>
                  <a:pt x="50402" y="224968"/>
                  <a:pt x="0" y="174565"/>
                  <a:pt x="0" y="112484"/>
                </a:cubicBezTo>
                <a:cubicBezTo>
                  <a:pt x="0" y="50402"/>
                  <a:pt x="50402" y="0"/>
                  <a:pt x="11248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1E497B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3631" y="131260"/>
            <a:ext cx="132334" cy="132334"/>
          </a:xfrm>
          <a:custGeom>
            <a:avLst/>
            <a:gdLst/>
            <a:ahLst/>
            <a:cxnLst/>
            <a:rect l="l" t="t" r="r" b="b"/>
            <a:pathLst>
              <a:path w="132334" h="132334">
                <a:moveTo>
                  <a:pt x="66167" y="0"/>
                </a:moveTo>
                <a:cubicBezTo>
                  <a:pt x="102686" y="0"/>
                  <a:pt x="132334" y="29648"/>
                  <a:pt x="132334" y="66167"/>
                </a:cubicBezTo>
                <a:cubicBezTo>
                  <a:pt x="132334" y="102686"/>
                  <a:pt x="102686" y="132334"/>
                  <a:pt x="66167" y="132334"/>
                </a:cubicBezTo>
                <a:cubicBezTo>
                  <a:pt x="29648" y="132334"/>
                  <a:pt x="0" y="102686"/>
                  <a:pt x="0" y="66167"/>
                </a:cubicBezTo>
                <a:cubicBezTo>
                  <a:pt x="0" y="29648"/>
                  <a:pt x="29648" y="0"/>
                  <a:pt x="66167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525252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2473" y="103231"/>
            <a:ext cx="224968" cy="224968"/>
          </a:xfrm>
          <a:custGeom>
            <a:avLst/>
            <a:gdLst/>
            <a:ahLst/>
            <a:cxnLst/>
            <a:rect l="l" t="t" r="r" b="b"/>
            <a:pathLst>
              <a:path w="224968" h="224968">
                <a:moveTo>
                  <a:pt x="112484" y="0"/>
                </a:moveTo>
                <a:cubicBezTo>
                  <a:pt x="174565" y="0"/>
                  <a:pt x="224968" y="50402"/>
                  <a:pt x="224968" y="112484"/>
                </a:cubicBezTo>
                <a:cubicBezTo>
                  <a:pt x="224968" y="174565"/>
                  <a:pt x="174565" y="224968"/>
                  <a:pt x="112484" y="224968"/>
                </a:cubicBezTo>
                <a:cubicBezTo>
                  <a:pt x="50402" y="224968"/>
                  <a:pt x="0" y="174565"/>
                  <a:pt x="0" y="112484"/>
                </a:cubicBezTo>
                <a:cubicBezTo>
                  <a:pt x="0" y="50402"/>
                  <a:pt x="50402" y="0"/>
                  <a:pt x="11248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1E49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790" y="131260"/>
            <a:ext cx="132334" cy="132334"/>
          </a:xfrm>
          <a:custGeom>
            <a:avLst/>
            <a:gdLst/>
            <a:ahLst/>
            <a:cxnLst/>
            <a:rect l="l" t="t" r="r" b="b"/>
            <a:pathLst>
              <a:path w="132334" h="132334">
                <a:moveTo>
                  <a:pt x="66167" y="0"/>
                </a:moveTo>
                <a:cubicBezTo>
                  <a:pt x="102686" y="0"/>
                  <a:pt x="132334" y="29648"/>
                  <a:pt x="132334" y="66167"/>
                </a:cubicBezTo>
                <a:cubicBezTo>
                  <a:pt x="132334" y="102686"/>
                  <a:pt x="102686" y="132334"/>
                  <a:pt x="66167" y="132334"/>
                </a:cubicBezTo>
                <a:cubicBezTo>
                  <a:pt x="29648" y="132334"/>
                  <a:pt x="0" y="102686"/>
                  <a:pt x="0" y="66167"/>
                </a:cubicBezTo>
                <a:cubicBezTo>
                  <a:pt x="0" y="29648"/>
                  <a:pt x="29648" y="0"/>
                  <a:pt x="66167" y="0"/>
                </a:cubicBezTo>
                <a:close/>
              </a:path>
            </a:pathLst>
          </a:custGeom>
          <a:solidFill>
            <a:srgbClr val="1E497B"/>
          </a:solidFill>
          <a:ln/>
        </p:spPr>
      </p:sp>
      <p:sp>
        <p:nvSpPr>
          <p:cNvPr id="8" name="Shape 6"/>
          <p:cNvSpPr/>
          <p:nvPr/>
        </p:nvSpPr>
        <p:spPr>
          <a:xfrm>
            <a:off x="738820" y="642793"/>
            <a:ext cx="198501" cy="198501"/>
          </a:xfrm>
          <a:custGeom>
            <a:avLst/>
            <a:gdLst/>
            <a:ahLst/>
            <a:cxnLst/>
            <a:rect l="l" t="t" r="r" b="b"/>
            <a:pathLst>
              <a:path w="198501" h="198501">
                <a:moveTo>
                  <a:pt x="99250" y="0"/>
                </a:moveTo>
                <a:cubicBezTo>
                  <a:pt x="154028" y="0"/>
                  <a:pt x="198501" y="44473"/>
                  <a:pt x="198501" y="99250"/>
                </a:cubicBezTo>
                <a:cubicBezTo>
                  <a:pt x="198501" y="154028"/>
                  <a:pt x="154028" y="198501"/>
                  <a:pt x="99250" y="198501"/>
                </a:cubicBezTo>
                <a:cubicBezTo>
                  <a:pt x="44473" y="198501"/>
                  <a:pt x="0" y="154028"/>
                  <a:pt x="0" y="99250"/>
                </a:cubicBezTo>
                <a:cubicBezTo>
                  <a:pt x="0" y="44473"/>
                  <a:pt x="44473" y="0"/>
                  <a:pt x="9925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1E49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3648" y="908293"/>
            <a:ext cx="7765837" cy="0"/>
          </a:xfrm>
          <a:custGeom>
            <a:avLst/>
            <a:gdLst/>
            <a:ahLst/>
            <a:cxnLst/>
            <a:rect l="l" t="t" r="r" b="b"/>
            <a:pathLst>
              <a:path w="7765837" h="0">
                <a:moveTo>
                  <a:pt x="0" y="0"/>
                </a:moveTo>
                <a:lnTo>
                  <a:pt x="7765837" y="0"/>
                </a:lnTo>
              </a:path>
            </a:pathLst>
          </a:custGeom>
          <a:noFill/>
          <a:ln w="9144">
            <a:solidFill>
              <a:srgbClr val="1E497B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27441" y="908293"/>
            <a:ext cx="2096411" cy="0"/>
          </a:xfrm>
          <a:custGeom>
            <a:avLst/>
            <a:gdLst/>
            <a:ahLst/>
            <a:cxnLst/>
            <a:rect l="l" t="t" r="r" b="b"/>
            <a:pathLst>
              <a:path w="2096411" h="0">
                <a:moveTo>
                  <a:pt x="0" y="0"/>
                </a:moveTo>
                <a:lnTo>
                  <a:pt x="2096411" y="0"/>
                </a:lnTo>
              </a:path>
            </a:pathLst>
          </a:custGeom>
          <a:noFill/>
          <a:ln w="36576">
            <a:solidFill>
              <a:srgbClr val="1E497B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027441" y="182880"/>
            <a:ext cx="73152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AI's efficient model designs</a:t>
            </a:r>
            <a:endParaRPr lang="en-US" sz="1152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8862" y="324612"/>
            <a:ext cx="457200" cy="4572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38820" y="1943536"/>
            <a:ext cx="1606544" cy="1606544"/>
          </a:xfrm>
          <a:custGeom>
            <a:avLst/>
            <a:gdLst/>
            <a:ahLst/>
            <a:cxnLst/>
            <a:rect l="l" t="t" r="r" b="b"/>
            <a:pathLst>
              <a:path w="1606544" h="1606544">
                <a:moveTo>
                  <a:pt x="321309" y="0"/>
                </a:moveTo>
                <a:lnTo>
                  <a:pt x="1285235" y="0"/>
                </a:lnTo>
                <a:lnTo>
                  <a:pt x="1606544" y="803272"/>
                </a:lnTo>
                <a:lnTo>
                  <a:pt x="1285235" y="1606544"/>
                </a:lnTo>
                <a:lnTo>
                  <a:pt x="321309" y="1606544"/>
                </a:lnTo>
                <a:lnTo>
                  <a:pt x="0" y="80327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8288">
            <a:solidFill>
              <a:srgbClr val="1E497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1878" y="2016594"/>
            <a:ext cx="1460427" cy="1460427"/>
          </a:xfrm>
          <a:custGeom>
            <a:avLst/>
            <a:gdLst/>
            <a:ahLst/>
            <a:cxnLst/>
            <a:rect l="l" t="t" r="r" b="b"/>
            <a:pathLst>
              <a:path w="1460427" h="1460427">
                <a:moveTo>
                  <a:pt x="292085" y="0"/>
                </a:moveTo>
                <a:lnTo>
                  <a:pt x="1168342" y="0"/>
                </a:lnTo>
                <a:lnTo>
                  <a:pt x="1460427" y="730214"/>
                </a:lnTo>
                <a:lnTo>
                  <a:pt x="1168342" y="1460427"/>
                </a:lnTo>
                <a:lnTo>
                  <a:pt x="292085" y="1460427"/>
                </a:lnTo>
                <a:lnTo>
                  <a:pt x="0" y="730214"/>
                </a:lnTo>
                <a:close/>
              </a:path>
            </a:pathLst>
          </a:custGeom>
          <a:solidFill>
            <a:srgbClr val="1E497B"/>
          </a:solidFill>
          <a:ln/>
          <a:effectLst>
            <a:outerShdw sx="100000" sy="100000" kx="0" ky="0" algn="bl" rotWithShape="0" blurRad="18288" dist="38100" dir="2700000">
              <a:srgbClr val="334861">
                <a:alpha val="100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639" y="2262354"/>
            <a:ext cx="968907" cy="968907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796220" y="1146608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146304" y="0"/>
                </a:moveTo>
                <a:lnTo>
                  <a:pt x="585216" y="0"/>
                </a:lnTo>
                <a:lnTo>
                  <a:pt x="731520" y="365760"/>
                </a:lnTo>
                <a:lnTo>
                  <a:pt x="585216" y="731520"/>
                </a:lnTo>
                <a:lnTo>
                  <a:pt x="146304" y="731520"/>
                </a:lnTo>
                <a:lnTo>
                  <a:pt x="0" y="3657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8288">
            <a:solidFill>
              <a:srgbClr val="1E497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841940" y="1192328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128016" y="0"/>
                </a:moveTo>
                <a:lnTo>
                  <a:pt x="512064" y="0"/>
                </a:lnTo>
                <a:lnTo>
                  <a:pt x="640080" y="320040"/>
                </a:lnTo>
                <a:lnTo>
                  <a:pt x="512064" y="640080"/>
                </a:lnTo>
                <a:lnTo>
                  <a:pt x="128016" y="640080"/>
                </a:lnTo>
                <a:lnTo>
                  <a:pt x="0" y="32004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8288" dist="38100" dir="2700000">
              <a:srgbClr val="334861">
                <a:alpha val="10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2841940" y="11923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1E4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2" dirty="0"/>
          </a:p>
        </p:txBody>
      </p:sp>
      <p:sp>
        <p:nvSpPr>
          <p:cNvPr id="19" name="Shape 15"/>
          <p:cNvSpPr/>
          <p:nvPr/>
        </p:nvSpPr>
        <p:spPr>
          <a:xfrm>
            <a:off x="3468580" y="2381048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146304" y="0"/>
                </a:moveTo>
                <a:lnTo>
                  <a:pt x="585216" y="0"/>
                </a:lnTo>
                <a:lnTo>
                  <a:pt x="731520" y="365760"/>
                </a:lnTo>
                <a:lnTo>
                  <a:pt x="585216" y="731520"/>
                </a:lnTo>
                <a:lnTo>
                  <a:pt x="146304" y="731520"/>
                </a:lnTo>
                <a:lnTo>
                  <a:pt x="0" y="3657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8288">
            <a:solidFill>
              <a:srgbClr val="1E497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514300" y="2426768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128016" y="0"/>
                </a:moveTo>
                <a:lnTo>
                  <a:pt x="512064" y="0"/>
                </a:lnTo>
                <a:lnTo>
                  <a:pt x="640080" y="320040"/>
                </a:lnTo>
                <a:lnTo>
                  <a:pt x="512064" y="640080"/>
                </a:lnTo>
                <a:lnTo>
                  <a:pt x="128016" y="640080"/>
                </a:lnTo>
                <a:lnTo>
                  <a:pt x="0" y="320040"/>
                </a:lnTo>
                <a:close/>
              </a:path>
            </a:pathLst>
          </a:custGeom>
          <a:solidFill>
            <a:srgbClr val="1E497B"/>
          </a:solidFill>
          <a:ln/>
          <a:effectLst>
            <a:outerShdw sx="100000" sy="100000" kx="0" ky="0" algn="bl" rotWithShape="0" blurRad="18288" dist="38100" dir="2700000">
              <a:srgbClr val="334861">
                <a:alpha val="10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3514300" y="2426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2" dirty="0"/>
          </a:p>
        </p:txBody>
      </p:sp>
      <p:sp>
        <p:nvSpPr>
          <p:cNvPr id="22" name="Shape 18"/>
          <p:cNvSpPr/>
          <p:nvPr/>
        </p:nvSpPr>
        <p:spPr>
          <a:xfrm>
            <a:off x="2796220" y="3615488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146304" y="0"/>
                </a:moveTo>
                <a:lnTo>
                  <a:pt x="585216" y="0"/>
                </a:lnTo>
                <a:lnTo>
                  <a:pt x="731520" y="365760"/>
                </a:lnTo>
                <a:lnTo>
                  <a:pt x="585216" y="731520"/>
                </a:lnTo>
                <a:lnTo>
                  <a:pt x="146304" y="731520"/>
                </a:lnTo>
                <a:lnTo>
                  <a:pt x="0" y="3657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8288">
            <a:solidFill>
              <a:srgbClr val="1E497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841940" y="3661208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128016" y="0"/>
                </a:moveTo>
                <a:lnTo>
                  <a:pt x="512064" y="0"/>
                </a:lnTo>
                <a:lnTo>
                  <a:pt x="640080" y="320040"/>
                </a:lnTo>
                <a:lnTo>
                  <a:pt x="512064" y="640080"/>
                </a:lnTo>
                <a:lnTo>
                  <a:pt x="128016" y="640080"/>
                </a:lnTo>
                <a:lnTo>
                  <a:pt x="0" y="32004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8288" dist="38100" dir="2700000">
              <a:srgbClr val="334861">
                <a:alpha val="10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2841940" y="36612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1E4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52" dirty="0"/>
          </a:p>
        </p:txBody>
      </p:sp>
      <p:sp>
        <p:nvSpPr>
          <p:cNvPr id="25" name="Shape 21"/>
          <p:cNvSpPr/>
          <p:nvPr/>
        </p:nvSpPr>
        <p:spPr>
          <a:xfrm>
            <a:off x="2026345" y="1512368"/>
            <a:ext cx="769875" cy="431168"/>
          </a:xfrm>
          <a:custGeom>
            <a:avLst/>
            <a:gdLst/>
            <a:ahLst/>
            <a:cxnLst/>
            <a:rect l="l" t="t" r="r" b="b"/>
            <a:pathLst>
              <a:path w="769875" h="431168">
                <a:moveTo>
                  <a:pt x="0" y="431168"/>
                </a:moveTo>
                <a:lnTo>
                  <a:pt x="319019" y="0"/>
                </a:lnTo>
                <a:lnTo>
                  <a:pt x="769875" y="0"/>
                </a:lnTo>
              </a:path>
            </a:pathLst>
          </a:custGeom>
          <a:noFill/>
          <a:ln w="18288">
            <a:solidFill>
              <a:srgbClr val="1E497B"/>
            </a:solidFill>
            <a:prstDash val="solid"/>
            <a:headEnd type="none"/>
            <a:tailEnd type="none"/>
          </a:ln>
        </p:spPr>
      </p:sp>
      <p:sp>
        <p:nvSpPr>
          <p:cNvPr id="26" name="Shape 22"/>
          <p:cNvSpPr/>
          <p:nvPr/>
        </p:nvSpPr>
        <p:spPr>
          <a:xfrm>
            <a:off x="2345364" y="2746808"/>
            <a:ext cx="1123216" cy="0"/>
          </a:xfrm>
          <a:custGeom>
            <a:avLst/>
            <a:gdLst/>
            <a:ahLst/>
            <a:cxnLst/>
            <a:rect l="l" t="t" r="r" b="b"/>
            <a:pathLst>
              <a:path w="1123216" h="0">
                <a:moveTo>
                  <a:pt x="0" y="0"/>
                </a:moveTo>
                <a:lnTo>
                  <a:pt x="561608" y="0"/>
                </a:lnTo>
                <a:lnTo>
                  <a:pt x="1123216" y="0"/>
                </a:lnTo>
              </a:path>
            </a:pathLst>
          </a:custGeom>
          <a:noFill/>
          <a:ln w="18288">
            <a:solidFill>
              <a:srgbClr val="1E497B"/>
            </a:solidFill>
            <a:prstDash val="solid"/>
            <a:headEnd type="none"/>
            <a:tailEnd type="none"/>
          </a:ln>
        </p:spPr>
      </p:sp>
      <p:sp>
        <p:nvSpPr>
          <p:cNvPr id="27" name="Shape 23"/>
          <p:cNvSpPr/>
          <p:nvPr/>
        </p:nvSpPr>
        <p:spPr>
          <a:xfrm>
            <a:off x="2026545" y="3550080"/>
            <a:ext cx="769675" cy="431168"/>
          </a:xfrm>
          <a:custGeom>
            <a:avLst/>
            <a:gdLst/>
            <a:ahLst/>
            <a:cxnLst/>
            <a:rect l="l" t="t" r="r" b="b"/>
            <a:pathLst>
              <a:path w="769675" h="431168">
                <a:moveTo>
                  <a:pt x="0" y="0"/>
                </a:moveTo>
                <a:lnTo>
                  <a:pt x="319019" y="431168"/>
                </a:lnTo>
                <a:lnTo>
                  <a:pt x="769675" y="431168"/>
                </a:lnTo>
              </a:path>
            </a:pathLst>
          </a:custGeom>
          <a:noFill/>
          <a:ln w="18288">
            <a:solidFill>
              <a:srgbClr val="1E497B"/>
            </a:solidFill>
            <a:prstDash val="solid"/>
            <a:headEnd type="none"/>
            <a:tailEnd type="none"/>
          </a:ln>
        </p:spPr>
      </p:sp>
      <p:sp>
        <p:nvSpPr>
          <p:cNvPr id="28" name="Text 24"/>
          <p:cNvSpPr/>
          <p:nvPr/>
        </p:nvSpPr>
        <p:spPr>
          <a:xfrm>
            <a:off x="3573475" y="1146658"/>
            <a:ext cx="512064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Mistral's Efficient Designs</a:t>
            </a:r>
            <a:endParaRPr lang="en-US" sz="1152" dirty="0"/>
          </a:p>
        </p:txBody>
      </p:sp>
      <p:sp>
        <p:nvSpPr>
          <p:cNvPr id="29" name="Text 25"/>
          <p:cNvSpPr/>
          <p:nvPr/>
        </p:nvSpPr>
        <p:spPr>
          <a:xfrm>
            <a:off x="3573736" y="1347826"/>
            <a:ext cx="5120640" cy="62164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AI is renowned for its highly efficient model designs, offering powerful performance with optimized resource utilization, a critical advantage in LLM deployment.</a:t>
            </a:r>
            <a:endParaRPr lang="en-US" sz="1152" dirty="0"/>
          </a:p>
        </p:txBody>
      </p:sp>
      <p:sp>
        <p:nvSpPr>
          <p:cNvPr id="30" name="Text 26"/>
          <p:cNvSpPr/>
          <p:nvPr/>
        </p:nvSpPr>
        <p:spPr>
          <a:xfrm>
            <a:off x="4254964" y="2381048"/>
            <a:ext cx="4439412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Benefiting from Mistral</a:t>
            </a:r>
            <a:endParaRPr lang="en-US" sz="1152" dirty="0"/>
          </a:p>
        </p:txBody>
      </p:sp>
      <p:sp>
        <p:nvSpPr>
          <p:cNvPr id="31" name="Text 27"/>
          <p:cNvSpPr/>
          <p:nvPr/>
        </p:nvSpPr>
        <p:spPr>
          <a:xfrm>
            <a:off x="4254964" y="2582216"/>
            <a:ext cx="4439412" cy="62164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Mistral's efficient designs are benefiting people by making advanced AI more accessible and cost-effective, driving broader adoption across industries.</a:t>
            </a:r>
            <a:endParaRPr lang="en-US" sz="1152" dirty="0"/>
          </a:p>
        </p:txBody>
      </p:sp>
      <p:sp>
        <p:nvSpPr>
          <p:cNvPr id="32" name="Text 28"/>
          <p:cNvSpPr/>
          <p:nvPr/>
        </p:nvSpPr>
        <p:spPr>
          <a:xfrm>
            <a:off x="3573736" y="3615488"/>
            <a:ext cx="512064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in Open-Source Innovation</a:t>
            </a:r>
            <a:endParaRPr lang="en-US" sz="1152" dirty="0"/>
          </a:p>
        </p:txBody>
      </p:sp>
      <p:sp>
        <p:nvSpPr>
          <p:cNvPr id="33" name="Text 29"/>
          <p:cNvSpPr/>
          <p:nvPr/>
        </p:nvSpPr>
        <p:spPr>
          <a:xfrm>
            <a:off x="3573736" y="3816656"/>
            <a:ext cx="512064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AI's efficient models are a testament to innovation within the open-source LLM ecosystem, setting new standards for performance and efficiency.</a:t>
            </a:r>
            <a:endParaRPr lang="en-US" sz="115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42069" cy="5143500"/>
          </a:xfrm>
          <a:custGeom>
            <a:avLst/>
            <a:gdLst/>
            <a:ahLst/>
            <a:cxnLst/>
            <a:rect l="l" t="t" r="r" b="b"/>
            <a:pathLst>
              <a:path w="2842069" h="5143500">
                <a:moveTo>
                  <a:pt x="0" y="0"/>
                </a:moveTo>
                <a:lnTo>
                  <a:pt x="2842069" y="0"/>
                </a:lnTo>
                <a:lnTo>
                  <a:pt x="2842069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1E497B"/>
          </a:solidFill>
          <a:ln/>
        </p:spPr>
      </p:sp>
      <p:sp>
        <p:nvSpPr>
          <p:cNvPr id="3" name="Shape 1"/>
          <p:cNvSpPr/>
          <p:nvPr/>
        </p:nvSpPr>
        <p:spPr>
          <a:xfrm>
            <a:off x="1605490" y="1255062"/>
            <a:ext cx="727364" cy="727364"/>
          </a:xfrm>
          <a:custGeom>
            <a:avLst/>
            <a:gdLst/>
            <a:ahLst/>
            <a:cxnLst/>
            <a:rect l="l" t="t" r="r" b="b"/>
            <a:pathLst>
              <a:path w="727364" h="727364">
                <a:moveTo>
                  <a:pt x="363682" y="0"/>
                </a:moveTo>
                <a:cubicBezTo>
                  <a:pt x="564403" y="0"/>
                  <a:pt x="727364" y="162960"/>
                  <a:pt x="727364" y="363682"/>
                </a:cubicBezTo>
                <a:cubicBezTo>
                  <a:pt x="727364" y="564403"/>
                  <a:pt x="564403" y="727364"/>
                  <a:pt x="363682" y="727364"/>
                </a:cubicBezTo>
                <a:cubicBezTo>
                  <a:pt x="162960" y="727364"/>
                  <a:pt x="0" y="564403"/>
                  <a:pt x="0" y="363682"/>
                </a:cubicBezTo>
                <a:cubicBezTo>
                  <a:pt x="0" y="162960"/>
                  <a:pt x="162960" y="0"/>
                  <a:pt x="36368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83299" y="1437865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1143000" y="0"/>
                </a:moveTo>
                <a:cubicBezTo>
                  <a:pt x="1773839" y="0"/>
                  <a:pt x="2286000" y="512161"/>
                  <a:pt x="2286000" y="1143000"/>
                </a:cubicBezTo>
                <a:cubicBezTo>
                  <a:pt x="2286000" y="1773839"/>
                  <a:pt x="1773839" y="2286000"/>
                  <a:pt x="1143000" y="2286000"/>
                </a:cubicBezTo>
                <a:cubicBezTo>
                  <a:pt x="512161" y="2286000"/>
                  <a:pt x="0" y="1773839"/>
                  <a:pt x="0" y="1143000"/>
                </a:cubicBezTo>
                <a:cubicBezTo>
                  <a:pt x="0" y="512161"/>
                  <a:pt x="512161" y="0"/>
                  <a:pt x="11430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4E81BB"/>
            </a:solidFill>
            <a:prstDash val="solid"/>
          </a:ln>
          <a:effectLst>
            <a:outerShdw sx="100000" sy="100000" kx="0" ky="0" algn="bl" rotWithShape="0" blurRad="18288" dist="38100" dir="2700000">
              <a:srgbClr val="242424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64177" y="1618744"/>
            <a:ext cx="1924242" cy="1924242"/>
          </a:xfrm>
          <a:custGeom>
            <a:avLst/>
            <a:gdLst/>
            <a:ahLst/>
            <a:cxnLst/>
            <a:rect l="l" t="t" r="r" b="b"/>
            <a:pathLst>
              <a:path w="1924242" h="1924242">
                <a:moveTo>
                  <a:pt x="962121" y="0"/>
                </a:moveTo>
                <a:cubicBezTo>
                  <a:pt x="1493130" y="0"/>
                  <a:pt x="1924242" y="431112"/>
                  <a:pt x="1924242" y="962121"/>
                </a:cubicBezTo>
                <a:cubicBezTo>
                  <a:pt x="1924242" y="1493130"/>
                  <a:pt x="1493130" y="1924242"/>
                  <a:pt x="962121" y="1924242"/>
                </a:cubicBezTo>
                <a:cubicBezTo>
                  <a:pt x="431112" y="1924242"/>
                  <a:pt x="0" y="1493130"/>
                  <a:pt x="0" y="962121"/>
                </a:cubicBezTo>
                <a:cubicBezTo>
                  <a:pt x="0" y="431112"/>
                  <a:pt x="431112" y="0"/>
                  <a:pt x="962121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03339" y="1757905"/>
            <a:ext cx="1645920" cy="1645920"/>
          </a:xfrm>
          <a:custGeom>
            <a:avLst/>
            <a:gdLst/>
            <a:ahLst/>
            <a:cxnLst/>
            <a:rect l="l" t="t" r="r" b="b"/>
            <a:pathLst>
              <a:path w="1645920" h="1645920">
                <a:moveTo>
                  <a:pt x="822960" y="0"/>
                </a:moveTo>
                <a:cubicBezTo>
                  <a:pt x="1277164" y="0"/>
                  <a:pt x="1645920" y="368756"/>
                  <a:pt x="1645920" y="822960"/>
                </a:cubicBezTo>
                <a:cubicBezTo>
                  <a:pt x="1645920" y="1277164"/>
                  <a:pt x="1277164" y="1645920"/>
                  <a:pt x="822960" y="1645920"/>
                </a:cubicBezTo>
                <a:cubicBezTo>
                  <a:pt x="368756" y="1645920"/>
                  <a:pt x="0" y="1277164"/>
                  <a:pt x="0" y="822960"/>
                </a:cubicBezTo>
                <a:cubicBezTo>
                  <a:pt x="0" y="368756"/>
                  <a:pt x="368756" y="0"/>
                  <a:pt x="822960" y="0"/>
                </a:cubicBezTo>
                <a:close/>
              </a:path>
            </a:pathLst>
          </a:custGeom>
          <a:solidFill>
            <a:srgbClr val="1E497B"/>
          </a:solidFill>
          <a:ln/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93456" y="1343028"/>
            <a:ext cx="551432" cy="551432"/>
          </a:xfrm>
          <a:custGeom>
            <a:avLst/>
            <a:gdLst/>
            <a:ahLst/>
            <a:cxnLst/>
            <a:rect l="l" t="t" r="r" b="b"/>
            <a:pathLst>
              <a:path w="551432" h="551432">
                <a:moveTo>
                  <a:pt x="275716" y="0"/>
                </a:moveTo>
                <a:cubicBezTo>
                  <a:pt x="427888" y="0"/>
                  <a:pt x="551432" y="123544"/>
                  <a:pt x="551432" y="275716"/>
                </a:cubicBezTo>
                <a:cubicBezTo>
                  <a:pt x="551432" y="427888"/>
                  <a:pt x="427888" y="551432"/>
                  <a:pt x="275716" y="551432"/>
                </a:cubicBezTo>
                <a:cubicBezTo>
                  <a:pt x="123544" y="551432"/>
                  <a:pt x="0" y="427888"/>
                  <a:pt x="0" y="275716"/>
                </a:cubicBezTo>
                <a:cubicBezTo>
                  <a:pt x="0" y="123544"/>
                  <a:pt x="123544" y="0"/>
                  <a:pt x="275716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44887" y="3619372"/>
            <a:ext cx="635679" cy="635679"/>
          </a:xfrm>
          <a:custGeom>
            <a:avLst/>
            <a:gdLst/>
            <a:ahLst/>
            <a:cxnLst/>
            <a:rect l="l" t="t" r="r" b="b"/>
            <a:pathLst>
              <a:path w="635679" h="635679">
                <a:moveTo>
                  <a:pt x="317840" y="0"/>
                </a:moveTo>
                <a:cubicBezTo>
                  <a:pt x="493260" y="0"/>
                  <a:pt x="635679" y="142419"/>
                  <a:pt x="635679" y="317840"/>
                </a:cubicBezTo>
                <a:cubicBezTo>
                  <a:pt x="635679" y="493260"/>
                  <a:pt x="493260" y="635679"/>
                  <a:pt x="317840" y="635679"/>
                </a:cubicBezTo>
                <a:cubicBezTo>
                  <a:pt x="142419" y="635679"/>
                  <a:pt x="0" y="493260"/>
                  <a:pt x="0" y="317840"/>
                </a:cubicBezTo>
                <a:cubicBezTo>
                  <a:pt x="0" y="142419"/>
                  <a:pt x="142419" y="0"/>
                  <a:pt x="31784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4E81BB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43271" y="3717755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438912" h="438912">
                <a:moveTo>
                  <a:pt x="219456" y="0"/>
                </a:moveTo>
                <a:cubicBezTo>
                  <a:pt x="340577" y="0"/>
                  <a:pt x="438912" y="98335"/>
                  <a:pt x="438912" y="219456"/>
                </a:cubicBezTo>
                <a:cubicBezTo>
                  <a:pt x="438912" y="340577"/>
                  <a:pt x="340577" y="438912"/>
                  <a:pt x="219456" y="438912"/>
                </a:cubicBezTo>
                <a:cubicBezTo>
                  <a:pt x="98335" y="438912"/>
                  <a:pt x="0" y="340577"/>
                  <a:pt x="0" y="219456"/>
                </a:cubicBezTo>
                <a:cubicBezTo>
                  <a:pt x="0" y="98335"/>
                  <a:pt x="98335" y="0"/>
                  <a:pt x="219456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525252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6845" y="2100105"/>
            <a:ext cx="543995" cy="543995"/>
          </a:xfrm>
          <a:custGeom>
            <a:avLst/>
            <a:gdLst/>
            <a:ahLst/>
            <a:cxnLst/>
            <a:rect l="l" t="t" r="r" b="b"/>
            <a:pathLst>
              <a:path w="543995" h="543995">
                <a:moveTo>
                  <a:pt x="271997" y="0"/>
                </a:moveTo>
                <a:cubicBezTo>
                  <a:pt x="422117" y="0"/>
                  <a:pt x="543995" y="121878"/>
                  <a:pt x="543995" y="271997"/>
                </a:cubicBezTo>
                <a:cubicBezTo>
                  <a:pt x="543995" y="422117"/>
                  <a:pt x="422117" y="543995"/>
                  <a:pt x="271997" y="543995"/>
                </a:cubicBezTo>
                <a:cubicBezTo>
                  <a:pt x="121878" y="543995"/>
                  <a:pt x="0" y="422117"/>
                  <a:pt x="0" y="271997"/>
                </a:cubicBezTo>
                <a:cubicBezTo>
                  <a:pt x="0" y="121878"/>
                  <a:pt x="121878" y="0"/>
                  <a:pt x="27199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4864">
            <a:solidFill>
              <a:srgbClr val="1E497B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1683" y="2240429"/>
            <a:ext cx="274320" cy="263347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92117" y="1188720"/>
            <a:ext cx="4094683" cy="3017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2117" y="4255051"/>
            <a:ext cx="4094326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Innovation in LLM Development(Innovation Score (%))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3200400" y="274320"/>
            <a:ext cx="548640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Landscape: Key Models and Contributions</a:t>
            </a:r>
            <a:endParaRPr lang="en-US" sz="115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0" y="5143500"/>
                </a:lnTo>
                <a:lnTo>
                  <a:pt x="9144000" y="5143500"/>
                </a:lnTo>
                <a:close/>
              </a:path>
            </a:pathLst>
          </a:custGeom>
          <a:solidFill>
            <a:srgbClr val="1E497B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1428750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1143000" y="0"/>
                </a:moveTo>
                <a:cubicBezTo>
                  <a:pt x="1773839" y="0"/>
                  <a:pt x="2286000" y="512161"/>
                  <a:pt x="2286000" y="1143000"/>
                </a:cubicBezTo>
                <a:cubicBezTo>
                  <a:pt x="2286000" y="1773839"/>
                  <a:pt x="1773839" y="2286000"/>
                  <a:pt x="1143000" y="2286000"/>
                </a:cubicBezTo>
                <a:cubicBezTo>
                  <a:pt x="512161" y="2286000"/>
                  <a:pt x="0" y="1773839"/>
                  <a:pt x="0" y="1143000"/>
                </a:cubicBezTo>
                <a:cubicBezTo>
                  <a:pt x="0" y="512161"/>
                  <a:pt x="512161" y="0"/>
                  <a:pt x="11430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144">
            <a:solidFill>
              <a:srgbClr val="4E81BB"/>
            </a:solidFill>
            <a:prstDash val="solid"/>
          </a:ln>
          <a:effectLst>
            <a:outerShdw sx="100000" sy="100000" kx="0" ky="0" algn="bl" rotWithShape="0" blurRad="18288" dist="38100" dir="2700000">
              <a:srgbClr val="242424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09879" y="1609629"/>
            <a:ext cx="1924242" cy="1924242"/>
          </a:xfrm>
          <a:custGeom>
            <a:avLst/>
            <a:gdLst/>
            <a:ahLst/>
            <a:cxnLst/>
            <a:rect l="l" t="t" r="r" b="b"/>
            <a:pathLst>
              <a:path w="1924242" h="1924242">
                <a:moveTo>
                  <a:pt x="962121" y="0"/>
                </a:moveTo>
                <a:cubicBezTo>
                  <a:pt x="1493130" y="0"/>
                  <a:pt x="1924242" y="431112"/>
                  <a:pt x="1924242" y="962121"/>
                </a:cubicBezTo>
                <a:cubicBezTo>
                  <a:pt x="1924242" y="1493130"/>
                  <a:pt x="1493130" y="1924242"/>
                  <a:pt x="962121" y="1924242"/>
                </a:cubicBezTo>
                <a:cubicBezTo>
                  <a:pt x="431112" y="1924242"/>
                  <a:pt x="0" y="1493130"/>
                  <a:pt x="0" y="962121"/>
                </a:cubicBezTo>
                <a:cubicBezTo>
                  <a:pt x="0" y="431112"/>
                  <a:pt x="431112" y="0"/>
                  <a:pt x="962121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36576" dist="38100" dir="2700000">
              <a:srgbClr val="3b3b3b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749040" y="1749247"/>
            <a:ext cx="1645920" cy="1645920"/>
          </a:xfrm>
          <a:custGeom>
            <a:avLst/>
            <a:gdLst/>
            <a:ahLst/>
            <a:cxnLst/>
            <a:rect l="l" t="t" r="r" b="b"/>
            <a:pathLst>
              <a:path w="1645920" h="1645920">
                <a:moveTo>
                  <a:pt x="822960" y="0"/>
                </a:moveTo>
                <a:cubicBezTo>
                  <a:pt x="1277164" y="0"/>
                  <a:pt x="1645920" y="368756"/>
                  <a:pt x="1645920" y="822960"/>
                </a:cubicBezTo>
                <a:cubicBezTo>
                  <a:pt x="1645920" y="1277164"/>
                  <a:pt x="1277164" y="1645920"/>
                  <a:pt x="822960" y="1645920"/>
                </a:cubicBezTo>
                <a:cubicBezTo>
                  <a:pt x="368756" y="1645920"/>
                  <a:pt x="0" y="1277164"/>
                  <a:pt x="0" y="822960"/>
                </a:cubicBezTo>
                <a:cubicBezTo>
                  <a:pt x="0" y="368756"/>
                  <a:pt x="368756" y="0"/>
                  <a:pt x="822960" y="0"/>
                </a:cubicBezTo>
                <a:close/>
              </a:path>
            </a:pathLst>
          </a:custGeom>
          <a:solidFill>
            <a:srgbClr val="1E497B"/>
          </a:solidFill>
          <a:ln/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156612" y="2290572"/>
            <a:ext cx="4830775" cy="53378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152" dirty="0"/>
          </a:p>
        </p:txBody>
      </p:sp>
      <p:sp>
        <p:nvSpPr>
          <p:cNvPr id="7" name="Shape 5"/>
          <p:cNvSpPr/>
          <p:nvPr/>
        </p:nvSpPr>
        <p:spPr>
          <a:xfrm>
            <a:off x="3593592" y="3222975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0"/>
                </a:moveTo>
                <a:cubicBezTo>
                  <a:pt x="241242" y="0"/>
                  <a:pt x="310896" y="69654"/>
                  <a:pt x="310896" y="155448"/>
                </a:cubicBezTo>
                <a:cubicBezTo>
                  <a:pt x="310896" y="241242"/>
                  <a:pt x="241242" y="310896"/>
                  <a:pt x="155448" y="310896"/>
                </a:cubicBezTo>
                <a:cubicBezTo>
                  <a:pt x="69654" y="310896"/>
                  <a:pt x="0" y="241242"/>
                  <a:pt x="0" y="155448"/>
                </a:cubicBezTo>
                <a:cubicBezTo>
                  <a:pt x="0" y="69654"/>
                  <a:pt x="69654" y="0"/>
                  <a:pt x="155448" y="0"/>
                </a:cubicBezTo>
                <a:close/>
              </a:path>
            </a:pathLst>
          </a:custGeom>
          <a:solidFill>
            <a:srgbClr val="1E497B"/>
          </a:solidFill>
          <a:ln w="9144">
            <a:solidFill>
              <a:srgbClr val="4E81BB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0" y="3286983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4F4F4"/>
          </a:solidFill>
          <a:ln w="18288">
            <a:solidFill>
              <a:srgbClr val="FFFFFF"/>
            </a:solidFill>
            <a:prstDash val="solid"/>
          </a:ln>
          <a:effectLst>
            <a:outerShdw sx="100000" sy="100000" kx="0" ky="0" algn="bl" rotWithShape="0" blurRad="18288" dist="38100" dir="2700000">
              <a:srgbClr val="525252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94960" y="1337631"/>
            <a:ext cx="543995" cy="543995"/>
          </a:xfrm>
          <a:custGeom>
            <a:avLst/>
            <a:gdLst/>
            <a:ahLst/>
            <a:cxnLst/>
            <a:rect l="l" t="t" r="r" b="b"/>
            <a:pathLst>
              <a:path w="543995" h="543995">
                <a:moveTo>
                  <a:pt x="271997" y="0"/>
                </a:moveTo>
                <a:cubicBezTo>
                  <a:pt x="422117" y="0"/>
                  <a:pt x="543995" y="121878"/>
                  <a:pt x="543995" y="271997"/>
                </a:cubicBezTo>
                <a:cubicBezTo>
                  <a:pt x="543995" y="422117"/>
                  <a:pt x="422117" y="543995"/>
                  <a:pt x="271997" y="543995"/>
                </a:cubicBezTo>
                <a:cubicBezTo>
                  <a:pt x="121878" y="543995"/>
                  <a:pt x="0" y="422117"/>
                  <a:pt x="0" y="271997"/>
                </a:cubicBezTo>
                <a:cubicBezTo>
                  <a:pt x="0" y="121878"/>
                  <a:pt x="121878" y="0"/>
                  <a:pt x="27199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8288">
            <a:solidFill>
              <a:srgbClr val="1E497B"/>
            </a:solidFill>
            <a:prstDash val="solid"/>
          </a:ln>
          <a:effectLst>
            <a:outerShdw sx="100000" sy="100000" kx="0" ky="0" algn="bl" rotWithShape="0" blurRad="18288" dist="38100" dir="2700000">
              <a:srgbClr val="3b3b3b">
                <a:alpha val="10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2365" y="1451438"/>
            <a:ext cx="329184" cy="3163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2026-06-03T03:24:46Z</dcterms:created>
  <dcterms:modified xsi:type="dcterms:W3CDTF">2026-06-03T03:24:46Z</dcterms:modified>
</cp:coreProperties>
</file>