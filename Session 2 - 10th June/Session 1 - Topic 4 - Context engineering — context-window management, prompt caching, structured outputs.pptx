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08199"/>
            <a:ext cx="7680960" cy="106041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96000"/>
              </a:lnSpc>
              <a:spcBef>
                <a:spcPts val="360"/>
              </a:spcBef>
              <a:buNone/>
            </a:pPr>
            <a:r>
              <a:rPr lang="en-US" sz="288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Optimizing Human-AI Interaction through Advanced Context Management</a:t>
            </a:r>
            <a:endParaRPr lang="en-US" sz="1152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2776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4901505" cy="1170289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Strategic Approaches to Context Window Management for Enhanced AI Performance</a:t>
            </a:r>
            <a:endParaRPr lang="en-US" sz="1152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3230" y="0"/>
            <a:ext cx="342073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6308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8229600" cy="69508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Efficiently managing context windows for optimal AI processing and recall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3112" y="2132838"/>
            <a:ext cx="9137777" cy="0"/>
          </a:xfrm>
          <a:custGeom>
            <a:avLst/>
            <a:gdLst/>
            <a:ahLst/>
            <a:cxnLst/>
            <a:rect l="l" t="t" r="r" b="b"/>
            <a:pathLst>
              <a:path w="9137777" h="0">
                <a:moveTo>
                  <a:pt x="0" y="0"/>
                </a:moveTo>
                <a:lnTo>
                  <a:pt x="9137777" y="0"/>
                </a:lnTo>
              </a:path>
            </a:pathLst>
          </a:custGeom>
          <a:noFill/>
          <a:ln w="27432">
            <a:solidFill>
              <a:srgbClr val="333333"/>
            </a:solidFill>
            <a:prstDash val="dash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1143000" y="1858518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40">
                <a:moveTo>
                  <a:pt x="274320" y="0"/>
                </a:moveTo>
                <a:lnTo>
                  <a:pt x="274320" y="0"/>
                </a:lnTo>
                <a:quadBezTo>
                  <a:pt x="548640" y="0"/>
                  <a:pt x="548640" y="274320"/>
                </a:quadBezTo>
                <a:lnTo>
                  <a:pt x="548640" y="274320"/>
                </a:lnTo>
                <a:quadBezTo>
                  <a:pt x="548640" y="548640"/>
                  <a:pt x="274320" y="548640"/>
                </a:quadBezTo>
                <a:lnTo>
                  <a:pt x="274320" y="548640"/>
                </a:lnTo>
                <a:quadBezTo>
                  <a:pt x="0" y="548640"/>
                  <a:pt x="0" y="274320"/>
                </a:quadBezTo>
                <a:lnTo>
                  <a:pt x="0" y="274320"/>
                </a:lnTo>
                <a:quadBezTo>
                  <a:pt x="0" y="0"/>
                  <a:pt x="274320" y="0"/>
                </a:quadBezTo>
                <a:close/>
              </a:path>
            </a:pathLst>
          </a:custGeom>
          <a:solidFill>
            <a:srgbClr val="E2E3E8"/>
          </a:solidFill>
          <a:ln w="18288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3000" y="185851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52" dirty="0"/>
          </a:p>
        </p:txBody>
      </p:sp>
      <p:sp>
        <p:nvSpPr>
          <p:cNvPr id="7" name="Shape 4"/>
          <p:cNvSpPr/>
          <p:nvPr/>
        </p:nvSpPr>
        <p:spPr>
          <a:xfrm>
            <a:off x="3246120" y="1858518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40">
                <a:moveTo>
                  <a:pt x="274320" y="0"/>
                </a:moveTo>
                <a:lnTo>
                  <a:pt x="274320" y="0"/>
                </a:lnTo>
                <a:quadBezTo>
                  <a:pt x="548640" y="0"/>
                  <a:pt x="548640" y="274320"/>
                </a:quadBezTo>
                <a:lnTo>
                  <a:pt x="548640" y="274320"/>
                </a:lnTo>
                <a:quadBezTo>
                  <a:pt x="548640" y="548640"/>
                  <a:pt x="274320" y="548640"/>
                </a:quadBezTo>
                <a:lnTo>
                  <a:pt x="274320" y="548640"/>
                </a:lnTo>
                <a:quadBezTo>
                  <a:pt x="0" y="548640"/>
                  <a:pt x="0" y="274320"/>
                </a:quadBezTo>
                <a:lnTo>
                  <a:pt x="0" y="274320"/>
                </a:lnTo>
                <a:quadBezTo>
                  <a:pt x="0" y="0"/>
                  <a:pt x="274320" y="0"/>
                </a:quadBezTo>
                <a:close/>
              </a:path>
            </a:pathLst>
          </a:custGeom>
          <a:solidFill>
            <a:srgbClr val="E2E3E8"/>
          </a:solidFill>
          <a:ln w="18288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46120" y="185851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52" dirty="0"/>
          </a:p>
        </p:txBody>
      </p:sp>
      <p:sp>
        <p:nvSpPr>
          <p:cNvPr id="9" name="Shape 6"/>
          <p:cNvSpPr/>
          <p:nvPr/>
        </p:nvSpPr>
        <p:spPr>
          <a:xfrm>
            <a:off x="5349240" y="1858518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40">
                <a:moveTo>
                  <a:pt x="274320" y="0"/>
                </a:moveTo>
                <a:lnTo>
                  <a:pt x="274320" y="0"/>
                </a:lnTo>
                <a:quadBezTo>
                  <a:pt x="548640" y="0"/>
                  <a:pt x="548640" y="274320"/>
                </a:quadBezTo>
                <a:lnTo>
                  <a:pt x="548640" y="274320"/>
                </a:lnTo>
                <a:quadBezTo>
                  <a:pt x="548640" y="548640"/>
                  <a:pt x="274320" y="548640"/>
                </a:quadBezTo>
                <a:lnTo>
                  <a:pt x="274320" y="548640"/>
                </a:lnTo>
                <a:quadBezTo>
                  <a:pt x="0" y="548640"/>
                  <a:pt x="0" y="274320"/>
                </a:quadBezTo>
                <a:lnTo>
                  <a:pt x="0" y="274320"/>
                </a:lnTo>
                <a:quadBezTo>
                  <a:pt x="0" y="0"/>
                  <a:pt x="274320" y="0"/>
                </a:quadBezTo>
                <a:close/>
              </a:path>
            </a:pathLst>
          </a:custGeom>
          <a:solidFill>
            <a:srgbClr val="E2E3E8"/>
          </a:solidFill>
          <a:ln w="18288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49240" y="185851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52" dirty="0"/>
          </a:p>
        </p:txBody>
      </p:sp>
      <p:sp>
        <p:nvSpPr>
          <p:cNvPr id="11" name="Shape 8"/>
          <p:cNvSpPr/>
          <p:nvPr/>
        </p:nvSpPr>
        <p:spPr>
          <a:xfrm>
            <a:off x="7452360" y="1858518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40">
                <a:moveTo>
                  <a:pt x="274320" y="0"/>
                </a:moveTo>
                <a:lnTo>
                  <a:pt x="274320" y="0"/>
                </a:lnTo>
                <a:quadBezTo>
                  <a:pt x="548640" y="0"/>
                  <a:pt x="548640" y="274320"/>
                </a:quadBezTo>
                <a:lnTo>
                  <a:pt x="548640" y="274320"/>
                </a:lnTo>
                <a:quadBezTo>
                  <a:pt x="548640" y="548640"/>
                  <a:pt x="274320" y="548640"/>
                </a:quadBezTo>
                <a:lnTo>
                  <a:pt x="274320" y="548640"/>
                </a:lnTo>
                <a:quadBezTo>
                  <a:pt x="0" y="548640"/>
                  <a:pt x="0" y="274320"/>
                </a:quadBezTo>
                <a:lnTo>
                  <a:pt x="0" y="274320"/>
                </a:lnTo>
                <a:quadBezTo>
                  <a:pt x="0" y="0"/>
                  <a:pt x="274320" y="0"/>
                </a:quadBezTo>
                <a:close/>
              </a:path>
            </a:pathLst>
          </a:custGeom>
          <a:solidFill>
            <a:srgbClr val="E2E3E8"/>
          </a:solidFill>
          <a:ln w="18288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52360" y="185851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52" dirty="0"/>
          </a:p>
        </p:txBody>
      </p:sp>
      <p:sp>
        <p:nvSpPr>
          <p:cNvPr id="13" name="Text 10"/>
          <p:cNvSpPr/>
          <p:nvPr/>
        </p:nvSpPr>
        <p:spPr>
          <a:xfrm>
            <a:off x="457200" y="3154680"/>
            <a:ext cx="1920240" cy="106041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Implementing standard procedures for managing the context window, ensuring consistent performance and reliable information processing across various AI interactions.</a:t>
            </a:r>
            <a:endParaRPr lang="en-US" sz="1152" dirty="0"/>
          </a:p>
        </p:txBody>
      </p:sp>
      <p:sp>
        <p:nvSpPr>
          <p:cNvPr id="14" name="Text 11"/>
          <p:cNvSpPr/>
          <p:nvPr/>
        </p:nvSpPr>
        <p:spPr>
          <a:xfrm>
            <a:off x="457200" y="2560320"/>
            <a:ext cx="1920240" cy="52106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context handling</a:t>
            </a:r>
            <a:endParaRPr lang="en-US" sz="1152" dirty="0"/>
          </a:p>
        </p:txBody>
      </p:sp>
      <p:sp>
        <p:nvSpPr>
          <p:cNvPr id="15" name="Text 12"/>
          <p:cNvSpPr/>
          <p:nvPr/>
        </p:nvSpPr>
        <p:spPr>
          <a:xfrm>
            <a:off x="2560320" y="2560320"/>
            <a:ext cx="1920240" cy="690229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Window Optimization Strategies</a:t>
            </a:r>
            <a:endParaRPr lang="en-US" sz="1152" dirty="0"/>
          </a:p>
        </p:txBody>
      </p:sp>
      <p:sp>
        <p:nvSpPr>
          <p:cNvPr id="16" name="Text 13"/>
          <p:cNvSpPr/>
          <p:nvPr/>
        </p:nvSpPr>
        <p:spPr>
          <a:xfrm>
            <a:off x="2560320" y="3154680"/>
            <a:ext cx="1920240" cy="120672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Exploring advanced techniques for maximizing the utility of the context window, ensuring efficient AI processing and improved information recall pertinent to the user's query.</a:t>
            </a:r>
            <a:endParaRPr lang="en-US" sz="1152" dirty="0"/>
          </a:p>
        </p:txBody>
      </p:sp>
      <p:sp>
        <p:nvSpPr>
          <p:cNvPr id="17" name="Text 14"/>
          <p:cNvSpPr/>
          <p:nvPr/>
        </p:nvSpPr>
        <p:spPr>
          <a:xfrm>
            <a:off x="4663440" y="2560320"/>
            <a:ext cx="1920240" cy="690229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AI Interaction through Context</a:t>
            </a:r>
            <a:endParaRPr lang="en-US" sz="1152" dirty="0"/>
          </a:p>
        </p:txBody>
      </p:sp>
      <p:sp>
        <p:nvSpPr>
          <p:cNvPr id="18" name="Text 15"/>
          <p:cNvSpPr/>
          <p:nvPr/>
        </p:nvSpPr>
        <p:spPr>
          <a:xfrm>
            <a:off x="4663440" y="3154680"/>
            <a:ext cx="1920240" cy="106041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Optimizing human-AI interaction by strategically managing context windows, leading to more coherent and relevant AI responses and improved user experience.</a:t>
            </a:r>
            <a:endParaRPr lang="en-US" sz="1152" dirty="0"/>
          </a:p>
        </p:txBody>
      </p:sp>
      <p:sp>
        <p:nvSpPr>
          <p:cNvPr id="19" name="Text 16"/>
          <p:cNvSpPr/>
          <p:nvPr/>
        </p:nvSpPr>
        <p:spPr>
          <a:xfrm>
            <a:off x="6766560" y="2560320"/>
            <a:ext cx="1920240" cy="52106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Context Management for AI</a:t>
            </a:r>
            <a:endParaRPr lang="en-US" sz="1152" dirty="0"/>
          </a:p>
        </p:txBody>
      </p:sp>
      <p:sp>
        <p:nvSpPr>
          <p:cNvPr id="20" name="Text 17"/>
          <p:cNvSpPr/>
          <p:nvPr/>
        </p:nvSpPr>
        <p:spPr>
          <a:xfrm>
            <a:off x="6766560" y="3154680"/>
            <a:ext cx="1920240" cy="106041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Applying strategic approaches to context window management to enhance AI performance, focusing on efficient data handling and improved recall capabilities.</a:t>
            </a:r>
            <a:endParaRPr lang="en-US" sz="115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9508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Implementing dynamic context resizing to adapt to varying conversational depths</a:t>
            </a:r>
            <a:endParaRPr lang="en-US" sz="1152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042077"/>
            <a:ext cx="9144000" cy="110142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737360"/>
            <a:ext cx="2560320" cy="1828800"/>
          </a:xfrm>
          <a:custGeom>
            <a:avLst/>
            <a:gdLst/>
            <a:ahLst/>
            <a:cxnLst/>
            <a:rect l="l" t="t" r="r" b="b"/>
            <a:pathLst>
              <a:path w="2560320" h="1828800">
                <a:moveTo>
                  <a:pt x="228600" y="0"/>
                </a:moveTo>
                <a:lnTo>
                  <a:pt x="2331720" y="0"/>
                </a:lnTo>
                <a:quadBezTo>
                  <a:pt x="2560320" y="0"/>
                  <a:pt x="2560320" y="228600"/>
                </a:quadBezTo>
                <a:lnTo>
                  <a:pt x="2560320" y="1600200"/>
                </a:lnTo>
                <a:quadBezTo>
                  <a:pt x="2560320" y="1828800"/>
                  <a:pt x="2331720" y="1828800"/>
                </a:quadBezTo>
                <a:lnTo>
                  <a:pt x="228600" y="1828800"/>
                </a:lnTo>
                <a:quadBezTo>
                  <a:pt x="0" y="1828800"/>
                  <a:pt x="0" y="1600200"/>
                </a:quadBezTo>
                <a:lnTo>
                  <a:pt x="0" y="228600"/>
                </a:lnTo>
                <a:quadBezTo>
                  <a:pt x="0" y="0"/>
                  <a:pt x="228600" y="0"/>
                </a:quadBezTo>
                <a:close/>
              </a:path>
            </a:pathLst>
          </a:custGeom>
          <a:solidFill>
            <a:srgbClr val="E2E3E8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1828800"/>
            <a:ext cx="2560320" cy="52106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Context for Better Interaction</a:t>
            </a:r>
            <a:endParaRPr lang="en-US" sz="1152" dirty="0"/>
          </a:p>
        </p:txBody>
      </p:sp>
      <p:sp>
        <p:nvSpPr>
          <p:cNvPr id="6" name="Text 3"/>
          <p:cNvSpPr/>
          <p:nvPr/>
        </p:nvSpPr>
        <p:spPr>
          <a:xfrm>
            <a:off x="457200" y="2240280"/>
            <a:ext cx="2560320" cy="91411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Facilitating more natural and effective human-AI interaction by implementing dynamic context resizing, allowing the AI to fluidly adapt to conversational nuances.</a:t>
            </a:r>
            <a:endParaRPr lang="en-US" sz="1152" dirty="0"/>
          </a:p>
        </p:txBody>
      </p:sp>
      <p:sp>
        <p:nvSpPr>
          <p:cNvPr id="7" name="Shape 4"/>
          <p:cNvSpPr/>
          <p:nvPr/>
        </p:nvSpPr>
        <p:spPr>
          <a:xfrm>
            <a:off x="3291840" y="1737360"/>
            <a:ext cx="2560320" cy="1828800"/>
          </a:xfrm>
          <a:custGeom>
            <a:avLst/>
            <a:gdLst/>
            <a:ahLst/>
            <a:cxnLst/>
            <a:rect l="l" t="t" r="r" b="b"/>
            <a:pathLst>
              <a:path w="2560320" h="1828800">
                <a:moveTo>
                  <a:pt x="228600" y="0"/>
                </a:moveTo>
                <a:lnTo>
                  <a:pt x="2331720" y="0"/>
                </a:lnTo>
                <a:quadBezTo>
                  <a:pt x="2560320" y="0"/>
                  <a:pt x="2560320" y="228600"/>
                </a:quadBezTo>
                <a:lnTo>
                  <a:pt x="2560320" y="1600200"/>
                </a:lnTo>
                <a:quadBezTo>
                  <a:pt x="2560320" y="1828800"/>
                  <a:pt x="2331720" y="1828800"/>
                </a:quadBezTo>
                <a:lnTo>
                  <a:pt x="228600" y="1828800"/>
                </a:lnTo>
                <a:quadBezTo>
                  <a:pt x="0" y="1828800"/>
                  <a:pt x="0" y="1600200"/>
                </a:quadBezTo>
                <a:lnTo>
                  <a:pt x="0" y="228600"/>
                </a:lnTo>
                <a:quadBezTo>
                  <a:pt x="0" y="0"/>
                  <a:pt x="228600" y="0"/>
                </a:quadBezTo>
                <a:close/>
              </a:path>
            </a:pathLst>
          </a:custGeom>
          <a:solidFill>
            <a:srgbClr val="E2E3E8"/>
          </a:solidFill>
          <a:ln/>
        </p:spPr>
      </p:sp>
      <p:sp>
        <p:nvSpPr>
          <p:cNvPr id="8" name="Text 5"/>
          <p:cNvSpPr/>
          <p:nvPr/>
        </p:nvSpPr>
        <p:spPr>
          <a:xfrm>
            <a:off x="3291840" y="1828800"/>
            <a:ext cx="2560320" cy="52106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Context for Enhanced Performance</a:t>
            </a:r>
            <a:endParaRPr lang="en-US" sz="1152" dirty="0"/>
          </a:p>
        </p:txBody>
      </p:sp>
      <p:sp>
        <p:nvSpPr>
          <p:cNvPr id="9" name="Text 6"/>
          <p:cNvSpPr/>
          <p:nvPr/>
        </p:nvSpPr>
        <p:spPr>
          <a:xfrm>
            <a:off x="3291840" y="2240280"/>
            <a:ext cx="2560320" cy="91411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Employing strategic dynamic context resizing to enhance AI performance, ensuring adaptability to varying conversational depths and maintaining relevance.</a:t>
            </a:r>
            <a:endParaRPr lang="en-US" sz="1152" dirty="0"/>
          </a:p>
        </p:txBody>
      </p:sp>
      <p:sp>
        <p:nvSpPr>
          <p:cNvPr id="10" name="Shape 7"/>
          <p:cNvSpPr/>
          <p:nvPr/>
        </p:nvSpPr>
        <p:spPr>
          <a:xfrm>
            <a:off x="6126480" y="1737360"/>
            <a:ext cx="2560320" cy="1828800"/>
          </a:xfrm>
          <a:custGeom>
            <a:avLst/>
            <a:gdLst/>
            <a:ahLst/>
            <a:cxnLst/>
            <a:rect l="l" t="t" r="r" b="b"/>
            <a:pathLst>
              <a:path w="2560320" h="1828800">
                <a:moveTo>
                  <a:pt x="228600" y="0"/>
                </a:moveTo>
                <a:lnTo>
                  <a:pt x="2331720" y="0"/>
                </a:lnTo>
                <a:quadBezTo>
                  <a:pt x="2560320" y="0"/>
                  <a:pt x="2560320" y="228600"/>
                </a:quadBezTo>
                <a:lnTo>
                  <a:pt x="2560320" y="1600200"/>
                </a:lnTo>
                <a:quadBezTo>
                  <a:pt x="2560320" y="1828800"/>
                  <a:pt x="2331720" y="1828800"/>
                </a:quadBezTo>
                <a:lnTo>
                  <a:pt x="228600" y="1828800"/>
                </a:lnTo>
                <a:quadBezTo>
                  <a:pt x="0" y="1828800"/>
                  <a:pt x="0" y="1600200"/>
                </a:quadBezTo>
                <a:lnTo>
                  <a:pt x="0" y="228600"/>
                </a:lnTo>
                <a:quadBezTo>
                  <a:pt x="0" y="0"/>
                  <a:pt x="228600" y="0"/>
                </a:quadBezTo>
                <a:close/>
              </a:path>
            </a:pathLst>
          </a:custGeom>
          <a:solidFill>
            <a:srgbClr val="E2E3E8"/>
          </a:solidFill>
          <a:ln/>
        </p:spPr>
      </p:sp>
      <p:sp>
        <p:nvSpPr>
          <p:cNvPr id="11" name="Text 8"/>
          <p:cNvSpPr/>
          <p:nvPr/>
        </p:nvSpPr>
        <p:spPr>
          <a:xfrm>
            <a:off x="6126480" y="1828800"/>
            <a:ext cx="256032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context adjustment</a:t>
            </a:r>
            <a:endParaRPr lang="en-US" sz="1152" dirty="0"/>
          </a:p>
        </p:txBody>
      </p:sp>
      <p:sp>
        <p:nvSpPr>
          <p:cNvPr id="12" name="Text 9"/>
          <p:cNvSpPr/>
          <p:nvPr/>
        </p:nvSpPr>
        <p:spPr>
          <a:xfrm>
            <a:off x="6126480" y="2240280"/>
            <a:ext cx="2560320" cy="91411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Utilizing conventional methods for adjusting the context window size, ensuring a stable and predictable response to changes in conversational depth.</a:t>
            </a:r>
            <a:endParaRPr lang="en-US" sz="1152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8040" y="1188720"/>
            <a:ext cx="457200" cy="457200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43400" y="1188720"/>
            <a:ext cx="457200" cy="457200"/>
          </a:xfrm>
          <a:prstGeom prst="rect">
            <a:avLst/>
          </a:prstGeom>
        </p:spPr>
      </p:pic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08760" y="11887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6870" y="0"/>
            <a:ext cx="263713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5669280" cy="69508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Prioritizing critical information within the context window for relevance</a:t>
            </a:r>
            <a:endParaRPr lang="en-US" sz="1152" dirty="0"/>
          </a:p>
        </p:txBody>
      </p:sp>
      <p:sp>
        <p:nvSpPr>
          <p:cNvPr id="4" name="Text 1"/>
          <p:cNvSpPr/>
          <p:nvPr/>
        </p:nvSpPr>
        <p:spPr>
          <a:xfrm>
            <a:off x="731520" y="1188720"/>
            <a:ext cx="2468880" cy="52106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information prioritization</a:t>
            </a:r>
            <a:endParaRPr lang="en-US" sz="1152" dirty="0"/>
          </a:p>
        </p:txBody>
      </p:sp>
      <p:sp>
        <p:nvSpPr>
          <p:cNvPr id="5" name="Text 2"/>
          <p:cNvSpPr/>
          <p:nvPr/>
        </p:nvSpPr>
        <p:spPr>
          <a:xfrm>
            <a:off x="731520" y="1783080"/>
            <a:ext cx="2468880" cy="76795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Applying standard protocols for prioritizing information within the context window, ensuring a consistent and reliable approach to data relevance.</a:t>
            </a:r>
            <a:endParaRPr lang="en-US" sz="1152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118872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0" y="1188720"/>
            <a:ext cx="2468880" cy="52106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Prioritization for AI Relevance</a:t>
            </a:r>
            <a:endParaRPr lang="en-US" sz="1152" dirty="0"/>
          </a:p>
        </p:txBody>
      </p:sp>
      <p:sp>
        <p:nvSpPr>
          <p:cNvPr id="8" name="Text 4"/>
          <p:cNvSpPr/>
          <p:nvPr/>
        </p:nvSpPr>
        <p:spPr>
          <a:xfrm>
            <a:off x="3657600" y="1783080"/>
            <a:ext cx="2468880" cy="91411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Implementing strategic prioritization of critical information within the context window to enhance AI performance and ensure the highest degree of relevance in its outputs.</a:t>
            </a:r>
            <a:endParaRPr lang="en-US" sz="1152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83280" y="118872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31520" y="3017520"/>
            <a:ext cx="2468880" cy="52106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Information Prioritization</a:t>
            </a:r>
            <a:endParaRPr lang="en-US" sz="1152" dirty="0"/>
          </a:p>
        </p:txBody>
      </p:sp>
      <p:sp>
        <p:nvSpPr>
          <p:cNvPr id="11" name="Text 6"/>
          <p:cNvSpPr/>
          <p:nvPr/>
        </p:nvSpPr>
        <p:spPr>
          <a:xfrm>
            <a:off x="731520" y="3611880"/>
            <a:ext cx="2468880" cy="91411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Establishing robust mechanisms for prioritizing critical information within the context window, thereby enhancing the relevance and accuracy of AI responses.</a:t>
            </a:r>
            <a:endParaRPr lang="en-US" sz="1152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7200" y="3062311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657600" y="3017520"/>
            <a:ext cx="2468880" cy="52106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Context for Optimal Interaction</a:t>
            </a:r>
            <a:endParaRPr lang="en-US" sz="1152" dirty="0"/>
          </a:p>
        </p:txBody>
      </p:sp>
      <p:sp>
        <p:nvSpPr>
          <p:cNvPr id="14" name="Text 8"/>
          <p:cNvSpPr/>
          <p:nvPr/>
        </p:nvSpPr>
        <p:spPr>
          <a:xfrm>
            <a:off x="3657600" y="3611880"/>
            <a:ext cx="2468880" cy="767953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Improving human-AI interaction by focusing the context window on critical information, leading to more precise and relevant AI outputs.</a:t>
            </a:r>
            <a:endParaRPr lang="en-US" sz="1152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83280" y="3062311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3891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Engineering Strategies</a:t>
            </a:r>
            <a:endParaRPr lang="en-US" sz="1152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188720"/>
            <a:ext cx="5029200" cy="3017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197096"/>
            <a:ext cx="5029200" cy="52106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Strategies for Optimized AI Context Management(Effectiveness Score (%))</a:t>
            </a:r>
            <a:endParaRPr lang="en-US" sz="1152" dirty="0"/>
          </a:p>
        </p:txBody>
      </p:sp>
      <p:pic>
        <p:nvPicPr>
          <p:cNvPr id="5" name="Image 1" descr="https://osspub.smallppt.com/uploadFile/108_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783080"/>
            <a:ext cx="2743200" cy="18288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760720" y="1691640"/>
            <a:ext cx="2926080" cy="2011680"/>
          </a:xfrm>
          <a:custGeom>
            <a:avLst/>
            <a:gdLst/>
            <a:ahLst/>
            <a:cxnLst/>
            <a:rect l="l" t="t" r="r" b="b"/>
            <a:pathLst>
              <a:path w="2926080" h="2011680">
                <a:moveTo>
                  <a:pt x="0" y="0"/>
                </a:moveTo>
                <a:lnTo>
                  <a:pt x="2926080" y="0"/>
                </a:lnTo>
                <a:lnTo>
                  <a:pt x="2926080" y="2011680"/>
                </a:lnTo>
                <a:lnTo>
                  <a:pt x="0" y="201168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8288">
            <a:solidFill>
              <a:srgbClr val="333333"/>
            </a:solidFill>
            <a:prstDash val="solid"/>
          </a:ln>
          <a:effectLst>
            <a:outerShdw sx="100000" sy="100000" kx="0" ky="0" algn="bl" rotWithShape="0" blurRad="18288" dist="38100" dir="2700000">
              <a:srgbClr val="808080">
                <a:alpha val="100000"/>
              </a:srgbClr>
            </a:outerShdw>
          </a:effectLst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4901505" cy="1170289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Leveraging Prompt Caching Techniques for Accelerated AI Response Generation</a:t>
            </a:r>
            <a:endParaRPr lang="en-US" sz="1152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3230" y="0"/>
            <a:ext cx="342073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2485" y="1235367"/>
            <a:ext cx="1441349" cy="1441349"/>
          </a:xfrm>
          <a:prstGeom prst="ellipse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8229600" cy="69508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Implementing prompt caching to reduce latency in repetitive AI interactions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1702613" y="1235495"/>
            <a:ext cx="1441094" cy="1441094"/>
          </a:xfrm>
          <a:custGeom>
            <a:avLst/>
            <a:gdLst/>
            <a:ahLst/>
            <a:cxnLst/>
            <a:rect l="l" t="t" r="r" b="b"/>
            <a:pathLst>
              <a:path w="1441094" h="1441094">
                <a:moveTo>
                  <a:pt x="720547" y="0"/>
                </a:moveTo>
                <a:cubicBezTo>
                  <a:pt x="1118228" y="0"/>
                  <a:pt x="1441094" y="322866"/>
                  <a:pt x="1441094" y="720547"/>
                </a:cubicBezTo>
                <a:cubicBezTo>
                  <a:pt x="1441094" y="1118228"/>
                  <a:pt x="1118228" y="1441094"/>
                  <a:pt x="720547" y="1441094"/>
                </a:cubicBezTo>
                <a:cubicBezTo>
                  <a:pt x="322866" y="1441094"/>
                  <a:pt x="0" y="1118228"/>
                  <a:pt x="0" y="720547"/>
                </a:cubicBezTo>
                <a:cubicBezTo>
                  <a:pt x="0" y="322866"/>
                  <a:pt x="322866" y="0"/>
                  <a:pt x="72054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8288">
            <a:solidFill>
              <a:srgbClr val="333333"/>
            </a:solidFill>
            <a:prstDash val="solid"/>
          </a:ln>
          <a:effectLst>
            <a:outerShdw sx="100000" sy="100000" kx="0" ky="0" algn="bl" rotWithShape="0" blurRad="18288" dist="38100" dir="2700000">
              <a:srgbClr val="808080">
                <a:alpha val="10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457200" y="2834640"/>
            <a:ext cx="388620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prompt caching benefits</a:t>
            </a:r>
            <a:endParaRPr lang="en-US" sz="1152" dirty="0"/>
          </a:p>
        </p:txBody>
      </p:sp>
      <p:sp>
        <p:nvSpPr>
          <p:cNvPr id="6" name="Text 3"/>
          <p:cNvSpPr/>
          <p:nvPr/>
        </p:nvSpPr>
        <p:spPr>
          <a:xfrm>
            <a:off x="457200" y="3246120"/>
            <a:ext cx="3886200" cy="621649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subtitle discusses the standard advantages of prompt caching, such as improved response times and reduced computational load, a normal aspect of optimization.</a:t>
            </a:r>
            <a:endParaRPr lang="en-US" sz="1152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165" y="1235367"/>
            <a:ext cx="1441349" cy="1441349"/>
          </a:xfrm>
          <a:prstGeom prst="ellipse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000293" y="1235495"/>
            <a:ext cx="1441094" cy="1441094"/>
          </a:xfrm>
          <a:custGeom>
            <a:avLst/>
            <a:gdLst/>
            <a:ahLst/>
            <a:cxnLst/>
            <a:rect l="l" t="t" r="r" b="b"/>
            <a:pathLst>
              <a:path w="1441094" h="1441094">
                <a:moveTo>
                  <a:pt x="720547" y="0"/>
                </a:moveTo>
                <a:cubicBezTo>
                  <a:pt x="1118228" y="0"/>
                  <a:pt x="1441094" y="322866"/>
                  <a:pt x="1441094" y="720547"/>
                </a:cubicBezTo>
                <a:cubicBezTo>
                  <a:pt x="1441094" y="1118228"/>
                  <a:pt x="1118228" y="1441094"/>
                  <a:pt x="720547" y="1441094"/>
                </a:cubicBezTo>
                <a:cubicBezTo>
                  <a:pt x="322866" y="1441094"/>
                  <a:pt x="0" y="1118228"/>
                  <a:pt x="0" y="720547"/>
                </a:cubicBezTo>
                <a:cubicBezTo>
                  <a:pt x="0" y="322866"/>
                  <a:pt x="322866" y="0"/>
                  <a:pt x="72054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8288">
            <a:solidFill>
              <a:srgbClr val="333333"/>
            </a:solidFill>
            <a:prstDash val="solid"/>
          </a:ln>
          <a:effectLst>
            <a:outerShdw sx="100000" sy="100000" kx="0" ky="0" algn="bl" rotWithShape="0" blurRad="18288" dist="38100" dir="2700000">
              <a:srgbClr val="808080">
                <a:alpha val="10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4800600" y="2834640"/>
            <a:ext cx="388620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context for efficiency</a:t>
            </a:r>
            <a:endParaRPr lang="en-US" sz="1152" dirty="0"/>
          </a:p>
        </p:txBody>
      </p:sp>
      <p:sp>
        <p:nvSpPr>
          <p:cNvPr id="10" name="Text 6"/>
          <p:cNvSpPr/>
          <p:nvPr/>
        </p:nvSpPr>
        <p:spPr>
          <a:xfrm>
            <a:off x="4800600" y="3246120"/>
            <a:ext cx="3886200" cy="34561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subtitle explores how effective context-window management directly contributes to reducing latency in AI interactions, aligning with the user's focus on context engineering.</a:t>
            </a:r>
            <a:endParaRPr lang="en-US" sz="115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04600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286000"/>
            <a:ext cx="8229600" cy="69508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Optimizing cache invalidation strategies for up-to-date prompt retrieval</a:t>
            </a:r>
            <a:endParaRPr lang="en-US" sz="1152" dirty="0"/>
          </a:p>
        </p:txBody>
      </p:sp>
      <p:sp>
        <p:nvSpPr>
          <p:cNvPr id="4" name="Text 1"/>
          <p:cNvSpPr/>
          <p:nvPr/>
        </p:nvSpPr>
        <p:spPr>
          <a:xfrm>
            <a:off x="457200" y="3108960"/>
            <a:ext cx="822960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Maintaining interaction accuracy</a:t>
            </a:r>
            <a:endParaRPr lang="en-US" sz="1152" dirty="0"/>
          </a:p>
        </p:txBody>
      </p:sp>
      <p:sp>
        <p:nvSpPr>
          <p:cNvPr id="5" name="Text 2"/>
          <p:cNvSpPr/>
          <p:nvPr/>
        </p:nvSpPr>
        <p:spPr>
          <a:xfrm>
            <a:off x="457200" y="3337560"/>
            <a:ext cx="8229600" cy="34561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subtitle examines how effective cache invalidation strategies are vital for maintaining the accuracy and reliability of human-AI interactions.</a:t>
            </a:r>
            <a:endParaRPr lang="en-US" sz="115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6558" y="0"/>
            <a:ext cx="2847442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5486400" cy="695087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Utilizing prompt templates with caching for consistent and rapid outputs</a:t>
            </a:r>
            <a:endParaRPr lang="en-US" sz="1152" dirty="0"/>
          </a:p>
        </p:txBody>
      </p:sp>
      <p:sp>
        <p:nvSpPr>
          <p:cNvPr id="4" name="Text 1"/>
          <p:cNvSpPr/>
          <p:nvPr/>
        </p:nvSpPr>
        <p:spPr>
          <a:xfrm>
            <a:off x="548640" y="1508760"/>
            <a:ext cx="5394960" cy="47534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subtitle details how prompt templates and caching contribute to a more consistent and predictable human-AI interaction experience, aligning with the theme.</a:t>
            </a:r>
            <a:endParaRPr lang="en-US" sz="1152" dirty="0"/>
          </a:p>
        </p:txBody>
      </p:sp>
      <p:sp>
        <p:nvSpPr>
          <p:cNvPr id="5" name="Text 2"/>
          <p:cNvSpPr/>
          <p:nvPr/>
        </p:nvSpPr>
        <p:spPr>
          <a:xfrm>
            <a:off x="548640" y="1280160"/>
            <a:ext cx="539496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Enhancing interaction consistency</a:t>
            </a:r>
            <a:endParaRPr lang="en-US" sz="1152" dirty="0"/>
          </a:p>
        </p:txBody>
      </p:sp>
      <p:sp>
        <p:nvSpPr>
          <p:cNvPr id="6" name="Shape 3"/>
          <p:cNvSpPr/>
          <p:nvPr/>
        </p:nvSpPr>
        <p:spPr>
          <a:xfrm>
            <a:off x="457200" y="1198683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0" y="274320"/>
                </a:moveTo>
                <a:lnTo>
                  <a:pt x="0" y="27432"/>
                </a:lnTo>
                <a:lnTo>
                  <a:pt x="219456" y="27432"/>
                </a:lnTo>
                <a:lnTo>
                  <a:pt x="219456" y="0"/>
                </a:lnTo>
                <a:lnTo>
                  <a:pt x="274320" y="54864"/>
                </a:lnTo>
                <a:lnTo>
                  <a:pt x="219456" y="109728"/>
                </a:lnTo>
                <a:lnTo>
                  <a:pt x="219456" y="82296"/>
                </a:lnTo>
                <a:lnTo>
                  <a:pt x="54864" y="82296"/>
                </a:lnTo>
                <a:lnTo>
                  <a:pt x="54864" y="274320"/>
                </a:lnTo>
                <a:lnTo>
                  <a:pt x="0" y="27432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2706624"/>
            <a:ext cx="5394960" cy="47534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subtitle explores how combining prompt templates with caching facilitates structured outputs, a key component of advanced context engineering practices.</a:t>
            </a:r>
            <a:endParaRPr lang="en-US" sz="1152" dirty="0"/>
          </a:p>
        </p:txBody>
      </p:sp>
      <p:sp>
        <p:nvSpPr>
          <p:cNvPr id="8" name="Text 5"/>
          <p:cNvSpPr/>
          <p:nvPr/>
        </p:nvSpPr>
        <p:spPr>
          <a:xfrm>
            <a:off x="548640" y="2478024"/>
            <a:ext cx="539496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outputs with templates</a:t>
            </a:r>
            <a:endParaRPr lang="en-US" sz="1152" dirty="0"/>
          </a:p>
        </p:txBody>
      </p:sp>
      <p:sp>
        <p:nvSpPr>
          <p:cNvPr id="9" name="Shape 6"/>
          <p:cNvSpPr/>
          <p:nvPr/>
        </p:nvSpPr>
        <p:spPr>
          <a:xfrm>
            <a:off x="457200" y="2396547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0" y="274320"/>
                </a:moveTo>
                <a:lnTo>
                  <a:pt x="0" y="27432"/>
                </a:lnTo>
                <a:lnTo>
                  <a:pt x="219456" y="27432"/>
                </a:lnTo>
                <a:lnTo>
                  <a:pt x="219456" y="0"/>
                </a:lnTo>
                <a:lnTo>
                  <a:pt x="274320" y="54864"/>
                </a:lnTo>
                <a:lnTo>
                  <a:pt x="219456" y="109728"/>
                </a:lnTo>
                <a:lnTo>
                  <a:pt x="219456" y="82296"/>
                </a:lnTo>
                <a:lnTo>
                  <a:pt x="54864" y="82296"/>
                </a:lnTo>
                <a:lnTo>
                  <a:pt x="54864" y="274320"/>
                </a:lnTo>
                <a:lnTo>
                  <a:pt x="0" y="27432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904488"/>
            <a:ext cx="5394960" cy="47534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subtitle emphasizes how prompt templates, when cached, lead to consistent and rapid AI response generation, directly supporting the catalogue's objective.</a:t>
            </a:r>
            <a:endParaRPr lang="en-US" sz="1152" dirty="0"/>
          </a:p>
        </p:txBody>
      </p:sp>
      <p:sp>
        <p:nvSpPr>
          <p:cNvPr id="11" name="Text 8"/>
          <p:cNvSpPr/>
          <p:nvPr/>
        </p:nvSpPr>
        <p:spPr>
          <a:xfrm>
            <a:off x="548640" y="3675888"/>
            <a:ext cx="5394960" cy="351901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accelerated AI output</a:t>
            </a:r>
            <a:endParaRPr lang="en-US" sz="1152" dirty="0"/>
          </a:p>
        </p:txBody>
      </p:sp>
      <p:sp>
        <p:nvSpPr>
          <p:cNvPr id="12" name="Shape 9"/>
          <p:cNvSpPr/>
          <p:nvPr/>
        </p:nvSpPr>
        <p:spPr>
          <a:xfrm>
            <a:off x="457200" y="3594411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0" y="274320"/>
                </a:moveTo>
                <a:lnTo>
                  <a:pt x="0" y="27432"/>
                </a:lnTo>
                <a:lnTo>
                  <a:pt x="219456" y="27432"/>
                </a:lnTo>
                <a:lnTo>
                  <a:pt x="219456" y="0"/>
                </a:lnTo>
                <a:lnTo>
                  <a:pt x="274320" y="54864"/>
                </a:lnTo>
                <a:lnTo>
                  <a:pt x="219456" y="109728"/>
                </a:lnTo>
                <a:lnTo>
                  <a:pt x="219456" y="82296"/>
                </a:lnTo>
                <a:lnTo>
                  <a:pt x="54864" y="82296"/>
                </a:lnTo>
                <a:lnTo>
                  <a:pt x="54864" y="274320"/>
                </a:lnTo>
                <a:lnTo>
                  <a:pt x="0" y="274320"/>
                </a:lnTo>
                <a:close/>
              </a:path>
            </a:pathLst>
          </a:custGeom>
          <a:solidFill>
            <a:srgbClr val="000000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3891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Caching Strategies for AI Interaction Optimization</a:t>
            </a:r>
            <a:endParaRPr lang="en-US" sz="1152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188720"/>
            <a:ext cx="5029200" cy="3017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197096"/>
            <a:ext cx="5029200" cy="521065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8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Effectiveness of Prompt Caching in AI Systems(Effectiveness Score (%))</a:t>
            </a:r>
            <a:endParaRPr lang="en-US" sz="1152" dirty="0"/>
          </a:p>
        </p:txBody>
      </p:sp>
      <p:pic>
        <p:nvPicPr>
          <p:cNvPr id="5" name="Image 1" descr="https://osspub.smallppt.com/uploadFile/108_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783080"/>
            <a:ext cx="2743200" cy="18288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760720" y="1691640"/>
            <a:ext cx="2926080" cy="2011680"/>
          </a:xfrm>
          <a:custGeom>
            <a:avLst/>
            <a:gdLst/>
            <a:ahLst/>
            <a:cxnLst/>
            <a:rect l="l" t="t" r="r" b="b"/>
            <a:pathLst>
              <a:path w="2926080" h="2011680">
                <a:moveTo>
                  <a:pt x="0" y="0"/>
                </a:moveTo>
                <a:lnTo>
                  <a:pt x="2926080" y="0"/>
                </a:lnTo>
                <a:lnTo>
                  <a:pt x="2926080" y="2011680"/>
                </a:lnTo>
                <a:lnTo>
                  <a:pt x="0" y="201168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8288">
            <a:solidFill>
              <a:srgbClr val="333333"/>
            </a:solidFill>
            <a:prstDash val="solid"/>
          </a:ln>
          <a:effectLst>
            <a:outerShdw sx="100000" sy="100000" kx="0" ky="0" algn="bl" rotWithShape="0" blurRad="18288" dist="38100" dir="2700000">
              <a:srgbClr val="808080">
                <a:alpha val="100000"/>
              </a:srgbClr>
            </a:outerShdw>
          </a:effectLst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540887"/>
            <a:ext cx="7315200" cy="66551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96000"/>
              </a:lnSpc>
              <a:spcBef>
                <a:spcPts val="360"/>
              </a:spcBef>
              <a:buNone/>
            </a:pPr>
            <a:r>
              <a:rPr lang="en-US" sz="3168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152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22776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2026-06-03T03:32:59Z</dcterms:created>
  <dcterms:modified xsi:type="dcterms:W3CDTF">2026-06-03T03:32:59Z</dcterms:modified>
</cp:coreProperties>
</file>